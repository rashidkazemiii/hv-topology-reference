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cept" id="{8ae4242c-5509-e961-7611-a11abdf474b6}">
          <p14:sldIdLst>
            <p14:sldId id="256"/>
          </p14:sldIdLst>
        </p14:section>
        <p14:section name="Method" id="{1b9561ef-9332-e819-8eda-f9e4b811608e}">
          <p14:sldIdLst>
            <p14:sldId id="257"/>
            <p14:sldId id="258"/>
            <p14:sldId id="259"/>
          </p14:sldIdLst>
        </p14:section>
        <p14:section name="Results" id="{c8f2ab34-fa09-7aa0-54d7-b021b3564b54}">
          <p14:sldIdLst>
            <p14:sldId id="260"/>
          </p14:sldIdLst>
        </p14:section>
        <p14:section name="References" id="{54d60940-0606-0dd8-3798-dada8e16d076}">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skin-effect limit (∝ √f)</c:v>
                </c:pt>
              </c:strCache>
            </c:strRef>
          </c:tx>
          <c:spPr>
            <a:solidFill>
              <a:srgbClr val="0F7C86"/>
            </a:solidFill>
            <a:ln w="25400" cap="flat">
              <a:solidFill>
                <a:srgbClr val="0F7C86"/>
              </a:solidFill>
              <a:prstDash val="solid"/>
              <a:round/>
            </a:ln>
            <a:effectLst/>
          </c:spPr>
          <c:marker>
            <c:symbol val="circle"/>
            <c:size val="5"/>
            <c:spPr>
              <a:solidFill>
                <a:srgbClr val="0F7C86"/>
              </a:solidFill>
              <a:ln w="9525" cap="flat">
                <a:solidFill>
                  <a:srgbClr val="0F7C86"/>
                </a:solidFill>
                <a:prstDash val="solid"/>
                <a:round/>
              </a:ln>
              <a:effectLst/>
            </c:spPr>
          </c:marker>
          <c:xVal>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xVal>
          <c:yVal>
            <c:numRef>
              <c:f>Sheet1!$B$2:$B$16</c:f>
              <c:numCache>
                <c:formatCode>General</c:formatCode>
                <c:ptCount val="15"/>
                <c:pt idx="0">
                  <c:v>97.4</c:v>
                </c:pt>
                <c:pt idx="1">
                  <c:v>99.4</c:v>
                </c:pt>
                <c:pt idx="2">
                  <c:v>99.8</c:v>
                </c:pt>
                <c:pt idx="3">
                  <c:v>99.9</c:v>
                </c:pt>
                <c:pt idx="4">
                  <c:v>99.9</c:v>
                </c:pt>
                <c:pt idx="5">
                  <c:v>100</c:v>
                </c:pt>
                <c:pt idx="6">
                  <c:v>100</c:v>
                </c:pt>
                <c:pt idx="7">
                  <c:v>100</c:v>
                </c:pt>
                <c:pt idx="8">
                  <c:v>100</c:v>
                </c:pt>
                <c:pt idx="9">
                  <c:v>100</c:v>
                </c:pt>
                <c:pt idx="10">
                  <c:v>100</c:v>
                </c:pt>
                <c:pt idx="11">
                  <c:v>100</c:v>
                </c:pt>
                <c:pt idx="12">
                  <c:v>100</c:v>
                </c:pt>
                <c:pt idx="13">
                  <c:v>100</c:v>
                </c:pt>
                <c:pt idx="14">
                  <c:v>100</c:v>
                </c:pt>
              </c:numCache>
            </c:numRef>
          </c:yVal>
          <c:smooth val="0"/>
        </c:ser>
        <c:ser>
          <c:idx val="1"/>
          <c:order val="1"/>
          <c:tx>
            <c:strRef>
              <c:f>Sheet1!$C$1</c:f>
              <c:strCache>
                <c:ptCount val="1"/>
                <c:pt idx="0">
                  <c:v>proximity limit (∝ f²)</c:v>
                </c:pt>
              </c:strCache>
            </c:strRef>
          </c:tx>
          <c:spPr>
            <a:solidFill>
              <a:srgbClr val="C46A2B"/>
            </a:solidFill>
            <a:ln w="25400" cap="flat">
              <a:solidFill>
                <a:srgbClr val="C46A2B"/>
              </a:solidFill>
              <a:prstDash val="solid"/>
              <a:round/>
            </a:ln>
            <a:effectLst/>
          </c:spPr>
          <c:marker>
            <c:symbol val="circle"/>
            <c:size val="5"/>
            <c:spPr>
              <a:solidFill>
                <a:srgbClr val="C46A2B"/>
              </a:solidFill>
              <a:ln w="9525" cap="flat">
                <a:solidFill>
                  <a:srgbClr val="C46A2B"/>
                </a:solidFill>
                <a:prstDash val="solid"/>
                <a:round/>
              </a:ln>
              <a:effectLst/>
            </c:spPr>
          </c:marker>
          <c:xVal>
            <c:numRef>
              <c:f>Sheet1!$A$2:$A$16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xVal>
          <c:yVal>
            <c:numRef>
              <c:f>Sheet1!$C$2:$C$16</c:f>
              <c:numCache>
                <c:formatCode>General</c:formatCode>
                <c:ptCount val="15"/>
                <c:pt idx="0">
                  <c:v>81.1</c:v>
                </c:pt>
                <c:pt idx="1">
                  <c:v>90.1</c:v>
                </c:pt>
                <c:pt idx="2">
                  <c:v>93.3</c:v>
                </c:pt>
                <c:pt idx="3">
                  <c:v>95</c:v>
                </c:pt>
                <c:pt idx="4">
                  <c:v>96</c:v>
                </c:pt>
                <c:pt idx="5">
                  <c:v>96.6</c:v>
                </c:pt>
                <c:pt idx="6">
                  <c:v>97.1</c:v>
                </c:pt>
                <c:pt idx="7">
                  <c:v>97.5</c:v>
                </c:pt>
                <c:pt idx="8">
                  <c:v>97.8</c:v>
                </c:pt>
                <c:pt idx="9">
                  <c:v>98</c:v>
                </c:pt>
                <c:pt idx="10">
                  <c:v>98.2</c:v>
                </c:pt>
                <c:pt idx="11">
                  <c:v>98.3</c:v>
                </c:pt>
                <c:pt idx="12">
                  <c:v>98.4</c:v>
                </c:pt>
                <c:pt idx="13">
                  <c:v>98.6</c:v>
                </c:pt>
                <c:pt idx="14">
                  <c:v>98.6</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6"/>
          <c:min val="0"/>
        </c:scaling>
        <c:delete val="0"/>
        <c:axPos val="b"/>
        <c:title>
          <c:tx>
            <c:rich>
              <a:bodyPr/>
              <a:lstStyle/>
              <a:p>
                <a:pPr>
                  <a:defRPr sz="1000" b="0" i="0" u="none" strike="noStrike">
                    <a:solidFill>
                      <a:srgbClr val="5B6B77"/>
                    </a:solidFill>
                    <a:latin typeface="+mn-lt"/>
                  </a:defRPr>
                </a:pPr>
                <a:r>
                  <a:rPr sz="1000" b="0" i="0" u="none" strike="noStrike">
                    <a:solidFill>
                      <a:srgbClr val="5B6B77"/>
                    </a:solidFill>
                    <a:latin typeface="+mn-lt"/>
                  </a:rPr>
                  <a:t>harmonics kept, N</a:t>
                </a:r>
              </a:p>
            </c:rich>
          </c:tx>
          <c:layout/>
          <c:overlay val="0"/>
        </c:title>
        <c:numFmt formatCode="0" sourceLinked="1"/>
        <c:majorTickMark val="none"/>
        <c:minorTickMark val="none"/>
        <c:tickLblPos val="nextTo"/>
        <c:spPr>
          <a:ln w="12700" cap="flat">
            <a:solidFill>
              <a:srgbClr val="AEB8C0"/>
            </a:solidFill>
            <a:prstDash val="solid"/>
            <a:round/>
          </a:ln>
        </c:spPr>
        <c:txPr>
          <a:bodyPr/>
          <a:lstStyle/>
          <a:p>
            <a:pPr>
              <a:defRPr sz="1000" b="0" i="0" u="none" strike="noStrike">
                <a:solidFill>
                  <a:srgbClr val="5B6B77"/>
                </a:solidFill>
                <a:latin typeface="+mn-lt"/>
              </a:defRPr>
            </a:pPr>
            <a:endParaRPr lang="en-US"/>
          </a:p>
        </c:txPr>
        <c:crossAx val="2094734552"/>
        <c:crosses val="autoZero"/>
        <c:auto val="1"/>
        <c:lblAlgn val="ctr"/>
        <c:noMultiLvlLbl val="1"/>
        <c:majorUnit val="2"/>
      </c:valAx>
      <c:valAx>
        <c:axId val="2094734552"/>
        <c:scaling>
          <c:orientation val="minMax"/>
          <c:max val="100"/>
          <c:min val="80"/>
        </c:scaling>
        <c:delete val="0"/>
        <c:axPos val="l"/>
        <c:majorGridlines>
          <c:spPr>
            <a:ln w="6350" cap="flat">
              <a:solidFill>
                <a:srgbClr val="D5DCE1"/>
              </a:solidFill>
              <a:prstDash val="solid"/>
              <a:round/>
            </a:ln>
          </c:spPr>
        </c:majorGridlines>
        <c:title>
          <c:tx>
            <c:rich>
              <a:bodyPr/>
              <a:lstStyle/>
              <a:p>
                <a:pPr>
                  <a:defRPr sz="1000" b="0" i="0" u="none" strike="noStrike">
                    <a:solidFill>
                      <a:srgbClr val="5B6B77"/>
                    </a:solidFill>
                    <a:latin typeface="+mn-lt"/>
                  </a:defRPr>
                </a:pPr>
                <a:r>
                  <a:rPr sz="1000" b="0" i="0" u="none" strike="noStrike">
                    <a:solidFill>
                      <a:srgbClr val="5B6B77"/>
                    </a:solidFill>
                    <a:latin typeface="+mn-lt"/>
                  </a:rPr>
                  <a:t>loss captured (%)</a:t>
                </a:r>
              </a:p>
            </c:rich>
          </c:tx>
          <c:layout/>
          <c:overlay val="0"/>
        </c:title>
        <c:numFmt formatCode="0" sourceLinked="0"/>
        <c:majorTickMark val="none"/>
        <c:minorTickMark val="none"/>
        <c:tickLblPos val="nextTo"/>
        <c:spPr>
          <a:ln w="12700" cap="flat">
            <a:noFill/>
            <a:prstDash val="solid"/>
            <a:round/>
          </a:ln>
        </c:spPr>
        <c:txPr>
          <a:bodyPr/>
          <a:lstStyle/>
          <a:p>
            <a:pPr>
              <a:defRPr sz="1000" b="0" i="0" u="none" strike="noStrike">
                <a:solidFill>
                  <a:srgbClr val="5B6B77"/>
                </a:solidFill>
                <a:latin typeface="+mn-lt"/>
              </a:defRPr>
            </a:pPr>
            <a:endParaRPr lang="en-US"/>
          </a:p>
        </c:txPr>
        <c:crossAx val="2094734554"/>
        <c:crosses val="autoZero"/>
        <c:crossBetween val="midCat"/>
        <c:majorUnit val="5"/>
      </c:valAx>
      <c:spPr>
        <a:noFill/>
        <a:ln>
          <a:noFill/>
        </a:ln>
        <a:effectLst/>
      </c:spPr>
    </c:plotArea>
    <c:legend>
      <c:legendPos val="b"/>
      <c:overlay val="0"/>
      <c:txPr>
        <a:bodyPr/>
        <a:lstStyle/>
        <a:p>
          <a:pPr>
            <a:defRPr sz="1000">
              <a:solidFill>
                <a:srgbClr val="1E25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1"/>
          <c:y val="0.05"/>
          <c:w val="0.77"/>
          <c:h val="0.72"/>
        </c:manualLayout>
      </c:layout>
      <c:scatterChart>
        <c:scatterStyle val="lineMarker"/>
        <c:varyColors val="0"/>
        <c:ser>
          <c:idx val="0"/>
          <c:order val="0"/>
          <c:tx>
            <c:strRef>
              <c:f>Sheet1!$B$1</c:f>
              <c:strCache>
                <c:ptCount val="1"/>
                <c:pt idx="0">
                  <c:v>2 W</c:v>
                </c:pt>
              </c:strCache>
            </c:strRef>
          </c:tx>
          <c:spPr>
            <a:solidFill>
              <a:srgbClr val="DDB089"/>
            </a:solidFill>
            <a:ln w="28575" cap="flat">
              <a:solidFill>
                <a:srgbClr val="DDB089"/>
              </a:solidFill>
              <a:prstDash val="solid"/>
              <a:round/>
            </a:ln>
            <a:effectLst/>
          </c:spPr>
          <c:marker>
            <c:symbol val="none"/>
            <c:size val="6"/>
            <c:spPr>
              <a:solidFill>
                <a:srgbClr val="DDB089"/>
              </a:solidFill>
              <a:ln w="9525" cap="flat">
                <a:solidFill>
                  <a:srgbClr val="DDB089"/>
                </a:solidFill>
                <a:prstDash val="solid"/>
                <a:round/>
              </a:ln>
              <a:effectLst/>
            </c:spPr>
          </c:marker>
          <c:xVal>
            <c:numRef>
              <c:f>Sheet1!$A$2:$A$62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Sheet1!$B$2:$B$62</c:f>
              <c:numCache>
                <c:formatCode>General</c:formatCode>
                <c:ptCount val="61"/>
                <c:pt idx="0">
                  <c:v>0</c:v>
                </c:pt>
                <c:pt idx="1">
                  <c:v>0.03</c:v>
                </c:pt>
                <c:pt idx="2">
                  <c:v>0.13</c:v>
                </c:pt>
                <c:pt idx="3">
                  <c:v>0.28</c:v>
                </c:pt>
                <c:pt idx="4">
                  <c:v>0.49</c:v>
                </c:pt>
                <c:pt idx="5">
                  <c:v>0.73</c:v>
                </c:pt>
                <c:pt idx="6">
                  <c:v>1.02</c:v>
                </c:pt>
                <c:pt idx="7">
                  <c:v>1.33</c:v>
                </c:pt>
                <c:pt idx="8">
                  <c:v>1.68</c:v>
                </c:pt>
                <c:pt idx="9">
                  <c:v>2.06</c:v>
                </c:pt>
                <c:pt idx="10">
                  <c:v>2.45</c:v>
                </c:pt>
                <c:pt idx="11">
                  <c:v>2.87</c:v>
                </c:pt>
                <c:pt idx="12">
                  <c:v>3.31</c:v>
                </c:pt>
                <c:pt idx="13">
                  <c:v>3.76</c:v>
                </c:pt>
                <c:pt idx="14">
                  <c:v>4.22</c:v>
                </c:pt>
                <c:pt idx="15">
                  <c:v>4.7</c:v>
                </c:pt>
                <c:pt idx="16">
                  <c:v>5.19</c:v>
                </c:pt>
                <c:pt idx="17">
                  <c:v>5.69</c:v>
                </c:pt>
                <c:pt idx="18">
                  <c:v>6.2</c:v>
                </c:pt>
                <c:pt idx="19">
                  <c:v>6.71</c:v>
                </c:pt>
                <c:pt idx="20">
                  <c:v>7.23</c:v>
                </c:pt>
                <c:pt idx="21">
                  <c:v>7.76</c:v>
                </c:pt>
                <c:pt idx="22">
                  <c:v>8.29</c:v>
                </c:pt>
                <c:pt idx="23">
                  <c:v>8.83</c:v>
                </c:pt>
                <c:pt idx="24">
                  <c:v>9.37</c:v>
                </c:pt>
                <c:pt idx="25">
                  <c:v>9.92</c:v>
                </c:pt>
                <c:pt idx="26">
                  <c:v>10.46</c:v>
                </c:pt>
                <c:pt idx="27">
                  <c:v>11.01</c:v>
                </c:pt>
                <c:pt idx="28">
                  <c:v>11.57</c:v>
                </c:pt>
                <c:pt idx="29">
                  <c:v>12.12</c:v>
                </c:pt>
                <c:pt idx="30">
                  <c:v>12.68</c:v>
                </c:pt>
                <c:pt idx="31">
                  <c:v>13.24</c:v>
                </c:pt>
                <c:pt idx="32">
                  <c:v>13.8</c:v>
                </c:pt>
                <c:pt idx="33">
                  <c:v>14.36</c:v>
                </c:pt>
                <c:pt idx="34">
                  <c:v>14.92</c:v>
                </c:pt>
                <c:pt idx="35">
                  <c:v>15.49</c:v>
                </c:pt>
                <c:pt idx="36">
                  <c:v>16.05</c:v>
                </c:pt>
                <c:pt idx="37">
                  <c:v>16.62</c:v>
                </c:pt>
                <c:pt idx="38">
                  <c:v>17.18</c:v>
                </c:pt>
                <c:pt idx="39">
                  <c:v>17.75</c:v>
                </c:pt>
                <c:pt idx="40">
                  <c:v>18.32</c:v>
                </c:pt>
                <c:pt idx="41">
                  <c:v>18.88</c:v>
                </c:pt>
                <c:pt idx="42">
                  <c:v>19.45</c:v>
                </c:pt>
                <c:pt idx="43">
                  <c:v>20.02</c:v>
                </c:pt>
                <c:pt idx="44">
                  <c:v>20.59</c:v>
                </c:pt>
                <c:pt idx="45">
                  <c:v>21.16</c:v>
                </c:pt>
                <c:pt idx="46">
                  <c:v>21.73</c:v>
                </c:pt>
                <c:pt idx="47">
                  <c:v>22.3</c:v>
                </c:pt>
                <c:pt idx="48">
                  <c:v>22.87</c:v>
                </c:pt>
                <c:pt idx="49">
                  <c:v>23.44</c:v>
                </c:pt>
                <c:pt idx="50">
                  <c:v>24.01</c:v>
                </c:pt>
                <c:pt idx="51">
                  <c:v>24.58</c:v>
                </c:pt>
                <c:pt idx="52">
                  <c:v>25.15</c:v>
                </c:pt>
                <c:pt idx="53">
                  <c:v>25.72</c:v>
                </c:pt>
                <c:pt idx="54">
                  <c:v>26.29</c:v>
                </c:pt>
                <c:pt idx="55">
                  <c:v>26.86</c:v>
                </c:pt>
                <c:pt idx="56">
                  <c:v>27.43</c:v>
                </c:pt>
                <c:pt idx="57">
                  <c:v>28</c:v>
                </c:pt>
                <c:pt idx="58">
                  <c:v>28.57</c:v>
                </c:pt>
                <c:pt idx="59">
                  <c:v>29.15</c:v>
                </c:pt>
                <c:pt idx="60">
                  <c:v>29.72</c:v>
                </c:pt>
              </c:numCache>
            </c:numRef>
          </c:yVal>
          <c:smooth val="0"/>
        </c:ser>
        <c:ser>
          <c:idx val="1"/>
          <c:order val="1"/>
          <c:tx>
            <c:strRef>
              <c:f>Sheet1!$C$1</c:f>
              <c:strCache>
                <c:ptCount val="1"/>
                <c:pt idx="0">
                  <c:v>4 W</c:v>
                </c:pt>
              </c:strCache>
            </c:strRef>
          </c:tx>
          <c:spPr>
            <a:solidFill>
              <a:srgbClr val="D69A63"/>
            </a:solidFill>
            <a:ln w="28575" cap="flat">
              <a:solidFill>
                <a:srgbClr val="D69A63"/>
              </a:solidFill>
              <a:prstDash val="solid"/>
              <a:round/>
            </a:ln>
            <a:effectLst/>
          </c:spPr>
          <c:marker>
            <c:symbol val="none"/>
            <c:size val="6"/>
            <c:spPr>
              <a:solidFill>
                <a:srgbClr val="D69A63"/>
              </a:solidFill>
              <a:ln w="9525" cap="flat">
                <a:solidFill>
                  <a:srgbClr val="D69A63"/>
                </a:solidFill>
                <a:prstDash val="solid"/>
                <a:round/>
              </a:ln>
              <a:effectLst/>
            </c:spPr>
          </c:marker>
          <c:xVal>
            <c:numRef>
              <c:f>Sheet1!$A$2:$A$62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Sheet1!$C$2:$C$62</c:f>
              <c:numCache>
                <c:formatCode>General</c:formatCode>
                <c:ptCount val="61"/>
                <c:pt idx="0">
                  <c:v>0</c:v>
                </c:pt>
                <c:pt idx="1">
                  <c:v>0.07</c:v>
                </c:pt>
                <c:pt idx="2">
                  <c:v>0.26</c:v>
                </c:pt>
                <c:pt idx="3">
                  <c:v>0.57</c:v>
                </c:pt>
                <c:pt idx="4">
                  <c:v>0.97</c:v>
                </c:pt>
                <c:pt idx="5">
                  <c:v>1.47</c:v>
                </c:pt>
                <c:pt idx="6">
                  <c:v>2.03</c:v>
                </c:pt>
                <c:pt idx="7">
                  <c:v>2.67</c:v>
                </c:pt>
                <c:pt idx="8">
                  <c:v>3.36</c:v>
                </c:pt>
                <c:pt idx="9">
                  <c:v>4.11</c:v>
                </c:pt>
                <c:pt idx="10">
                  <c:v>4.91</c:v>
                </c:pt>
                <c:pt idx="11">
                  <c:v>5.74</c:v>
                </c:pt>
                <c:pt idx="12">
                  <c:v>6.61</c:v>
                </c:pt>
                <c:pt idx="13">
                  <c:v>7.51</c:v>
                </c:pt>
                <c:pt idx="14">
                  <c:v>8.45</c:v>
                </c:pt>
                <c:pt idx="15">
                  <c:v>9.4</c:v>
                </c:pt>
                <c:pt idx="16">
                  <c:v>10.38</c:v>
                </c:pt>
                <c:pt idx="17">
                  <c:v>11.38</c:v>
                </c:pt>
                <c:pt idx="18">
                  <c:v>12.39</c:v>
                </c:pt>
                <c:pt idx="19">
                  <c:v>13.42</c:v>
                </c:pt>
                <c:pt idx="20">
                  <c:v>14.46</c:v>
                </c:pt>
                <c:pt idx="21">
                  <c:v>15.52</c:v>
                </c:pt>
                <c:pt idx="22">
                  <c:v>16.58</c:v>
                </c:pt>
                <c:pt idx="23">
                  <c:v>17.66</c:v>
                </c:pt>
                <c:pt idx="24">
                  <c:v>18.74</c:v>
                </c:pt>
                <c:pt idx="25">
                  <c:v>19.83</c:v>
                </c:pt>
                <c:pt idx="26">
                  <c:v>20.93</c:v>
                </c:pt>
                <c:pt idx="27">
                  <c:v>22.03</c:v>
                </c:pt>
                <c:pt idx="28">
                  <c:v>23.13</c:v>
                </c:pt>
                <c:pt idx="29">
                  <c:v>24.24</c:v>
                </c:pt>
                <c:pt idx="30">
                  <c:v>25.36</c:v>
                </c:pt>
                <c:pt idx="31">
                  <c:v>26.48</c:v>
                </c:pt>
                <c:pt idx="32">
                  <c:v>27.6</c:v>
                </c:pt>
                <c:pt idx="33">
                  <c:v>28.72</c:v>
                </c:pt>
                <c:pt idx="34">
                  <c:v>29.84</c:v>
                </c:pt>
                <c:pt idx="35">
                  <c:v>30.97</c:v>
                </c:pt>
                <c:pt idx="36">
                  <c:v>32.1</c:v>
                </c:pt>
                <c:pt idx="37">
                  <c:v>33.23</c:v>
                </c:pt>
                <c:pt idx="38">
                  <c:v>34.36</c:v>
                </c:pt>
                <c:pt idx="39">
                  <c:v>35.5</c:v>
                </c:pt>
                <c:pt idx="40">
                  <c:v>36.63</c:v>
                </c:pt>
                <c:pt idx="41">
                  <c:v>37.77</c:v>
                </c:pt>
                <c:pt idx="42">
                  <c:v>38.91</c:v>
                </c:pt>
                <c:pt idx="43">
                  <c:v>40.04</c:v>
                </c:pt>
                <c:pt idx="44">
                  <c:v>41.18</c:v>
                </c:pt>
                <c:pt idx="45">
                  <c:v>42.32</c:v>
                </c:pt>
                <c:pt idx="46">
                  <c:v>43.46</c:v>
                </c:pt>
                <c:pt idx="47">
                  <c:v>44.6</c:v>
                </c:pt>
                <c:pt idx="48">
                  <c:v>45.74</c:v>
                </c:pt>
                <c:pt idx="49">
                  <c:v>46.88</c:v>
                </c:pt>
                <c:pt idx="50">
                  <c:v>48.02</c:v>
                </c:pt>
                <c:pt idx="51">
                  <c:v>49.16</c:v>
                </c:pt>
                <c:pt idx="52">
                  <c:v>50.3</c:v>
                </c:pt>
                <c:pt idx="53">
                  <c:v>51.44</c:v>
                </c:pt>
                <c:pt idx="54">
                  <c:v>52.58</c:v>
                </c:pt>
                <c:pt idx="55">
                  <c:v>53.72</c:v>
                </c:pt>
                <c:pt idx="56">
                  <c:v>54.87</c:v>
                </c:pt>
                <c:pt idx="57">
                  <c:v>56.01</c:v>
                </c:pt>
                <c:pt idx="58">
                  <c:v>57.15</c:v>
                </c:pt>
                <c:pt idx="59">
                  <c:v>58.29</c:v>
                </c:pt>
                <c:pt idx="60">
                  <c:v>59.43</c:v>
                </c:pt>
              </c:numCache>
            </c:numRef>
          </c:yVal>
          <c:smooth val="0"/>
        </c:ser>
        <c:ser>
          <c:idx val="2"/>
          <c:order val="2"/>
          <c:tx>
            <c:strRef>
              <c:f>Sheet1!$D$1</c:f>
              <c:strCache>
                <c:ptCount val="1"/>
                <c:pt idx="0">
                  <c:v>6 W</c:v>
                </c:pt>
              </c:strCache>
            </c:strRef>
          </c:tx>
          <c:spPr>
            <a:solidFill>
              <a:srgbClr val="CB8445"/>
            </a:solidFill>
            <a:ln w="28575" cap="flat">
              <a:solidFill>
                <a:srgbClr val="CB8445"/>
              </a:solidFill>
              <a:prstDash val="solid"/>
              <a:round/>
            </a:ln>
            <a:effectLst/>
          </c:spPr>
          <c:marker>
            <c:symbol val="none"/>
            <c:size val="6"/>
            <c:spPr>
              <a:solidFill>
                <a:srgbClr val="CB8445"/>
              </a:solidFill>
              <a:ln w="9525" cap="flat">
                <a:solidFill>
                  <a:srgbClr val="CB8445"/>
                </a:solidFill>
                <a:prstDash val="solid"/>
                <a:round/>
              </a:ln>
              <a:effectLst/>
            </c:spPr>
          </c:marker>
          <c:xVal>
            <c:numRef>
              <c:f>Sheet1!$A$2:$A$62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Sheet1!$D$2:$D$62</c:f>
              <c:numCache>
                <c:formatCode>General</c:formatCode>
                <c:ptCount val="61"/>
                <c:pt idx="0">
                  <c:v>0</c:v>
                </c:pt>
                <c:pt idx="1">
                  <c:v>0.1</c:v>
                </c:pt>
                <c:pt idx="2">
                  <c:v>0.39</c:v>
                </c:pt>
                <c:pt idx="3">
                  <c:v>0.85</c:v>
                </c:pt>
                <c:pt idx="4">
                  <c:v>1.46</c:v>
                </c:pt>
                <c:pt idx="5">
                  <c:v>2.2</c:v>
                </c:pt>
                <c:pt idx="6">
                  <c:v>3.05</c:v>
                </c:pt>
                <c:pt idx="7">
                  <c:v>4</c:v>
                </c:pt>
                <c:pt idx="8">
                  <c:v>5.05</c:v>
                </c:pt>
                <c:pt idx="9">
                  <c:v>6.17</c:v>
                </c:pt>
                <c:pt idx="10">
                  <c:v>7.36</c:v>
                </c:pt>
                <c:pt idx="11">
                  <c:v>8.61</c:v>
                </c:pt>
                <c:pt idx="12">
                  <c:v>9.92</c:v>
                </c:pt>
                <c:pt idx="13">
                  <c:v>11.27</c:v>
                </c:pt>
                <c:pt idx="14">
                  <c:v>12.67</c:v>
                </c:pt>
                <c:pt idx="15">
                  <c:v>14.1</c:v>
                </c:pt>
                <c:pt idx="16">
                  <c:v>15.57</c:v>
                </c:pt>
                <c:pt idx="17">
                  <c:v>17.07</c:v>
                </c:pt>
                <c:pt idx="18">
                  <c:v>18.59</c:v>
                </c:pt>
                <c:pt idx="19">
                  <c:v>20.13</c:v>
                </c:pt>
                <c:pt idx="20">
                  <c:v>21.7</c:v>
                </c:pt>
                <c:pt idx="21">
                  <c:v>23.28</c:v>
                </c:pt>
                <c:pt idx="22">
                  <c:v>24.88</c:v>
                </c:pt>
                <c:pt idx="23">
                  <c:v>26.49</c:v>
                </c:pt>
                <c:pt idx="24">
                  <c:v>28.11</c:v>
                </c:pt>
                <c:pt idx="25">
                  <c:v>29.75</c:v>
                </c:pt>
                <c:pt idx="26">
                  <c:v>31.39</c:v>
                </c:pt>
                <c:pt idx="27">
                  <c:v>33.04</c:v>
                </c:pt>
                <c:pt idx="28">
                  <c:v>34.7</c:v>
                </c:pt>
                <c:pt idx="29">
                  <c:v>36.37</c:v>
                </c:pt>
                <c:pt idx="30">
                  <c:v>38.04</c:v>
                </c:pt>
                <c:pt idx="31">
                  <c:v>39.71</c:v>
                </c:pt>
                <c:pt idx="32">
                  <c:v>41.39</c:v>
                </c:pt>
                <c:pt idx="33">
                  <c:v>43.08</c:v>
                </c:pt>
                <c:pt idx="34">
                  <c:v>44.77</c:v>
                </c:pt>
                <c:pt idx="35">
                  <c:v>46.46</c:v>
                </c:pt>
                <c:pt idx="36">
                  <c:v>48.15</c:v>
                </c:pt>
                <c:pt idx="37">
                  <c:v>49.85</c:v>
                </c:pt>
                <c:pt idx="38">
                  <c:v>51.55</c:v>
                </c:pt>
                <c:pt idx="39">
                  <c:v>53.25</c:v>
                </c:pt>
                <c:pt idx="40">
                  <c:v>54.95</c:v>
                </c:pt>
                <c:pt idx="41">
                  <c:v>56.65</c:v>
                </c:pt>
                <c:pt idx="42">
                  <c:v>58.36</c:v>
                </c:pt>
                <c:pt idx="43">
                  <c:v>60.06</c:v>
                </c:pt>
                <c:pt idx="44">
                  <c:v>61.77</c:v>
                </c:pt>
                <c:pt idx="45">
                  <c:v>63.48</c:v>
                </c:pt>
                <c:pt idx="46">
                  <c:v>65.19</c:v>
                </c:pt>
                <c:pt idx="47">
                  <c:v>66.9</c:v>
                </c:pt>
                <c:pt idx="48">
                  <c:v>68.61</c:v>
                </c:pt>
                <c:pt idx="49">
                  <c:v>70.32</c:v>
                </c:pt>
                <c:pt idx="50">
                  <c:v>72.03</c:v>
                </c:pt>
                <c:pt idx="51">
                  <c:v>73.74</c:v>
                </c:pt>
                <c:pt idx="52">
                  <c:v>75.45</c:v>
                </c:pt>
                <c:pt idx="53">
                  <c:v>77.16</c:v>
                </c:pt>
                <c:pt idx="54">
                  <c:v>78.87</c:v>
                </c:pt>
                <c:pt idx="55">
                  <c:v>80.59</c:v>
                </c:pt>
                <c:pt idx="56">
                  <c:v>82.3</c:v>
                </c:pt>
                <c:pt idx="57">
                  <c:v>84.01</c:v>
                </c:pt>
                <c:pt idx="58">
                  <c:v>85.72</c:v>
                </c:pt>
                <c:pt idx="59">
                  <c:v>87.44</c:v>
                </c:pt>
                <c:pt idx="60">
                  <c:v>89.15</c:v>
                </c:pt>
              </c:numCache>
            </c:numRef>
          </c:yVal>
          <c:smooth val="0"/>
        </c:ser>
        <c:ser>
          <c:idx val="3"/>
          <c:order val="3"/>
          <c:tx>
            <c:strRef>
              <c:f>Sheet1!$E$1</c:f>
              <c:strCache>
                <c:ptCount val="1"/>
                <c:pt idx="0">
                  <c:v>8 W</c:v>
                </c:pt>
              </c:strCache>
            </c:strRef>
          </c:tx>
          <c:spPr>
            <a:solidFill>
              <a:srgbClr val="C46A2B"/>
            </a:solidFill>
            <a:ln w="28575" cap="flat">
              <a:solidFill>
                <a:srgbClr val="C46A2B"/>
              </a:solidFill>
              <a:prstDash val="solid"/>
              <a:round/>
            </a:ln>
            <a:effectLst/>
          </c:spPr>
          <c:marker>
            <c:symbol val="none"/>
            <c:size val="6"/>
            <c:spPr>
              <a:solidFill>
                <a:srgbClr val="C46A2B"/>
              </a:solidFill>
              <a:ln w="9525" cap="flat">
                <a:solidFill>
                  <a:srgbClr val="C46A2B"/>
                </a:solidFill>
                <a:prstDash val="solid"/>
                <a:round/>
              </a:ln>
              <a:effectLst/>
            </c:spPr>
          </c:marker>
          <c:xVal>
            <c:numRef>
              <c:f>Sheet1!$A$2:$A$62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Sheet1!$E$2:$E$62</c:f>
              <c:numCache>
                <c:formatCode>General</c:formatCode>
                <c:ptCount val="61"/>
                <c:pt idx="0">
                  <c:v>0</c:v>
                </c:pt>
                <c:pt idx="1">
                  <c:v>0.14</c:v>
                </c:pt>
                <c:pt idx="2">
                  <c:v>0.53</c:v>
                </c:pt>
                <c:pt idx="3">
                  <c:v>1.14</c:v>
                </c:pt>
                <c:pt idx="4">
                  <c:v>1.95</c:v>
                </c:pt>
                <c:pt idx="5">
                  <c:v>2.93</c:v>
                </c:pt>
                <c:pt idx="6">
                  <c:v>4.07</c:v>
                </c:pt>
                <c:pt idx="7">
                  <c:v>5.34</c:v>
                </c:pt>
                <c:pt idx="8">
                  <c:v>6.73</c:v>
                </c:pt>
                <c:pt idx="9">
                  <c:v>8.22</c:v>
                </c:pt>
                <c:pt idx="10">
                  <c:v>9.81</c:v>
                </c:pt>
                <c:pt idx="11">
                  <c:v>11.48</c:v>
                </c:pt>
                <c:pt idx="12">
                  <c:v>13.22</c:v>
                </c:pt>
                <c:pt idx="13">
                  <c:v>15.03</c:v>
                </c:pt>
                <c:pt idx="14">
                  <c:v>16.89</c:v>
                </c:pt>
                <c:pt idx="15">
                  <c:v>18.8</c:v>
                </c:pt>
                <c:pt idx="16">
                  <c:v>20.76</c:v>
                </c:pt>
                <c:pt idx="17">
                  <c:v>22.76</c:v>
                </c:pt>
                <c:pt idx="18">
                  <c:v>24.78</c:v>
                </c:pt>
                <c:pt idx="19">
                  <c:v>26.84</c:v>
                </c:pt>
                <c:pt idx="20">
                  <c:v>28.93</c:v>
                </c:pt>
                <c:pt idx="21">
                  <c:v>31.04</c:v>
                </c:pt>
                <c:pt idx="22">
                  <c:v>33.17</c:v>
                </c:pt>
                <c:pt idx="23">
                  <c:v>35.32</c:v>
                </c:pt>
                <c:pt idx="24">
                  <c:v>37.48</c:v>
                </c:pt>
                <c:pt idx="25">
                  <c:v>39.66</c:v>
                </c:pt>
                <c:pt idx="26">
                  <c:v>41.85</c:v>
                </c:pt>
                <c:pt idx="27">
                  <c:v>44.05</c:v>
                </c:pt>
                <c:pt idx="28">
                  <c:v>46.27</c:v>
                </c:pt>
                <c:pt idx="29">
                  <c:v>48.49</c:v>
                </c:pt>
                <c:pt idx="30">
                  <c:v>50.72</c:v>
                </c:pt>
                <c:pt idx="31">
                  <c:v>52.95</c:v>
                </c:pt>
                <c:pt idx="32">
                  <c:v>55.19</c:v>
                </c:pt>
                <c:pt idx="33">
                  <c:v>57.44</c:v>
                </c:pt>
                <c:pt idx="34">
                  <c:v>59.69</c:v>
                </c:pt>
                <c:pt idx="35">
                  <c:v>61.94</c:v>
                </c:pt>
                <c:pt idx="36">
                  <c:v>64.2</c:v>
                </c:pt>
                <c:pt idx="37">
                  <c:v>66.46</c:v>
                </c:pt>
                <c:pt idx="38">
                  <c:v>68.73</c:v>
                </c:pt>
                <c:pt idx="39">
                  <c:v>71</c:v>
                </c:pt>
                <c:pt idx="40">
                  <c:v>73.27</c:v>
                </c:pt>
                <c:pt idx="41">
                  <c:v>75.54</c:v>
                </c:pt>
                <c:pt idx="42">
                  <c:v>77.81</c:v>
                </c:pt>
                <c:pt idx="43">
                  <c:v>80.08</c:v>
                </c:pt>
                <c:pt idx="44">
                  <c:v>82.36</c:v>
                </c:pt>
                <c:pt idx="45">
                  <c:v>84.64</c:v>
                </c:pt>
                <c:pt idx="46">
                  <c:v>86.92</c:v>
                </c:pt>
                <c:pt idx="47">
                  <c:v>89.19</c:v>
                </c:pt>
                <c:pt idx="48">
                  <c:v>91.47</c:v>
                </c:pt>
                <c:pt idx="49">
                  <c:v>93.75</c:v>
                </c:pt>
                <c:pt idx="50">
                  <c:v>96.04</c:v>
                </c:pt>
                <c:pt idx="51">
                  <c:v>98.32</c:v>
                </c:pt>
                <c:pt idx="52">
                  <c:v>100.6</c:v>
                </c:pt>
                <c:pt idx="53">
                  <c:v>102.88</c:v>
                </c:pt>
                <c:pt idx="54">
                  <c:v>105.16</c:v>
                </c:pt>
                <c:pt idx="55">
                  <c:v>107.45</c:v>
                </c:pt>
                <c:pt idx="56">
                  <c:v>109.73</c:v>
                </c:pt>
                <c:pt idx="57">
                  <c:v>112.01</c:v>
                </c:pt>
                <c:pt idx="58">
                  <c:v>114.3</c:v>
                </c:pt>
                <c:pt idx="59">
                  <c:v>116.58</c:v>
                </c:pt>
                <c:pt idx="60">
                  <c:v>118.87</c:v>
                </c:pt>
              </c:numCache>
            </c:numRef>
          </c:yVal>
          <c:smooth val="0"/>
        </c:ser>
        <c:ser>
          <c:idx val="4"/>
          <c:order val="4"/>
          <c:tx>
            <c:strRef>
              <c:f>Sheet1!$F$1</c:f>
              <c:strCache>
                <c:ptCount val="1"/>
                <c:pt idx="0">
                  <c:v>10 W</c:v>
                </c:pt>
              </c:strCache>
            </c:strRef>
          </c:tx>
          <c:spPr>
            <a:solidFill>
              <a:srgbClr val="9C521F"/>
            </a:solidFill>
            <a:ln w="28575" cap="flat">
              <a:solidFill>
                <a:srgbClr val="9C521F"/>
              </a:solidFill>
              <a:prstDash val="solid"/>
              <a:round/>
            </a:ln>
            <a:effectLst/>
          </c:spPr>
          <c:marker>
            <c:symbol val="none"/>
            <c:size val="6"/>
            <c:spPr>
              <a:solidFill>
                <a:srgbClr val="9C521F"/>
              </a:solidFill>
              <a:ln w="9525" cap="flat">
                <a:solidFill>
                  <a:srgbClr val="9C521F"/>
                </a:solidFill>
                <a:prstDash val="solid"/>
                <a:round/>
              </a:ln>
              <a:effectLst/>
            </c:spPr>
          </c:marker>
          <c:xVal>
            <c:numRef>
              <c:f>Sheet1!$A$2:$A$62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Sheet1!$F$2:$F$62</c:f>
              <c:numCache>
                <c:formatCode>General</c:formatCode>
                <c:ptCount val="61"/>
                <c:pt idx="0">
                  <c:v>0</c:v>
                </c:pt>
                <c:pt idx="1">
                  <c:v>0.17</c:v>
                </c:pt>
                <c:pt idx="2">
                  <c:v>0.66</c:v>
                </c:pt>
                <c:pt idx="3">
                  <c:v>1.42</c:v>
                </c:pt>
                <c:pt idx="4">
                  <c:v>2.43</c:v>
                </c:pt>
                <c:pt idx="5">
                  <c:v>3.66</c:v>
                </c:pt>
                <c:pt idx="6">
                  <c:v>5.08</c:v>
                </c:pt>
                <c:pt idx="7">
                  <c:v>6.67</c:v>
                </c:pt>
                <c:pt idx="8">
                  <c:v>8.41</c:v>
                </c:pt>
                <c:pt idx="9">
                  <c:v>10.28</c:v>
                </c:pt>
                <c:pt idx="10">
                  <c:v>12.26</c:v>
                </c:pt>
                <c:pt idx="11">
                  <c:v>14.35</c:v>
                </c:pt>
                <c:pt idx="12">
                  <c:v>16.53</c:v>
                </c:pt>
                <c:pt idx="13">
                  <c:v>18.79</c:v>
                </c:pt>
                <c:pt idx="14">
                  <c:v>21.11</c:v>
                </c:pt>
                <c:pt idx="15">
                  <c:v>23.51</c:v>
                </c:pt>
                <c:pt idx="16">
                  <c:v>25.95</c:v>
                </c:pt>
                <c:pt idx="17">
                  <c:v>28.44</c:v>
                </c:pt>
                <c:pt idx="18">
                  <c:v>30.98</c:v>
                </c:pt>
                <c:pt idx="19">
                  <c:v>33.55</c:v>
                </c:pt>
                <c:pt idx="20">
                  <c:v>36.16</c:v>
                </c:pt>
                <c:pt idx="21">
                  <c:v>38.8</c:v>
                </c:pt>
                <c:pt idx="22">
                  <c:v>41.46</c:v>
                </c:pt>
                <c:pt idx="23">
                  <c:v>44.15</c:v>
                </c:pt>
                <c:pt idx="24">
                  <c:v>46.85</c:v>
                </c:pt>
                <c:pt idx="25">
                  <c:v>49.58</c:v>
                </c:pt>
                <c:pt idx="26">
                  <c:v>52.31</c:v>
                </c:pt>
                <c:pt idx="27">
                  <c:v>55.07</c:v>
                </c:pt>
                <c:pt idx="28">
                  <c:v>57.83</c:v>
                </c:pt>
                <c:pt idx="29">
                  <c:v>60.61</c:v>
                </c:pt>
                <c:pt idx="30">
                  <c:v>63.39</c:v>
                </c:pt>
                <c:pt idx="31">
                  <c:v>66.19</c:v>
                </c:pt>
                <c:pt idx="32">
                  <c:v>68.99</c:v>
                </c:pt>
                <c:pt idx="33">
                  <c:v>71.8</c:v>
                </c:pt>
                <c:pt idx="34">
                  <c:v>74.61</c:v>
                </c:pt>
                <c:pt idx="35">
                  <c:v>77.43</c:v>
                </c:pt>
                <c:pt idx="36">
                  <c:v>80.25</c:v>
                </c:pt>
                <c:pt idx="37">
                  <c:v>83.08</c:v>
                </c:pt>
                <c:pt idx="38">
                  <c:v>85.91</c:v>
                </c:pt>
                <c:pt idx="39">
                  <c:v>88.75</c:v>
                </c:pt>
                <c:pt idx="40">
                  <c:v>91.58</c:v>
                </c:pt>
                <c:pt idx="41">
                  <c:v>94.42</c:v>
                </c:pt>
                <c:pt idx="42">
                  <c:v>97.26</c:v>
                </c:pt>
                <c:pt idx="43">
                  <c:v>100.11</c:v>
                </c:pt>
                <c:pt idx="44">
                  <c:v>102.95</c:v>
                </c:pt>
                <c:pt idx="45">
                  <c:v>105.8</c:v>
                </c:pt>
                <c:pt idx="46">
                  <c:v>108.64</c:v>
                </c:pt>
                <c:pt idx="47">
                  <c:v>111.49</c:v>
                </c:pt>
                <c:pt idx="48">
                  <c:v>114.34</c:v>
                </c:pt>
                <c:pt idx="49">
                  <c:v>117.19</c:v>
                </c:pt>
                <c:pt idx="50">
                  <c:v>120.04</c:v>
                </c:pt>
                <c:pt idx="51">
                  <c:v>122.9</c:v>
                </c:pt>
                <c:pt idx="52">
                  <c:v>125.75</c:v>
                </c:pt>
                <c:pt idx="53">
                  <c:v>128.6</c:v>
                </c:pt>
                <c:pt idx="54">
                  <c:v>131.46</c:v>
                </c:pt>
                <c:pt idx="55">
                  <c:v>134.31</c:v>
                </c:pt>
                <c:pt idx="56">
                  <c:v>137.16</c:v>
                </c:pt>
                <c:pt idx="57">
                  <c:v>140.02</c:v>
                </c:pt>
                <c:pt idx="58">
                  <c:v>142.87</c:v>
                </c:pt>
                <c:pt idx="59">
                  <c:v>145.73</c:v>
                </c:pt>
                <c:pt idx="60">
                  <c:v>148.58</c:v>
                </c:pt>
              </c:numCache>
            </c:numRef>
          </c:yVal>
          <c:smooth val="0"/>
        </c:ser>
        <c:ser>
          <c:idx val="5"/>
          <c:order val="5"/>
          <c:tx>
            <c:strRef>
              <c:f>Sheet1!$G$1</c:f>
              <c:strCache>
                <c:ptCount val="1"/>
                <c:pt idx="0">
                  <c:v>13 W</c:v>
                </c:pt>
              </c:strCache>
            </c:strRef>
          </c:tx>
          <c:spPr>
            <a:solidFill>
              <a:srgbClr val="6E3814"/>
            </a:solidFill>
            <a:ln w="28575" cap="flat">
              <a:solidFill>
                <a:srgbClr val="6E3814"/>
              </a:solidFill>
              <a:prstDash val="solid"/>
              <a:round/>
            </a:ln>
            <a:effectLst/>
          </c:spPr>
          <c:marker>
            <c:symbol val="none"/>
            <c:size val="6"/>
            <c:spPr>
              <a:solidFill>
                <a:srgbClr val="6E3814"/>
              </a:solidFill>
              <a:ln w="9525" cap="flat">
                <a:solidFill>
                  <a:srgbClr val="6E3814"/>
                </a:solidFill>
                <a:prstDash val="solid"/>
                <a:round/>
              </a:ln>
              <a:effectLst/>
            </c:spPr>
          </c:marker>
          <c:xVal>
            <c:numRef>
              <c:f>Sheet1!$A$2:$A$62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xVal>
          <c:yVal>
            <c:numRef>
              <c:f>Sheet1!$G$2:$G$62</c:f>
              <c:numCache>
                <c:formatCode>General</c:formatCode>
                <c:ptCount val="61"/>
                <c:pt idx="0">
                  <c:v>0</c:v>
                </c:pt>
                <c:pt idx="1">
                  <c:v>0.22</c:v>
                </c:pt>
                <c:pt idx="2">
                  <c:v>0.86</c:v>
                </c:pt>
                <c:pt idx="3">
                  <c:v>1.85</c:v>
                </c:pt>
                <c:pt idx="4">
                  <c:v>3.17</c:v>
                </c:pt>
                <c:pt idx="5">
                  <c:v>4.76</c:v>
                </c:pt>
                <c:pt idx="6">
                  <c:v>6.61</c:v>
                </c:pt>
                <c:pt idx="7">
                  <c:v>8.67</c:v>
                </c:pt>
                <c:pt idx="8">
                  <c:v>10.93</c:v>
                </c:pt>
                <c:pt idx="9">
                  <c:v>13.36</c:v>
                </c:pt>
                <c:pt idx="10">
                  <c:v>15.94</c:v>
                </c:pt>
                <c:pt idx="11">
                  <c:v>18.66</c:v>
                </c:pt>
                <c:pt idx="12">
                  <c:v>21.49</c:v>
                </c:pt>
                <c:pt idx="13">
                  <c:v>24.42</c:v>
                </c:pt>
                <c:pt idx="14">
                  <c:v>27.45</c:v>
                </c:pt>
                <c:pt idx="15">
                  <c:v>30.56</c:v>
                </c:pt>
                <c:pt idx="16">
                  <c:v>33.74</c:v>
                </c:pt>
                <c:pt idx="17">
                  <c:v>36.98</c:v>
                </c:pt>
                <c:pt idx="18">
                  <c:v>40.27</c:v>
                </c:pt>
                <c:pt idx="19">
                  <c:v>43.62</c:v>
                </c:pt>
                <c:pt idx="20">
                  <c:v>47.01</c:v>
                </c:pt>
                <c:pt idx="21">
                  <c:v>50.44</c:v>
                </c:pt>
                <c:pt idx="22">
                  <c:v>53.9</c:v>
                </c:pt>
                <c:pt idx="23">
                  <c:v>57.39</c:v>
                </c:pt>
                <c:pt idx="24">
                  <c:v>60.91</c:v>
                </c:pt>
                <c:pt idx="25">
                  <c:v>64.45</c:v>
                </c:pt>
                <c:pt idx="26">
                  <c:v>68.01</c:v>
                </c:pt>
                <c:pt idx="27">
                  <c:v>71.59</c:v>
                </c:pt>
                <c:pt idx="28">
                  <c:v>75.18</c:v>
                </c:pt>
                <c:pt idx="29">
                  <c:v>78.79</c:v>
                </c:pt>
                <c:pt idx="30">
                  <c:v>82.41</c:v>
                </c:pt>
                <c:pt idx="31">
                  <c:v>86.05</c:v>
                </c:pt>
                <c:pt idx="32">
                  <c:v>89.69</c:v>
                </c:pt>
                <c:pt idx="33">
                  <c:v>93.34</c:v>
                </c:pt>
                <c:pt idx="34">
                  <c:v>97</c:v>
                </c:pt>
                <c:pt idx="35">
                  <c:v>100.66</c:v>
                </c:pt>
                <c:pt idx="36">
                  <c:v>104.33</c:v>
                </c:pt>
                <c:pt idx="37">
                  <c:v>108.01</c:v>
                </c:pt>
                <c:pt idx="38">
                  <c:v>111.69</c:v>
                </c:pt>
                <c:pt idx="39">
                  <c:v>115.37</c:v>
                </c:pt>
                <c:pt idx="40">
                  <c:v>119.06</c:v>
                </c:pt>
                <c:pt idx="41">
                  <c:v>122.75</c:v>
                </c:pt>
                <c:pt idx="42">
                  <c:v>126.44</c:v>
                </c:pt>
                <c:pt idx="43">
                  <c:v>130.14</c:v>
                </c:pt>
                <c:pt idx="44">
                  <c:v>133.84</c:v>
                </c:pt>
                <c:pt idx="45">
                  <c:v>137.54</c:v>
                </c:pt>
                <c:pt idx="46">
                  <c:v>141.24</c:v>
                </c:pt>
                <c:pt idx="47">
                  <c:v>144.94</c:v>
                </c:pt>
                <c:pt idx="48">
                  <c:v>148.65</c:v>
                </c:pt>
                <c:pt idx="49">
                  <c:v>152.35</c:v>
                </c:pt>
                <c:pt idx="50">
                  <c:v>156.06</c:v>
                </c:pt>
                <c:pt idx="51">
                  <c:v>159.76</c:v>
                </c:pt>
                <c:pt idx="52">
                  <c:v>163.47</c:v>
                </c:pt>
                <c:pt idx="53">
                  <c:v>167.18</c:v>
                </c:pt>
                <c:pt idx="54">
                  <c:v>170.89</c:v>
                </c:pt>
                <c:pt idx="55">
                  <c:v>174.6</c:v>
                </c:pt>
                <c:pt idx="56">
                  <c:v>178.31</c:v>
                </c:pt>
                <c:pt idx="57">
                  <c:v>182.02</c:v>
                </c:pt>
                <c:pt idx="58">
                  <c:v>185.74</c:v>
                </c:pt>
                <c:pt idx="59">
                  <c:v>189.45</c:v>
                </c:pt>
                <c:pt idx="60">
                  <c:v>193.16</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000" b="0" i="0" u="none" strike="noStrike">
                    <a:solidFill>
                      <a:srgbClr val="5B6B77"/>
                    </a:solidFill>
                    <a:latin typeface="+mn-lt"/>
                  </a:defRPr>
                </a:pPr>
                <a:r>
                  <a:rPr sz="1000" b="0" i="0" u="none" strike="noStrike">
                    <a:solidFill>
                      <a:srgbClr val="5B6B77"/>
                    </a:solidFill>
                    <a:latin typeface="+mn-lt"/>
                  </a:rPr>
                  <a:t>time t (s)</a:t>
                </a:r>
              </a:p>
            </c:rich>
          </c:tx>
          <c:layout/>
          <c:overlay val="0"/>
        </c:title>
        <c:numFmt formatCode="0" sourceLinked="1"/>
        <c:majorTickMark val="none"/>
        <c:minorTickMark val="none"/>
        <c:tickLblPos val="nextTo"/>
        <c:spPr>
          <a:ln w="12700" cap="flat">
            <a:solidFill>
              <a:srgbClr val="AEB8C0"/>
            </a:solidFill>
            <a:prstDash val="solid"/>
            <a:round/>
          </a:ln>
        </c:spPr>
        <c:txPr>
          <a:bodyPr/>
          <a:lstStyle/>
          <a:p>
            <a:pPr>
              <a:defRPr sz="1000" b="0" i="0" u="none" strike="noStrike">
                <a:solidFill>
                  <a:srgbClr val="5B6B77"/>
                </a:solidFill>
                <a:latin typeface="+mn-lt"/>
              </a:defRPr>
            </a:pPr>
            <a:endParaRPr lang="en-US"/>
          </a:p>
        </c:txPr>
        <c:crossAx val="2094734552"/>
        <c:crosses val="autoZero"/>
        <c:auto val="1"/>
        <c:lblAlgn val="ctr"/>
        <c:noMultiLvlLbl val="1"/>
        <c:majorUnit val="10"/>
      </c:valAx>
      <c:valAx>
        <c:axId val="2094734552"/>
        <c:scaling>
          <c:orientation val="minMax"/>
          <c:max val="200"/>
          <c:min val="0"/>
        </c:scaling>
        <c:delete val="0"/>
        <c:axPos val="l"/>
        <c:majorGridlines>
          <c:spPr>
            <a:ln w="6350" cap="flat">
              <a:solidFill>
                <a:srgbClr val="D5DCE1"/>
              </a:solidFill>
              <a:prstDash val="solid"/>
              <a:round/>
            </a:ln>
          </c:spPr>
        </c:majorGridlines>
        <c:title>
          <c:tx>
            <c:rich>
              <a:bodyPr/>
              <a:lstStyle/>
              <a:p>
                <a:pPr>
                  <a:defRPr sz="1000" b="0" i="0" u="none" strike="noStrike">
                    <a:solidFill>
                      <a:srgbClr val="5B6B77"/>
                    </a:solidFill>
                    <a:latin typeface="+mn-lt"/>
                  </a:defRPr>
                </a:pPr>
                <a:r>
                  <a:rPr sz="1000" b="0" i="0" u="none" strike="noStrike">
                    <a:solidFill>
                      <a:srgbClr val="5B6B77"/>
                    </a:solidFill>
                    <a:latin typeface="+mn-lt"/>
                  </a:rPr>
                  <a:t>ΔT (mK)</a:t>
                </a:r>
              </a:p>
            </c:rich>
          </c:tx>
          <c:layout/>
          <c:overlay val="0"/>
        </c:title>
        <c:numFmt formatCode="0" sourceLinked="0"/>
        <c:majorTickMark val="none"/>
        <c:minorTickMark val="none"/>
        <c:tickLblPos val="nextTo"/>
        <c:spPr>
          <a:ln w="12700" cap="flat">
            <a:noFill/>
            <a:prstDash val="solid"/>
            <a:round/>
          </a:ln>
        </c:spPr>
        <c:txPr>
          <a:bodyPr/>
          <a:lstStyle/>
          <a:p>
            <a:pPr>
              <a:defRPr sz="1000" b="0" i="0" u="none" strike="noStrike">
                <a:solidFill>
                  <a:srgbClr val="5B6B77"/>
                </a:solidFill>
                <a:latin typeface="+mn-lt"/>
              </a:defRPr>
            </a:pPr>
            <a:endParaRPr lang="en-US"/>
          </a:p>
        </c:txPr>
        <c:crossAx val="2094734554"/>
        <c:crosses val="autoZero"/>
        <c:crossBetween val="midCat"/>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2"/>
          <c:y val="0.05"/>
          <c:w val="0.83"/>
          <c:h val="0.72"/>
        </c:manualLayout>
      </c:layout>
      <c:scatterChart>
        <c:scatterStyle val="lineMarker"/>
        <c:varyColors val="0"/>
        <c:ser>
          <c:idx val="0"/>
          <c:order val="0"/>
          <c:tx>
            <c:strRef>
              <c:f>Sheet1!$B$1</c:f>
              <c:strCache>
                <c:ptCount val="1"/>
                <c:pt idx="0">
                  <c:v>Heater calibration</c:v>
                </c:pt>
              </c:strCache>
            </c:strRef>
          </c:tx>
          <c:spPr>
            <a:solidFill>
              <a:srgbClr val="C46A2B"/>
            </a:solidFill>
            <a:ln>
              <a:noFill/>
            </a:ln>
            <a:effectLst/>
          </c:spPr>
          <c:marker>
            <c:symbol val="circle"/>
            <c:size val="9"/>
            <c:spPr>
              <a:solidFill>
                <a:srgbClr val="C46A2B"/>
              </a:solidFill>
              <a:ln w="9525" cap="flat">
                <a:solidFill>
                  <a:srgbClr val="C46A2B"/>
                </a:solidFill>
                <a:prstDash val="solid"/>
                <a:round/>
              </a:ln>
              <a:effectLst/>
            </c:spPr>
          </c:marker>
          <c:xVal>
            <c:numRef>
              <c:f>Sheet1!$A$2:$A$11</c:f>
              <c:numCache>
                <c:formatCode>General</c:formatCode>
                <c:ptCount val="10"/>
                <c:pt idx="0">
                  <c:v>0</c:v>
                </c:pt>
                <c:pt idx="1">
                  <c:v>2</c:v>
                </c:pt>
                <c:pt idx="2">
                  <c:v>4</c:v>
                </c:pt>
                <c:pt idx="3">
                  <c:v>6</c:v>
                </c:pt>
                <c:pt idx="4">
                  <c:v>7.4</c:v>
                </c:pt>
                <c:pt idx="5">
                  <c:v>7.4</c:v>
                </c:pt>
                <c:pt idx="6">
                  <c:v>8</c:v>
                </c:pt>
                <c:pt idx="7">
                  <c:v>10</c:v>
                </c:pt>
                <c:pt idx="8">
                  <c:v>13</c:v>
                </c:pt>
                <c:pt idx="9">
                  <c:v>14</c:v>
                </c:pt>
              </c:numCache>
            </c:numRef>
          </c:xVal>
          <c:yVal>
            <c:numRef>
              <c:f>Sheet1!$B$2:$B$11</c:f>
              <c:numCache>
                <c:formatCode>General</c:formatCode>
                <c:ptCount val="10"/>
                <c:pt idx="1">
                  <c:v>0.5714</c:v>
                </c:pt>
                <c:pt idx="2">
                  <c:v>1.1429</c:v>
                </c:pt>
                <c:pt idx="3">
                  <c:v>1.7143</c:v>
                </c:pt>
                <c:pt idx="6">
                  <c:v>2.2857</c:v>
                </c:pt>
                <c:pt idx="7">
                  <c:v>2.8571</c:v>
                </c:pt>
                <c:pt idx="8">
                  <c:v>3.7143</c:v>
                </c:pt>
              </c:numCache>
            </c:numRef>
          </c:yVal>
          <c:smooth val="0"/>
        </c:ser>
        <c:ser>
          <c:idx val="1"/>
          <c:order val="1"/>
          <c:tx>
            <c:strRef>
              <c:f>Sheet1!$C$1</c:f>
              <c:strCache>
                <c:ptCount val="1"/>
                <c:pt idx="0">
                  <c:v>Linear fit</c:v>
                </c:pt>
              </c:strCache>
            </c:strRef>
          </c:tx>
          <c:spPr>
            <a:solidFill>
              <a:srgbClr val="5B6B77"/>
            </a:solidFill>
            <a:ln w="25400" cap="flat">
              <a:solidFill>
                <a:srgbClr val="5B6B77"/>
              </a:solidFill>
              <a:prstDash val="dash"/>
              <a:round/>
            </a:ln>
            <a:effectLst/>
          </c:spPr>
          <c:marker>
            <c:symbol val="none"/>
          </c:marker>
          <c:xVal>
            <c:numRef>
              <c:f>Sheet1!$A$2:$A$11</c:f>
              <c:numCache>
                <c:formatCode>General</c:formatCode>
                <c:ptCount val="10"/>
                <c:pt idx="0">
                  <c:v>0</c:v>
                </c:pt>
                <c:pt idx="1">
                  <c:v>2</c:v>
                </c:pt>
                <c:pt idx="2">
                  <c:v>4</c:v>
                </c:pt>
                <c:pt idx="3">
                  <c:v>6</c:v>
                </c:pt>
                <c:pt idx="4">
                  <c:v>7.4</c:v>
                </c:pt>
                <c:pt idx="5">
                  <c:v>7.4</c:v>
                </c:pt>
                <c:pt idx="6">
                  <c:v>8</c:v>
                </c:pt>
                <c:pt idx="7">
                  <c:v>10</c:v>
                </c:pt>
                <c:pt idx="8">
                  <c:v>13</c:v>
                </c:pt>
                <c:pt idx="9">
                  <c:v>14</c:v>
                </c:pt>
              </c:numCache>
            </c:numRef>
          </c:xVal>
          <c:yVal>
            <c:numRef>
              <c:f>Sheet1!$C$2:$C$11</c:f>
              <c:numCache>
                <c:formatCode>General</c:formatCode>
                <c:ptCount val="10"/>
                <c:pt idx="0">
                  <c:v>0</c:v>
                </c:pt>
                <c:pt idx="9">
                  <c:v>4</c:v>
                </c:pt>
              </c:numCache>
            </c:numRef>
          </c:yVal>
          <c:smooth val="0"/>
        </c:ser>
        <c:ser>
          <c:idx val="2"/>
          <c:order val="2"/>
          <c:tx>
            <c:strRef>
              <c:f>Sheet1!$D$1</c:f>
              <c:strCache>
                <c:ptCount val="1"/>
                <c:pt idx="0">
                  <c:v>DUT readout</c:v>
                </c:pt>
              </c:strCache>
            </c:strRef>
          </c:tx>
          <c:spPr>
            <a:solidFill>
              <a:srgbClr val="0F7C86"/>
            </a:solidFill>
            <a:ln w="25400" cap="flat">
              <a:solidFill>
                <a:srgbClr val="0F7C86"/>
              </a:solidFill>
              <a:prstDash val="sysDot"/>
              <a:round/>
            </a:ln>
            <a:effectLst/>
          </c:spPr>
          <c:marker>
            <c:symbol val="none"/>
          </c:marker>
          <c:xVal>
            <c:numRef>
              <c:f>Sheet1!$A$2:$A$11</c:f>
              <c:numCache>
                <c:formatCode>General</c:formatCode>
                <c:ptCount val="10"/>
                <c:pt idx="0">
                  <c:v>0</c:v>
                </c:pt>
                <c:pt idx="1">
                  <c:v>2</c:v>
                </c:pt>
                <c:pt idx="2">
                  <c:v>4</c:v>
                </c:pt>
                <c:pt idx="3">
                  <c:v>6</c:v>
                </c:pt>
                <c:pt idx="4">
                  <c:v>7.4</c:v>
                </c:pt>
                <c:pt idx="5">
                  <c:v>7.4</c:v>
                </c:pt>
                <c:pt idx="6">
                  <c:v>8</c:v>
                </c:pt>
                <c:pt idx="7">
                  <c:v>10</c:v>
                </c:pt>
                <c:pt idx="8">
                  <c:v>13</c:v>
                </c:pt>
                <c:pt idx="9">
                  <c:v>14</c:v>
                </c:pt>
              </c:numCache>
            </c:numRef>
          </c:xVal>
          <c:yVal>
            <c:numRef>
              <c:f>Sheet1!$D$2:$D$11</c:f>
              <c:numCache>
                <c:formatCode>General</c:formatCode>
                <c:ptCount val="10"/>
                <c:pt idx="0">
                  <c:v>2.1143</c:v>
                </c:pt>
                <c:pt idx="4">
                  <c:v>2.1143</c:v>
                </c:pt>
                <c:pt idx="5">
                  <c:v>0</c:v>
                </c:pt>
              </c:numCache>
            </c:numRef>
          </c:yVal>
          <c:smooth val="0"/>
        </c:ser>
        <c:ser>
          <c:idx val="3"/>
          <c:order val="3"/>
          <c:tx>
            <c:strRef>
              <c:f>Sheet1!$E$1</c:f>
              <c:strCache>
                <c:ptCount val="1"/>
                <c:pt idx="0">
                  <c:v>DUT</c:v>
                </c:pt>
              </c:strCache>
            </c:strRef>
          </c:tx>
          <c:spPr>
            <a:solidFill>
              <a:srgbClr val="0F7C86"/>
            </a:solidFill>
            <a:ln>
              <a:noFill/>
            </a:ln>
            <a:effectLst/>
          </c:spPr>
          <c:marker>
            <c:symbol val="diamond"/>
            <c:size val="12"/>
            <c:spPr>
              <a:solidFill>
                <a:srgbClr val="0F7C86"/>
              </a:solidFill>
              <a:ln w="9525" cap="flat">
                <a:solidFill>
                  <a:srgbClr val="0F7C86"/>
                </a:solidFill>
                <a:prstDash val="solid"/>
                <a:round/>
              </a:ln>
              <a:effectLst/>
            </c:spPr>
          </c:marker>
          <c:xVal>
            <c:numRef>
              <c:f>Sheet1!$A$2:$A$11</c:f>
              <c:numCache>
                <c:formatCode>General</c:formatCode>
                <c:ptCount val="10"/>
                <c:pt idx="0">
                  <c:v>0</c:v>
                </c:pt>
                <c:pt idx="1">
                  <c:v>2</c:v>
                </c:pt>
                <c:pt idx="2">
                  <c:v>4</c:v>
                </c:pt>
                <c:pt idx="3">
                  <c:v>6</c:v>
                </c:pt>
                <c:pt idx="4">
                  <c:v>7.4</c:v>
                </c:pt>
                <c:pt idx="5">
                  <c:v>7.4</c:v>
                </c:pt>
                <c:pt idx="6">
                  <c:v>8</c:v>
                </c:pt>
                <c:pt idx="7">
                  <c:v>10</c:v>
                </c:pt>
                <c:pt idx="8">
                  <c:v>13</c:v>
                </c:pt>
                <c:pt idx="9">
                  <c:v>14</c:v>
                </c:pt>
              </c:numCache>
            </c:numRef>
          </c:xVal>
          <c:yVal>
            <c:numRef>
              <c:f>Sheet1!$E$2:$E$11</c:f>
              <c:numCache>
                <c:formatCode>General</c:formatCode>
                <c:ptCount val="10"/>
                <c:pt idx="4">
                  <c:v>2.1143</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4"/>
          <c:min val="0"/>
        </c:scaling>
        <c:delete val="0"/>
        <c:axPos val="b"/>
        <c:title>
          <c:tx>
            <c:rich>
              <a:bodyPr/>
              <a:lstStyle/>
              <a:p>
                <a:pPr>
                  <a:defRPr sz="1000" b="0" i="0" u="none" strike="noStrike">
                    <a:solidFill>
                      <a:srgbClr val="5B6B77"/>
                    </a:solidFill>
                    <a:latin typeface="+mn-lt"/>
                  </a:defRPr>
                </a:pPr>
                <a:r>
                  <a:rPr sz="1000" b="0" i="0" u="none" strike="noStrike">
                    <a:solidFill>
                      <a:srgbClr val="5B6B77"/>
                    </a:solidFill>
                    <a:latin typeface="+mn-lt"/>
                  </a:rPr>
                  <a:t>power P (W)</a:t>
                </a:r>
              </a:p>
            </c:rich>
          </c:tx>
          <c:layout/>
          <c:overlay val="0"/>
        </c:title>
        <c:numFmt formatCode="0" sourceLinked="1"/>
        <c:majorTickMark val="none"/>
        <c:minorTickMark val="none"/>
        <c:tickLblPos val="nextTo"/>
        <c:spPr>
          <a:ln w="12700" cap="flat">
            <a:solidFill>
              <a:srgbClr val="AEB8C0"/>
            </a:solidFill>
            <a:prstDash val="solid"/>
            <a:round/>
          </a:ln>
        </c:spPr>
        <c:txPr>
          <a:bodyPr/>
          <a:lstStyle/>
          <a:p>
            <a:pPr>
              <a:defRPr sz="1000" b="0" i="0" u="none" strike="noStrike">
                <a:solidFill>
                  <a:srgbClr val="5B6B77"/>
                </a:solidFill>
                <a:latin typeface="+mn-lt"/>
              </a:defRPr>
            </a:pPr>
            <a:endParaRPr lang="en-US"/>
          </a:p>
        </c:txPr>
        <c:crossAx val="2094734552"/>
        <c:crosses val="autoZero"/>
        <c:auto val="1"/>
        <c:lblAlgn val="ctr"/>
        <c:noMultiLvlLbl val="1"/>
        <c:majorUnit val="2"/>
      </c:valAx>
      <c:valAx>
        <c:axId val="2094734552"/>
        <c:scaling>
          <c:orientation val="minMax"/>
          <c:max val="4"/>
          <c:min val="0"/>
        </c:scaling>
        <c:delete val="0"/>
        <c:axPos val="l"/>
        <c:majorGridlines>
          <c:spPr>
            <a:ln w="6350" cap="flat">
              <a:solidFill>
                <a:srgbClr val="D5DCE1"/>
              </a:solidFill>
              <a:prstDash val="solid"/>
              <a:round/>
            </a:ln>
          </c:spPr>
        </c:majorGridlines>
        <c:title>
          <c:tx>
            <c:rich>
              <a:bodyPr/>
              <a:lstStyle/>
              <a:p>
                <a:pPr>
                  <a:defRPr sz="1000" b="0" i="0" u="none" strike="noStrike">
                    <a:solidFill>
                      <a:srgbClr val="5B6B77"/>
                    </a:solidFill>
                    <a:latin typeface="+mn-lt"/>
                  </a:defRPr>
                </a:pPr>
                <a:r>
                  <a:rPr sz="1000" b="0" i="0" u="none" strike="noStrike">
                    <a:solidFill>
                      <a:srgbClr val="5B6B77"/>
                    </a:solidFill>
                    <a:latin typeface="+mn-lt"/>
                  </a:rPr>
                  <a:t>slope s (mK/s)</a:t>
                </a:r>
              </a:p>
            </c:rich>
          </c:tx>
          <c:layout/>
          <c:overlay val="0"/>
        </c:title>
        <c:numFmt formatCode="0" sourceLinked="0"/>
        <c:majorTickMark val="none"/>
        <c:minorTickMark val="none"/>
        <c:tickLblPos val="nextTo"/>
        <c:spPr>
          <a:ln w="12700" cap="flat">
            <a:noFill/>
            <a:prstDash val="solid"/>
            <a:round/>
          </a:ln>
        </c:spPr>
        <c:txPr>
          <a:bodyPr/>
          <a:lstStyle/>
          <a:p>
            <a:pPr>
              <a:defRPr sz="1000" b="0" i="0" u="none" strike="noStrike">
                <a:solidFill>
                  <a:srgbClr val="5B6B77"/>
                </a:solidFill>
                <a:latin typeface="+mn-lt"/>
              </a:defRPr>
            </a:pPr>
            <a:endParaRPr lang="en-US"/>
          </a:p>
        </c:txPr>
        <c:crossAx val="2094734554"/>
        <c:crosses val="autoZero"/>
        <c:crossBetween val="midCat"/>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Simulated (2D FEM)</c:v>
                </c:pt>
              </c:strCache>
            </c:strRef>
          </c:tx>
          <c:spPr>
            <a:solidFill>
              <a:srgbClr val="0F7C86"/>
            </a:solidFill>
            <a:effectLst/>
          </c:spPr>
          <c:invertIfNegative val="0"/>
          <c:dLbls>
            <c:numFmt formatCode="0.00" sourceLinked="0"/>
            <c:txPr>
              <a:bodyPr/>
              <a:lstStyle/>
              <a:p>
                <a:pPr>
                  <a:defRPr b="1" i="0" strike="noStrike" sz="1100" u="none">
                    <a:solidFill>
                      <a:srgbClr val="1E252B"/>
                    </a:solidFill>
                    <a:latin typeface="+mn-lt"/>
                  </a:defRPr>
                </a:pPr>
              </a:p>
            </c:txPr>
            <c:showLegendKey val="0"/>
            <c:showVal val="1"/>
            <c:showCatName val="0"/>
            <c:showSerName val="0"/>
            <c:showPercent val="0"/>
            <c:showBubbleSize val="0"/>
            <c:showLeaderLines val="0"/>
          </c:dLbls>
          <c:cat>
            <c:multiLvlStrRef>
              <c:f>Sheet1!$A$2:$A$3</c:f>
              <c:multiLvlStrCache>
                <c:ptCount val="2"/>
                <c:lvl>
                  <c:pt idx="0">
                    <c:v>Solid wire</c:v>
                  </c:pt>
                  <c:pt idx="1">
                    <c:v>Litz wire</c:v>
                  </c:pt>
                </c:lvl>
              </c:multiLvlStrCache>
            </c:multiLvlStrRef>
          </c:cat>
          <c:val>
            <c:numRef>
              <c:f>Sheet1!$B$2:$B$3</c:f>
              <c:numCache>
                <c:formatCode>General</c:formatCode>
                <c:ptCount val="2"/>
                <c:pt idx="0">
                  <c:v>6.75</c:v>
                </c:pt>
                <c:pt idx="1">
                  <c:v>6.7</c:v>
                </c:pt>
              </c:numCache>
            </c:numRef>
          </c:val>
        </c:ser>
        <c:ser>
          <c:idx val="1"/>
          <c:order val="1"/>
          <c:tx>
            <c:strRef>
              <c:f>Sheet1!$C$1</c:f>
              <c:strCache>
                <c:ptCount val="1"/>
                <c:pt idx="0">
                  <c:v>Measured (mean of 3 runs)</c:v>
                </c:pt>
              </c:strCache>
            </c:strRef>
          </c:tx>
          <c:spPr>
            <a:solidFill>
              <a:srgbClr val="C46A2B"/>
            </a:solidFill>
            <a:effectLst/>
          </c:spPr>
          <c:invertIfNegative val="0"/>
          <c:dLbls>
            <c:numFmt formatCode="0.00" sourceLinked="0"/>
            <c:txPr>
              <a:bodyPr/>
              <a:lstStyle/>
              <a:p>
                <a:pPr>
                  <a:defRPr b="1" i="0" strike="noStrike" sz="1100" u="none">
                    <a:solidFill>
                      <a:srgbClr val="1E252B"/>
                    </a:solidFill>
                    <a:latin typeface="+mn-lt"/>
                  </a:defRPr>
                </a:pPr>
              </a:p>
            </c:txPr>
            <c:showLegendKey val="0"/>
            <c:showVal val="1"/>
            <c:showCatName val="0"/>
            <c:showSerName val="0"/>
            <c:showPercent val="0"/>
            <c:showBubbleSize val="0"/>
            <c:showLeaderLines val="0"/>
          </c:dLbls>
          <c:cat>
            <c:multiLvlStrRef>
              <c:f>Sheet1!$A$2:$A$3</c:f>
              <c:multiLvlStrCache>
                <c:ptCount val="2"/>
                <c:lvl>
                  <c:pt idx="0">
                    <c:v>Solid wire</c:v>
                  </c:pt>
                  <c:pt idx="1">
                    <c:v>Litz wire</c:v>
                  </c:pt>
                </c:lvl>
              </c:multiLvlStrCache>
            </c:multiLvlStrRef>
          </c:cat>
          <c:val>
            <c:numRef>
              <c:f>Sheet1!$C$2:$C$3</c:f>
              <c:numCache>
                <c:formatCode>General</c:formatCode>
                <c:ptCount val="2"/>
                <c:pt idx="0">
                  <c:v>7.367</c:v>
                </c:pt>
                <c:pt idx="1">
                  <c:v>6.667</c:v>
                </c:pt>
              </c:numCache>
            </c:numRef>
          </c:val>
        </c:ser>
        <c:dLbls>
          <c:numFmt formatCode="0.00" sourceLinked="0"/>
          <c:txPr>
            <a:bodyPr/>
            <a:lstStyle/>
            <a:p>
              <a:pPr>
                <a:defRPr b="1" i="0" strike="noStrike" sz="1100" u="none">
                  <a:solidFill>
                    <a:srgbClr val="1E252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EB8C0"/>
            </a:solidFill>
            <a:prstDash val="solid"/>
            <a:round/>
          </a:ln>
        </c:spPr>
        <c:txPr>
          <a:bodyPr/>
          <a:lstStyle/>
          <a:p>
            <a:pPr>
              <a:defRPr sz="1000" b="0" i="0" u="none" strike="noStrike">
                <a:solidFill>
                  <a:srgbClr val="1E252B"/>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6350" cap="flat">
              <a:solidFill>
                <a:srgbClr val="D5DCE1"/>
              </a:solidFill>
              <a:prstDash val="solid"/>
              <a:round/>
            </a:ln>
          </c:spPr>
        </c:majorGridlines>
        <c:title>
          <c:tx>
            <c:rich>
              <a:bodyPr/>
              <a:lstStyle/>
              <a:p>
                <a:pPr>
                  <a:defRPr sz="1000" b="0" i="0" u="none" strike="noStrike">
                    <a:solidFill>
                      <a:srgbClr val="5B6B77"/>
                    </a:solidFill>
                    <a:latin typeface="+mn-lt"/>
                  </a:defRPr>
                </a:pPr>
                <a:r>
                  <a:rPr sz="1000" b="0" i="0" u="none" strike="noStrike">
                    <a:solidFill>
                      <a:srgbClr val="5B6B77"/>
                    </a:solidFill>
                    <a:latin typeface="+mn-lt"/>
                  </a:rPr>
                  <a:t>loss (W)</a:t>
                </a:r>
              </a:p>
            </c:rich>
          </c:tx>
          <c:layout/>
          <c:overlay val="0"/>
        </c:title>
        <c:numFmt formatCode="0" sourceLinked="0"/>
        <c:majorTickMark val="out"/>
        <c:minorTickMark val="none"/>
        <c:tickLblPos val="nextTo"/>
        <c:spPr>
          <a:ln w="12700" cap="flat">
            <a:noFill/>
            <a:prstDash val="solid"/>
            <a:round/>
          </a:ln>
        </c:spPr>
        <c:txPr>
          <a:bodyPr/>
          <a:lstStyle/>
          <a:p>
            <a:pPr>
              <a:defRPr sz="1000" b="0" i="0" u="none" strike="noStrike">
                <a:solidFill>
                  <a:srgbClr val="5B6B77"/>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050">
              <a:solidFill>
                <a:srgbClr val="1E25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POSTER IS ABOUT
The poster 'Experimental verification of automated loss-simulation of magnetic components' (P. Skoff, M. Stoiber, J. Reynvaan, W. Konrad; Silicon Austria Labs with Infineon Technologies AG; Power Electronics for Energy Transition Symposium 2026) asks one question: can an automated simulation chain be trusted to predict the losses of an inductor or transformer before it is built?
Why this is hard: winding losses depend on the whole frequency content of the current (skin and proximity effect), core losses depend nonlinearly on flux density, frequency and waveform, and electrical V*I loss measurements on high-Q components are very sensitive to phase errors.
The poster therefore combines two independent pillars: (1) an automated Python workflow that simulates the converter in PLECS, the switch losses with Infineon SPICE models and the magnetic component with 2D FEM in Ansys Maxwell; (2) a calorimetric measurement that captures the component's heat directly. The comparison on a 400 kHz, ~880 W buck-converter inductor (RM14LP core) shows excellent agreement for a litz winding and an ~8 % under-prediction for a solid-wire winding.
Figure on the right (computed for this deck, not taken from the poster): exact Bessel-function solution for the current density of an isolated round copper conductor at 400 kHz. In a 1 mm solid wire the current crowds into a skin of ~0.10 mm (R_ac/R_dc ~ 2.7 from skin effect alone); 0.1 mm litz strands carry it uniformly. This is the physics behind the solid-vs-litz result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AUTOMATED WORKFLOW WORKS (poster panel 'Simulation results - example: buck converter')
1) The converter is drawn in PLECS and simulated at its operating point.
2) Switch losses are simulated in a SPICE solver with Infineon device models (about 6.8 W per switch in the case study).
3) The waveforms needed for the magnetic component are extracted from PLECS and an FFT is computed. The 10 most dominant frequency components are kept; according to the poster this gives good results with acceptable simulation time.
4) In Ansys Maxwell (2D), these components are applied as parallel current sources, one per frequency. The script assigns layer stack / winding structure and wire type (litz or solid), core size and material, insulation and air gaps.
5) Losses are summed over the frequency components. For the winding this superposition is exact as long as the field problem is linear (constant permeability, no saturation): P_w = sum of I_n^2 * R_ac(f_n) [9, 10]. For the core it is an approximation because core loss is nonlinear in flux density; time-domain methods such as iGSE / i2GSE [15, 16] are the usual alternative.
WHY ABOUT TEN COMPONENTS ARE ENOUGH (own calculation, not from the poster)
For a symmetric triangular ripple current the harmonic amplitudes fall as 1/n^2 (odd n only). Higher harmonics see a larger AC resistance. In the worst case - a proximity-dominated winding with R_ac rising like f^2 - the first ten harmonics still capture about 98 % of the ripple-related winding loss; in the skin-effect regime (R_ac ~ sqrt f) it is above 99.9 %. Truncating at ten components is therefore physically well justified.
CASE STUDY: buck converter, RM14LP core, 400 kHz, about 880 W. Simulated results: ~6.8 W per switch, inductor 6.75 W with solid wire and 6.70 W with litz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IDEA (poster panel 'Setup for measuring inductor losses')
All losses of the component - core and winding - end up as heat. The DUT is fully submerged in a dielectric liquid inside a Dewar flask (vacuum-insulated) closed by a custom double lid, so heat exchange with the ambient is very small: the system is near-adiabatic. The dissipated power then only raises the temperature of the contents: P_loss = C_eq * dT/dt, with C_eq the total heat capacity of liquid, DUT and enclosure.
Why this design: steady-state calorimeters, such as the double-jacketed designs in [4, 5], derive the loss from coolant mass flow and inlet/outlet temperature; the near-adiabatic transient method needs no mass-flow measurement at all. Unlike electrical V*I methods, the result is independent of waveform and frequency: for a high-Q inductor the relative loss error caused by a phase error d_phi is about Q * d_phi, e.g. 17 % for Q = 100 and 0.1 degree [3, 6]. The liquid gives electrical insulation and a high heat capacity at reasonable cost, and it is stirred continuously during calibration and measurement so that it heats uniformly.
Hardware listed on the poster: Dewar with custom double lid; stepper motor + Arduino as stirrer; PT100 sensors for liquid and ambient temperature; Keysight DAQ970A data acquisition; wire-wound resistor as heating element for calibration. The schematic is drawn for this deck (numbers 1-7 match the list).
Related work: the same SAL group evaluated a fluid-based transient calorimeter for ferrite core losses (Reynvaan et al., ICPE 2023 [2]); ETH Zurich's transient calorimetric core-loss method [3] is a closely related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(poster panel 'Calibration of setup')
Heating the liquid with a wire-wound resistor at known power for known time periods yields a series of temperature records. After an initial delay - heat must first flow from the source into the liquid and reach the PT100 - the temperature rises linearly. The linear regions are fitted and give a set of slopes dT/dt; the slope steepness is directly proportional to the power. Intermediate powers are interpolated between calibrated slopes.
Accuracy measures stated on the poster: (a) the DUT must be fully submerged in the enclosure during calibration, because it adds a non-negligible heat capacity to the system; (b) the initial liquid temperature is held at 35 degC for every run, so heat leakage and material properties are identical in calibration and measurement; (c) the liquid is stirred continuously for uniform heating.
MEASUREMENT (poster panel 'Results'): the DUT is operated as in normal operation, the dT/dt slope is recorded, and the most linear portion is compared with the calibration data.
IMPORTANT: the two charts are a model illustration made for this deck (first-order lag, C_eq = 3.5 kJ/K, tau = 8 s), not the poster's calibration data. They show the principle: slope = P / C_eq, and a DUT slope maps back to watts on the calibration line. The model also explains the initial non-linear part of every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(poster panel 'Results &amp; conclusion')
Six calorimetric runs: solid wire 7.3 / 7.4 / 7.4 W, litz wire 6.7 / 6.7 / 6.6 W. Simulated: 6.75 W (solid) and 6.70 W (litz).
- Litz: simulation within +0.5 % of the measured mean (0 to +1.5 % per run), i.e. within the repeatability of the set-up (about +/-0.05 W).
- Solid: simulation 8.4 % below the measured mean (7.5 to 8.8 % per run). Seen from the other side, the measured loss is 8 to 10 % above the simulated value.
- The key observation: the measurement shows that solid wire costs about 0.70 W more than litz, while the simulation predicts only 0.05 W difference. The extra high-frequency eddy-current loss of the solid conductor is under-represented in the simulation.
The poster's conclusion: the Python-based workflow enables accurate loss prediction of magnetic components; litz-wound designs are very close to measurement, the solid-wire effect seems under-represented and should be investigated; the simulation is nevertheless a good approximation for inductor design.
POSSIBLE CAUSES (our interpretation, not stated on the poster): (1) 2D models cannot capture 3D field effects such as air-gap fringing fields and the end turns of an RM core, which induce strong eddy currents in solid conductors but much less in fine litz strands [13, 14]; (2) copper resistivity rises by about 0.39 %/K - if the model uses 20 degC copper while the winding runs hotter, losses are under-estimated; (3) the loss split between core and winding is not measured separately, so the error cannot yet be attributed. A 3D FEM cross-check and a temperature-coupled simulation would discriminate between these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THESE REFERENCES WERE FOUND
The poster itself carries no reference list. [1] is its bibliographic record (SAL research portal, poster at the Power Electronics for Energy Transition Symposium 2026, organised by AIT and SAL). [2] is the authors' own paper on the fluid-based transient calorimeter that the measurement set-up builds on. The other entries are the established literature for the three building blocks of the poster: calorimetric loss measurement [3]-[8], loss modelling of windings and cores [9]-[16], and automated or integrated simulation / design workflows with a similar aim [17]-[20]. Full entries with DOIs and links are in REFERENCES.md next to this deck.
Related activity by the same group: an SAL team including M. Stoiber, J. Reynvaan and W. Konrad received 3rd place in the Innovation Track of the MagNet Challenge 2 (data-driven magnetics modelling, see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6400800" cy="17830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788920"/>
            <a:ext cx="6400800" cy="73152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rtlCol="0"/>
          <a:lstStyle>
            <a:lvl1pPr indent="0" marL="0">
              <a:buNone/>
              <a:defRPr lang="en-US" sz="1500" dirty="0">
                <a:solidFill>
                  <a:schemeClr val="accent1"/>
                </a:solidFill>
              </a:defRPr>
            </a:lvl1pPr>
          </a:lstStyle>
          <a:p>
            <a:pPr indent="0" marL="0">
              <a:buNone/>
            </a:pPr>
            <a:endParaRPr lang="en-US" sz="1500" dirty="0"/>
          </a:p>
        </p:txBody>
      </p:sp>
      <p:sp>
        <p:nvSpPr>
          <p:cNvPr id="4" name="Text 0"/>
          <p:cNvSpPr/>
          <p:nvPr/>
        </p:nvSpPr>
        <p:spPr>
          <a:xfrm>
            <a:off x="548640" y="6419088"/>
            <a:ext cx="10058400" cy="256032"/>
          </a:xfrm>
          <a:prstGeom prst="rect">
            <a:avLst/>
          </a:prstGeom>
          <a:noFill/>
          <a:ln/>
        </p:spPr>
        <p:txBody>
          <a:bodyPr wrap="square" lIns="0" tIns="0" rIns="0" bIns="0" rtlCol="0" anchor="ctr"/>
          <a:lstStyle/>
          <a:p>
            <a:pPr indent="0" marL="0">
              <a:buNone/>
            </a:pPr>
            <a:r>
              <a:rPr lang="en-US" sz="900" dirty="0">
                <a:solidFill>
                  <a:schemeClr val="accent3"/>
                </a:solidFill>
              </a:rPr>
              <a:t>Poster digest · P. Skoff, M. Stoiber, J. Reynvaan, W. Konrad (SAL with Infineon) · Power Electronics for Energy Transition Symposium 2026</a:t>
            </a:r>
            <a:endParaRPr lang="en-US" sz="9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502920"/>
            <a:ext cx="6400800" cy="274320"/>
          </a:xfrm>
          <a:prstGeom prst="rect">
            <a:avLst/>
          </a:prstGeom>
          <a:noFill/>
          <a:ln/>
        </p:spPr>
        <p:txBody>
          <a:bodyPr wrap="square" lIns="0" tIns="0" rIns="0" bIns="0" rtlCol="0" anchor="ctr"/>
          <a:lstStyle/>
          <a:p>
            <a:pPr indent="0" marL="0">
              <a:buNone/>
            </a:pPr>
            <a:r>
              <a:rPr lang="en-US" sz="1200" b="1" spc="300" kern="0" dirty="0">
                <a:solidFill>
                  <a:schemeClr val="accent4"/>
                </a:solidFill>
              </a:rPr>
              <a:t>POSTER DIGEST  ·  POWER MAGNETICS</a:t>
            </a:r>
            <a:endParaRPr lang="en-US" sz="1200" dirty="0"/>
          </a:p>
        </p:txBody>
      </p:sp>
      <p:sp>
        <p:nvSpPr>
          <p:cNvPr id="3" name="Text 0"/>
          <p:cNvSpPr/>
          <p:nvPr>
            <p:ph idx="100" type="title" hasCustomPrompt="1"/>
          </p:nvPr>
        </p:nvSpPr>
        <p:spPr>
          <a:xfrm>
            <a:off x="548640" y="914400"/>
            <a:ext cx="6400800" cy="1783080"/>
          </a:xfrm>
          <a:prstGeom prst="rect">
            <a:avLst/>
          </a:prstGeom>
          <a:noFill/>
          <a:ln/>
        </p:spPr>
        <p:txBody>
          <a:bodyPr wrap="square" lIns="0" tIns="0" rIns="0" bIns="0" rtlCol="0" anchor="t"/>
          <a:lstStyle/>
          <a:p>
            <a:pPr algn="l" indent="0" marL="0">
              <a:buNone/>
            </a:pPr>
            <a:r>
              <a:rPr lang="en-US" sz="3400" b="1" dirty="0">
                <a:solidFill>
                  <a:schemeClr val="bg1"/>
                </a:solidFill>
              </a:rPr>
              <a:t>Experimental Verification of Automated Loss Simulation for Magnetic Components</a:t>
            </a:r>
            <a:endParaRPr lang="en-US" sz="3400" dirty="0"/>
          </a:p>
        </p:txBody>
      </p:sp>
      <p:sp>
        <p:nvSpPr>
          <p:cNvPr id="4" name="Text 0"/>
          <p:cNvSpPr/>
          <p:nvPr>
            <p:ph idx="101" type="body" hasCustomPrompt="1"/>
          </p:nvPr>
        </p:nvSpPr>
        <p:spPr>
          <a:xfrm>
            <a:off x="548640" y="2788920"/>
            <a:ext cx="6400800" cy="731520"/>
          </a:xfrm>
          <a:prstGeom prst="rect">
            <a:avLst/>
          </a:prstGeom>
          <a:noFill/>
          <a:ln/>
        </p:spPr>
        <p:txBody>
          <a:bodyPr wrap="square" lIns="0" tIns="0" rIns="0" bIns="0" rtlCol="0" anchor="t"/>
          <a:lstStyle/>
          <a:p>
            <a:pPr indent="0" marL="0">
              <a:buNone/>
            </a:pPr>
            <a:r>
              <a:rPr lang="en-US" sz="1600" dirty="0">
                <a:solidFill>
                  <a:schemeClr val="bg2"/>
                </a:solidFill>
              </a:rPr>
              <a:t>A Python-driven PLECS · SPICE · Ansys Maxwell loss workflow, checked against near-adiabatic calorimetry</a:t>
            </a:r>
            <a:endParaRPr lang="en-US" sz="1600" dirty="0"/>
          </a:p>
        </p:txBody>
      </p:sp>
      <p:sp>
        <p:nvSpPr>
          <p:cNvPr id="5" name="Source"/>
          <p:cNvSpPr txBox="1"/>
          <p:nvPr/>
        </p:nvSpPr>
        <p:spPr>
          <a:xfrm>
            <a:off x="548640" y="3611880"/>
            <a:ext cx="6400800" cy="548640"/>
          </a:xfrm>
          <a:prstGeom prst="rect">
            <a:avLst/>
          </a:prstGeom>
          <a:noFill/>
          <a:ln/>
        </p:spPr>
        <p:txBody>
          <a:bodyPr wrap="square" lIns="0" tIns="0" rIns="0" bIns="0" rtlCol="0" anchor="t"/>
          <a:lstStyle/>
          <a:p>
            <a:pPr indent="0" marL="0">
              <a:buNone/>
            </a:pPr>
            <a:r>
              <a:rPr lang="en-US" sz="1100" b="1" dirty="0">
                <a:solidFill>
                  <a:schemeClr val="bg2"/>
                </a:solidFill>
              </a:rPr>
              <a:t>Based on the poster by P. Skoff, M. Stoiber, J. Reynvaan and W. Konrad</a:t>
            </a:r>
            <a:endParaRPr lang="en-US" sz="1100" dirty="0"/>
          </a:p>
          <a:p>
            <a:pPr indent="0" marL="0">
              <a:buNone/>
            </a:pPr>
            <a:r>
              <a:rPr lang="en-US" sz="1100" dirty="0">
                <a:solidFill>
                  <a:schemeClr val="bg2"/>
                </a:solidFill>
              </a:rPr>
              <a:t>Silicon Austria Labs (SAL), with Infineon Technologies AG · Power Electronics for Energy Transition Symposium, Vienna, 29–30 Sep 2026</a:t>
            </a:r>
            <a:endParaRPr lang="en-US" sz="1100" dirty="0"/>
          </a:p>
        </p:txBody>
      </p:sp>
      <p:pic>
        <p:nvPicPr>
          <p:cNvPr id="6" name="Hero skin-effect figure" descr="Computed current density at 400 kHz: a 1 mm solid copper wire carries current mainly in a thin rim (skin effect), while 0.1 mm litz strands carry it uniformly.">    </p:cNvPr>
          <p:cNvPicPr>
            <a:picLocks noChangeAspect="1"/>
          </p:cNvPicPr>
          <p:nvPr/>
        </p:nvPicPr>
        <p:blipFill>
          <a:blip r:embed="rId1"/>
          <a:stretch>
            <a:fillRect/>
          </a:stretch>
        </p:blipFill>
        <p:spPr>
          <a:xfrm>
            <a:off x="7269480" y="502920"/>
            <a:ext cx="4370832" cy="2686241"/>
          </a:xfrm>
          <a:prstGeom prst="rect">
            <a:avLst/>
          </a:prstGeom>
        </p:spPr>
      </p:pic>
      <p:sp>
        <p:nvSpPr>
          <p:cNvPr id="7" name="Hero caption"/>
          <p:cNvSpPr txBox="1"/>
          <p:nvPr/>
        </p:nvSpPr>
        <p:spPr>
          <a:xfrm>
            <a:off x="7269480" y="3234881"/>
            <a:ext cx="4370832" cy="457200"/>
          </a:xfrm>
          <a:prstGeom prst="rect">
            <a:avLst/>
          </a:prstGeom>
          <a:noFill/>
          <a:ln/>
        </p:spPr>
        <p:txBody>
          <a:bodyPr wrap="square" lIns="0" tIns="0" rIns="0" bIns="0" rtlCol="0" anchor="ctr"/>
          <a:lstStyle/>
          <a:p>
            <a:pPr algn="ctr" indent="0" marL="0">
              <a:buNone/>
            </a:pPr>
            <a:r>
              <a:rPr lang="en-US" sz="1000" i="1" dirty="0">
                <a:solidFill>
                  <a:schemeClr val="bg2"/>
                </a:solidFill>
              </a:rPr>
              <a:t>Computed for this deck (skin effect only, δ ≈ 0.10 mm in copper at 400 kHz): why solid and litz windings behave so differently.</a:t>
            </a:r>
            <a:endParaRPr lang="en-US" sz="1000" dirty="0"/>
          </a:p>
        </p:txBody>
      </p:sp>
      <p:sp>
        <p:nvSpPr>
          <p:cNvPr id="8" name="Concept card 1"/>
          <p:cNvSpPr/>
          <p:nvPr/>
        </p:nvSpPr>
        <p:spPr>
          <a:xfrm>
            <a:off x="548640" y="4434840"/>
            <a:ext cx="3310128" cy="1783080"/>
          </a:xfrm>
          <a:prstGeom prst="roundRect">
            <a:avLst>
              <a:gd name="adj" fmla="val 5128"/>
            </a:avLst>
          </a:prstGeom>
          <a:solidFill>
            <a:schemeClr val="bg1">
              <a:alpha val="9000"/>
            </a:schemeClr>
          </a:solidFill>
          <a:ln/>
        </p:spPr>
      </p:sp>
      <p:sp>
        <p:nvSpPr>
          <p:cNvPr id="9" name="Concept icon 1"/>
          <p:cNvSpPr/>
          <p:nvPr/>
        </p:nvSpPr>
        <p:spPr>
          <a:xfrm>
            <a:off x="777240" y="4681728"/>
            <a:ext cx="566928" cy="566928"/>
          </a:xfrm>
          <a:prstGeom prst="ellipse">
            <a:avLst/>
          </a:prstGeom>
          <a:solidFill>
            <a:schemeClr val="accent1"/>
          </a:solidFill>
          <a:ln/>
        </p:spPr>
      </p:sp>
      <p:pic>
        <p:nvPicPr>
          <p:cNvPr id="10" name="Concept icon 1 icon" descr="Concept icon 1">    </p:cNvPr>
          <p:cNvPicPr>
            <a:picLocks noChangeAspect="1"/>
          </p:cNvPicPr>
          <p:nvPr/>
        </p:nvPicPr>
        <p:blipFill>
          <a:blip r:embed="rId2"/>
          <a:stretch>
            <a:fillRect/>
          </a:stretch>
        </p:blipFill>
        <p:spPr>
          <a:xfrm>
            <a:off x="896295" y="4800783"/>
            <a:ext cx="328818" cy="328818"/>
          </a:xfrm>
          <a:prstGeom prst="rect">
            <a:avLst/>
          </a:prstGeom>
        </p:spPr>
      </p:pic>
      <p:sp>
        <p:nvSpPr>
          <p:cNvPr id="11" name="Concept title 1"/>
          <p:cNvSpPr txBox="1"/>
          <p:nvPr/>
        </p:nvSpPr>
        <p:spPr>
          <a:xfrm>
            <a:off x="1508760" y="4663440"/>
            <a:ext cx="2194560" cy="365760"/>
          </a:xfrm>
          <a:prstGeom prst="rect">
            <a:avLst/>
          </a:prstGeom>
          <a:noFill/>
          <a:ln/>
        </p:spPr>
        <p:txBody>
          <a:bodyPr wrap="square" lIns="0" tIns="0" rIns="0" bIns="0" rtlCol="0" anchor="ctr"/>
          <a:lstStyle/>
          <a:p>
            <a:pPr indent="0" marL="0">
              <a:buNone/>
            </a:pPr>
            <a:r>
              <a:rPr lang="en-US" sz="1700" b="1" dirty="0">
                <a:solidFill>
                  <a:schemeClr val="bg1"/>
                </a:solidFill>
              </a:rPr>
              <a:t>1 · Simulate</a:t>
            </a:r>
            <a:endParaRPr lang="en-US" sz="1700" dirty="0"/>
          </a:p>
        </p:txBody>
      </p:sp>
      <p:sp>
        <p:nvSpPr>
          <p:cNvPr id="12" name="Concept text 1"/>
          <p:cNvSpPr txBox="1"/>
          <p:nvPr/>
        </p:nvSpPr>
        <p:spPr>
          <a:xfrm>
            <a:off x="1508760" y="5074920"/>
            <a:ext cx="2167128" cy="1005840"/>
          </a:xfrm>
          <a:prstGeom prst="rect">
            <a:avLst/>
          </a:prstGeom>
          <a:noFill/>
          <a:ln/>
        </p:spPr>
        <p:txBody>
          <a:bodyPr wrap="square" lIns="0" tIns="0" rIns="0" bIns="0" rtlCol="0" anchor="t"/>
          <a:lstStyle/>
          <a:p>
            <a:pPr indent="0" marL="0">
              <a:buNone/>
            </a:pPr>
            <a:r>
              <a:rPr lang="en-US" sz="1200" dirty="0">
                <a:solidFill>
                  <a:schemeClr val="bg2"/>
                </a:solidFill>
              </a:rPr>
              <a:t>Python chains PLECS waveforms, Infineon SPICE switch models and 2D FEM in Ansys Maxwell to predict every loss.</a:t>
            </a:r>
            <a:endParaRPr lang="en-US" sz="1200" dirty="0"/>
          </a:p>
        </p:txBody>
      </p:sp>
      <p:pic>
        <p:nvPicPr>
          <p:cNvPr id="13" name="Concept arrow 1" descr="next step">    </p:cNvPr>
          <p:cNvPicPr>
            <a:picLocks noChangeAspect="1"/>
          </p:cNvPicPr>
          <p:nvPr/>
        </p:nvPicPr>
        <p:blipFill>
          <a:blip r:embed="rId3"/>
          <a:stretch>
            <a:fillRect/>
          </a:stretch>
        </p:blipFill>
        <p:spPr>
          <a:xfrm>
            <a:off x="3993642" y="5170932"/>
            <a:ext cx="310896" cy="310896"/>
          </a:xfrm>
          <a:prstGeom prst="rect">
            <a:avLst/>
          </a:prstGeom>
        </p:spPr>
      </p:pic>
      <p:sp>
        <p:nvSpPr>
          <p:cNvPr id="14" name="Concept card 2"/>
          <p:cNvSpPr/>
          <p:nvPr/>
        </p:nvSpPr>
        <p:spPr>
          <a:xfrm>
            <a:off x="4439412" y="4434840"/>
            <a:ext cx="3310128" cy="1783080"/>
          </a:xfrm>
          <a:prstGeom prst="roundRect">
            <a:avLst>
              <a:gd name="adj" fmla="val 5128"/>
            </a:avLst>
          </a:prstGeom>
          <a:solidFill>
            <a:schemeClr val="bg1">
              <a:alpha val="9000"/>
            </a:schemeClr>
          </a:solidFill>
          <a:ln/>
        </p:spPr>
      </p:sp>
      <p:sp>
        <p:nvSpPr>
          <p:cNvPr id="15" name="Concept icon 2"/>
          <p:cNvSpPr/>
          <p:nvPr/>
        </p:nvSpPr>
        <p:spPr>
          <a:xfrm>
            <a:off x="4668012" y="4681728"/>
            <a:ext cx="566928" cy="566928"/>
          </a:xfrm>
          <a:prstGeom prst="ellipse">
            <a:avLst/>
          </a:prstGeom>
          <a:solidFill>
            <a:schemeClr val="accent2"/>
          </a:solidFill>
          <a:ln/>
        </p:spPr>
      </p:sp>
      <p:pic>
        <p:nvPicPr>
          <p:cNvPr id="16" name="Concept icon 2 icon" descr="Concept icon 2">    </p:cNvPr>
          <p:cNvPicPr>
            <a:picLocks noChangeAspect="1"/>
          </p:cNvPicPr>
          <p:nvPr/>
        </p:nvPicPr>
        <p:blipFill>
          <a:blip r:embed="rId4"/>
          <a:stretch>
            <a:fillRect/>
          </a:stretch>
        </p:blipFill>
        <p:spPr>
          <a:xfrm>
            <a:off x="4787067" y="4800783"/>
            <a:ext cx="328818" cy="328818"/>
          </a:xfrm>
          <a:prstGeom prst="rect">
            <a:avLst/>
          </a:prstGeom>
        </p:spPr>
      </p:pic>
      <p:sp>
        <p:nvSpPr>
          <p:cNvPr id="17" name="Concept title 2"/>
          <p:cNvSpPr txBox="1"/>
          <p:nvPr/>
        </p:nvSpPr>
        <p:spPr>
          <a:xfrm>
            <a:off x="5399532" y="4663440"/>
            <a:ext cx="2194560" cy="365760"/>
          </a:xfrm>
          <a:prstGeom prst="rect">
            <a:avLst/>
          </a:prstGeom>
          <a:noFill/>
          <a:ln/>
        </p:spPr>
        <p:txBody>
          <a:bodyPr wrap="square" lIns="0" tIns="0" rIns="0" bIns="0" rtlCol="0" anchor="ctr"/>
          <a:lstStyle/>
          <a:p>
            <a:pPr indent="0" marL="0">
              <a:buNone/>
            </a:pPr>
            <a:r>
              <a:rPr lang="en-US" sz="1700" b="1" dirty="0">
                <a:solidFill>
                  <a:schemeClr val="bg1"/>
                </a:solidFill>
              </a:rPr>
              <a:t>2 · Measure</a:t>
            </a:r>
            <a:endParaRPr lang="en-US" sz="1700" dirty="0"/>
          </a:p>
        </p:txBody>
      </p:sp>
      <p:sp>
        <p:nvSpPr>
          <p:cNvPr id="18" name="Concept text 2"/>
          <p:cNvSpPr txBox="1"/>
          <p:nvPr/>
        </p:nvSpPr>
        <p:spPr>
          <a:xfrm>
            <a:off x="5399532" y="5074920"/>
            <a:ext cx="2167128" cy="1005840"/>
          </a:xfrm>
          <a:prstGeom prst="rect">
            <a:avLst/>
          </a:prstGeom>
          <a:noFill/>
          <a:ln/>
        </p:spPr>
        <p:txBody>
          <a:bodyPr wrap="square" lIns="0" tIns="0" rIns="0" bIns="0" rtlCol="0" anchor="t"/>
          <a:lstStyle/>
          <a:p>
            <a:pPr indent="0" marL="0">
              <a:buNone/>
            </a:pPr>
            <a:r>
              <a:rPr lang="en-US" sz="1200" dirty="0">
                <a:solidFill>
                  <a:schemeClr val="bg2"/>
                </a:solidFill>
              </a:rPr>
              <a:t>A stirred, near-adiabatic Dewar calorimeter turns the inductor’s heat into watts: P = C·ΔT/Δt.</a:t>
            </a:r>
            <a:endParaRPr lang="en-US" sz="1200" dirty="0"/>
          </a:p>
        </p:txBody>
      </p:sp>
      <p:pic>
        <p:nvPicPr>
          <p:cNvPr id="19" name="Concept arrow 2" descr="next step">    </p:cNvPr>
          <p:cNvPicPr>
            <a:picLocks noChangeAspect="1"/>
          </p:cNvPicPr>
          <p:nvPr/>
        </p:nvPicPr>
        <p:blipFill>
          <a:blip r:embed="rId5"/>
          <a:stretch>
            <a:fillRect/>
          </a:stretch>
        </p:blipFill>
        <p:spPr>
          <a:xfrm>
            <a:off x="7884414" y="5170932"/>
            <a:ext cx="310896" cy="310896"/>
          </a:xfrm>
          <a:prstGeom prst="rect">
            <a:avLst/>
          </a:prstGeom>
        </p:spPr>
      </p:pic>
      <p:sp>
        <p:nvSpPr>
          <p:cNvPr id="20" name="Concept card 3"/>
          <p:cNvSpPr/>
          <p:nvPr/>
        </p:nvSpPr>
        <p:spPr>
          <a:xfrm>
            <a:off x="8330184" y="4434840"/>
            <a:ext cx="3310128" cy="1783080"/>
          </a:xfrm>
          <a:prstGeom prst="roundRect">
            <a:avLst>
              <a:gd name="adj" fmla="val 5128"/>
            </a:avLst>
          </a:prstGeom>
          <a:solidFill>
            <a:schemeClr val="bg1">
              <a:alpha val="9000"/>
            </a:schemeClr>
          </a:solidFill>
          <a:ln/>
        </p:spPr>
      </p:sp>
      <p:sp>
        <p:nvSpPr>
          <p:cNvPr id="21" name="Concept icon 3"/>
          <p:cNvSpPr/>
          <p:nvPr/>
        </p:nvSpPr>
        <p:spPr>
          <a:xfrm>
            <a:off x="8558784" y="4681728"/>
            <a:ext cx="566928" cy="566928"/>
          </a:xfrm>
          <a:prstGeom prst="ellipse">
            <a:avLst/>
          </a:prstGeom>
          <a:solidFill>
            <a:schemeClr val="accent4"/>
          </a:solidFill>
          <a:ln/>
        </p:spPr>
      </p:sp>
      <p:pic>
        <p:nvPicPr>
          <p:cNvPr id="22" name="Concept icon 3 icon" descr="Concept icon 3">    </p:cNvPr>
          <p:cNvPicPr>
            <a:picLocks noChangeAspect="1"/>
          </p:cNvPicPr>
          <p:nvPr/>
        </p:nvPicPr>
        <p:blipFill>
          <a:blip r:embed="rId6"/>
          <a:stretch>
            <a:fillRect/>
          </a:stretch>
        </p:blipFill>
        <p:spPr>
          <a:xfrm>
            <a:off x="8677839" y="4800783"/>
            <a:ext cx="328818" cy="328818"/>
          </a:xfrm>
          <a:prstGeom prst="rect">
            <a:avLst/>
          </a:prstGeom>
        </p:spPr>
      </p:pic>
      <p:sp>
        <p:nvSpPr>
          <p:cNvPr id="23" name="Concept title 3"/>
          <p:cNvSpPr txBox="1"/>
          <p:nvPr/>
        </p:nvSpPr>
        <p:spPr>
          <a:xfrm>
            <a:off x="9290304" y="4663440"/>
            <a:ext cx="2194560" cy="365760"/>
          </a:xfrm>
          <a:prstGeom prst="rect">
            <a:avLst/>
          </a:prstGeom>
          <a:noFill/>
          <a:ln/>
        </p:spPr>
        <p:txBody>
          <a:bodyPr wrap="square" lIns="0" tIns="0" rIns="0" bIns="0" rtlCol="0" anchor="ctr"/>
          <a:lstStyle/>
          <a:p>
            <a:pPr indent="0" marL="0">
              <a:buNone/>
            </a:pPr>
            <a:r>
              <a:rPr lang="en-US" sz="1700" b="1" dirty="0">
                <a:solidFill>
                  <a:schemeClr val="bg1"/>
                </a:solidFill>
              </a:rPr>
              <a:t>3 · Compare</a:t>
            </a:r>
            <a:endParaRPr lang="en-US" sz="1700" dirty="0"/>
          </a:p>
        </p:txBody>
      </p:sp>
      <p:sp>
        <p:nvSpPr>
          <p:cNvPr id="24" name="Concept text 3"/>
          <p:cNvSpPr txBox="1"/>
          <p:nvPr/>
        </p:nvSpPr>
        <p:spPr>
          <a:xfrm>
            <a:off x="9290304" y="5074920"/>
            <a:ext cx="2167128" cy="1005840"/>
          </a:xfrm>
          <a:prstGeom prst="rect">
            <a:avLst/>
          </a:prstGeom>
          <a:noFill/>
          <a:ln/>
        </p:spPr>
        <p:txBody>
          <a:bodyPr wrap="square" lIns="0" tIns="0" rIns="0" bIns="0" rtlCol="0" anchor="t"/>
          <a:lstStyle/>
          <a:p>
            <a:pPr indent="0" marL="0">
              <a:buNone/>
            </a:pPr>
            <a:r>
              <a:rPr lang="en-US" sz="1200" dirty="0">
                <a:solidFill>
                  <a:schemeClr val="bg2"/>
                </a:solidFill>
              </a:rPr>
              <a:t>Buck converter, RM14LP, 400 kHz: litz-wire loss predicted within ≈ 1 %, solid wire ≈ 8 % too low.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000" b="1" dirty="0">
                <a:solidFill>
                  <a:schemeClr val="tx2"/>
                </a:solidFill>
              </a:rPr>
              <a:t>The automated simulation workflow</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500" dirty="0">
                <a:solidFill>
                  <a:schemeClr val="accent1"/>
                </a:solidFill>
              </a:rPr>
              <a:t>One Python-scripted chain from circuit waveform to switch and component losses</a:t>
            </a:r>
            <a:endParaRPr lang="en-US" sz="1500" dirty="0"/>
          </a:p>
        </p:txBody>
      </p:sp>
      <p:sp>
        <p:nvSpPr>
          <p:cNvPr id="4" name="Workflow connector 1"/>
          <p:cNvSpPr/>
          <p:nvPr/>
        </p:nvSpPr>
        <p:spPr>
          <a:xfrm>
            <a:off x="777240" y="2011680"/>
            <a:ext cx="0" cy="484632"/>
          </a:xfrm>
          <a:prstGeom prst="line">
            <a:avLst/>
          </a:prstGeom>
          <a:noFill/>
          <a:ln w="19050">
            <a:solidFill>
              <a:schemeClr val="accent1">
                <a:alpha val="45000"/>
              </a:schemeClr>
            </a:solidFill>
            <a:prstDash val="solid"/>
          </a:ln>
        </p:spPr>
      </p:sp>
      <p:sp>
        <p:nvSpPr>
          <p:cNvPr id="5" name="Workflow step 1"/>
          <p:cNvSpPr/>
          <p:nvPr/>
        </p:nvSpPr>
        <p:spPr>
          <a:xfrm>
            <a:off x="548640" y="1554480"/>
            <a:ext cx="457200" cy="457200"/>
          </a:xfrm>
          <a:prstGeom prst="ellipse">
            <a:avLst/>
          </a:prstGeom>
          <a:solidFill>
            <a:schemeClr val="accent1"/>
          </a:solidFill>
          <a:ln/>
        </p:spPr>
      </p:sp>
      <p:sp>
        <p:nvSpPr>
          <p:cNvPr id="6" name="Workflow step 1 number"/>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Workflow title 1"/>
          <p:cNvSpPr txBox="1"/>
          <p:nvPr/>
        </p:nvSpPr>
        <p:spPr>
          <a:xfrm>
            <a:off x="1188720" y="1536192"/>
            <a:ext cx="5394960" cy="329184"/>
          </a:xfrm>
          <a:prstGeom prst="rect">
            <a:avLst/>
          </a:prstGeom>
          <a:noFill/>
          <a:ln/>
        </p:spPr>
        <p:txBody>
          <a:bodyPr wrap="square" lIns="0" tIns="0" rIns="0" bIns="0" rtlCol="0" anchor="ctr"/>
          <a:lstStyle/>
          <a:p>
            <a:pPr indent="0" marL="0">
              <a:buNone/>
            </a:pPr>
            <a:r>
              <a:rPr lang="en-US" sz="1500" b="1" dirty="0">
                <a:solidFill>
                  <a:schemeClr val="tx2"/>
                </a:solidFill>
              </a:rPr>
              <a:t>Circuit model</a:t>
            </a:r>
            <a:pPr indent="0" marL="0">
              <a:buNone/>
            </a:pPr>
            <a:r>
              <a:rPr lang="en-US" sz="1150" b="1" dirty="0">
                <a:solidFill>
                  <a:schemeClr val="accent2"/>
                </a:solidFill>
              </a:rPr>
              <a:t>   PLECS</a:t>
            </a:r>
            <a:endParaRPr lang="en-US" sz="1500" dirty="0"/>
          </a:p>
        </p:txBody>
      </p:sp>
      <p:sp>
        <p:nvSpPr>
          <p:cNvPr id="8" name="Workflow text 1"/>
          <p:cNvSpPr txBox="1"/>
          <p:nvPr/>
        </p:nvSpPr>
        <p:spPr>
          <a:xfrm>
            <a:off x="1188720" y="1883664"/>
            <a:ext cx="5394960" cy="548640"/>
          </a:xfrm>
          <a:prstGeom prst="rect">
            <a:avLst/>
          </a:prstGeom>
          <a:noFill/>
          <a:ln/>
        </p:spPr>
        <p:txBody>
          <a:bodyPr wrap="square" lIns="0" tIns="0" rIns="0" bIns="0" rtlCol="0" anchor="t"/>
          <a:lstStyle/>
          <a:p>
            <a:pPr indent="0" marL="0">
              <a:buNone/>
            </a:pPr>
            <a:r>
              <a:rPr lang="en-US" sz="1250" dirty="0">
                <a:solidFill>
                  <a:schemeClr val="tx1"/>
                </a:solidFill>
              </a:rPr>
              <a:t>The converter is drawn in PLECS and run at its operating point (case study: buck converter, 400 kHz, ≈ 880 W).</a:t>
            </a:r>
            <a:endParaRPr lang="en-US" sz="1250" dirty="0"/>
          </a:p>
        </p:txBody>
      </p:sp>
      <p:sp>
        <p:nvSpPr>
          <p:cNvPr id="9" name="Workflow connector 2"/>
          <p:cNvSpPr/>
          <p:nvPr/>
        </p:nvSpPr>
        <p:spPr>
          <a:xfrm>
            <a:off x="777240" y="2953512"/>
            <a:ext cx="0" cy="484632"/>
          </a:xfrm>
          <a:prstGeom prst="line">
            <a:avLst/>
          </a:prstGeom>
          <a:noFill/>
          <a:ln w="19050">
            <a:solidFill>
              <a:schemeClr val="accent1">
                <a:alpha val="45000"/>
              </a:schemeClr>
            </a:solidFill>
            <a:prstDash val="solid"/>
          </a:ln>
        </p:spPr>
      </p:sp>
      <p:sp>
        <p:nvSpPr>
          <p:cNvPr id="10" name="Workflow step 2"/>
          <p:cNvSpPr/>
          <p:nvPr/>
        </p:nvSpPr>
        <p:spPr>
          <a:xfrm>
            <a:off x="548640" y="2496312"/>
            <a:ext cx="457200" cy="457200"/>
          </a:xfrm>
          <a:prstGeom prst="ellipse">
            <a:avLst/>
          </a:prstGeom>
          <a:solidFill>
            <a:schemeClr val="accent1"/>
          </a:solidFill>
          <a:ln/>
        </p:spPr>
      </p:sp>
      <p:sp>
        <p:nvSpPr>
          <p:cNvPr id="11" name="Workflow step 2 number"/>
          <p:cNvSpPr txBox="1"/>
          <p:nvPr/>
        </p:nvSpPr>
        <p:spPr>
          <a:xfrm>
            <a:off x="548640" y="24963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Workflow title 2"/>
          <p:cNvSpPr txBox="1"/>
          <p:nvPr/>
        </p:nvSpPr>
        <p:spPr>
          <a:xfrm>
            <a:off x="1188720" y="2478024"/>
            <a:ext cx="5394960" cy="329184"/>
          </a:xfrm>
          <a:prstGeom prst="rect">
            <a:avLst/>
          </a:prstGeom>
          <a:noFill/>
          <a:ln/>
        </p:spPr>
        <p:txBody>
          <a:bodyPr wrap="square" lIns="0" tIns="0" rIns="0" bIns="0" rtlCol="0" anchor="ctr"/>
          <a:lstStyle/>
          <a:p>
            <a:pPr indent="0" marL="0">
              <a:buNone/>
            </a:pPr>
            <a:r>
              <a:rPr lang="en-US" sz="1500" b="1" dirty="0">
                <a:solidFill>
                  <a:schemeClr val="tx2"/>
                </a:solidFill>
              </a:rPr>
              <a:t>Switch losses</a:t>
            </a:r>
            <a:pPr indent="0" marL="0">
              <a:buNone/>
            </a:pPr>
            <a:r>
              <a:rPr lang="en-US" sz="1150" b="1" dirty="0">
                <a:solidFill>
                  <a:schemeClr val="accent2"/>
                </a:solidFill>
              </a:rPr>
              <a:t>   Infineon SPICE</a:t>
            </a:r>
            <a:endParaRPr lang="en-US" sz="1500" dirty="0"/>
          </a:p>
        </p:txBody>
      </p:sp>
      <p:sp>
        <p:nvSpPr>
          <p:cNvPr id="13" name="Workflow text 2"/>
          <p:cNvSpPr txBox="1"/>
          <p:nvPr/>
        </p:nvSpPr>
        <p:spPr>
          <a:xfrm>
            <a:off x="1188720" y="2825496"/>
            <a:ext cx="5394960" cy="548640"/>
          </a:xfrm>
          <a:prstGeom prst="rect">
            <a:avLst/>
          </a:prstGeom>
          <a:noFill/>
          <a:ln/>
        </p:spPr>
        <p:txBody>
          <a:bodyPr wrap="square" lIns="0" tIns="0" rIns="0" bIns="0" rtlCol="0" anchor="t"/>
          <a:lstStyle/>
          <a:p>
            <a:pPr indent="0" marL="0">
              <a:buNone/>
            </a:pPr>
            <a:r>
              <a:rPr lang="en-US" sz="1250" dirty="0">
                <a:solidFill>
                  <a:schemeClr val="tx1"/>
                </a:solidFill>
              </a:rPr>
              <a:t>Conduction and switching losses from Infineon device models in a SPICE solver: ≈ 6.8 W per switch.</a:t>
            </a:r>
            <a:endParaRPr lang="en-US" sz="1250" dirty="0"/>
          </a:p>
        </p:txBody>
      </p:sp>
      <p:sp>
        <p:nvSpPr>
          <p:cNvPr id="14" name="Workflow connector 3"/>
          <p:cNvSpPr/>
          <p:nvPr/>
        </p:nvSpPr>
        <p:spPr>
          <a:xfrm>
            <a:off x="777240" y="3895344"/>
            <a:ext cx="0" cy="484632"/>
          </a:xfrm>
          <a:prstGeom prst="line">
            <a:avLst/>
          </a:prstGeom>
          <a:noFill/>
          <a:ln w="19050">
            <a:solidFill>
              <a:schemeClr val="accent1">
                <a:alpha val="45000"/>
              </a:schemeClr>
            </a:solidFill>
            <a:prstDash val="solid"/>
          </a:ln>
        </p:spPr>
      </p:sp>
      <p:sp>
        <p:nvSpPr>
          <p:cNvPr id="15" name="Workflow step 3"/>
          <p:cNvSpPr/>
          <p:nvPr/>
        </p:nvSpPr>
        <p:spPr>
          <a:xfrm>
            <a:off x="548640" y="3438144"/>
            <a:ext cx="457200" cy="457200"/>
          </a:xfrm>
          <a:prstGeom prst="ellipse">
            <a:avLst/>
          </a:prstGeom>
          <a:solidFill>
            <a:schemeClr val="accent1"/>
          </a:solidFill>
          <a:ln/>
        </p:spPr>
      </p:sp>
      <p:sp>
        <p:nvSpPr>
          <p:cNvPr id="16" name="Workflow step 3 number"/>
          <p:cNvSpPr txBox="1"/>
          <p:nvPr/>
        </p:nvSpPr>
        <p:spPr>
          <a:xfrm>
            <a:off x="548640" y="34381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Workflow title 3"/>
          <p:cNvSpPr txBox="1"/>
          <p:nvPr/>
        </p:nvSpPr>
        <p:spPr>
          <a:xfrm>
            <a:off x="1188720" y="3419856"/>
            <a:ext cx="5394960" cy="329184"/>
          </a:xfrm>
          <a:prstGeom prst="rect">
            <a:avLst/>
          </a:prstGeom>
          <a:noFill/>
          <a:ln/>
        </p:spPr>
        <p:txBody>
          <a:bodyPr wrap="square" lIns="0" tIns="0" rIns="0" bIns="0" rtlCol="0" anchor="ctr"/>
          <a:lstStyle/>
          <a:p>
            <a:pPr indent="0" marL="0">
              <a:buNone/>
            </a:pPr>
            <a:r>
              <a:rPr lang="en-US" sz="1500" b="1" dirty="0">
                <a:solidFill>
                  <a:schemeClr val="tx2"/>
                </a:solidFill>
              </a:rPr>
              <a:t>Waveform → spectrum</a:t>
            </a:r>
            <a:pPr indent="0" marL="0">
              <a:buNone/>
            </a:pPr>
            <a:r>
              <a:rPr lang="en-US" sz="1150" b="1" dirty="0">
                <a:solidFill>
                  <a:schemeClr val="accent2"/>
                </a:solidFill>
              </a:rPr>
              <a:t>   Python · FFT</a:t>
            </a:r>
            <a:endParaRPr lang="en-US" sz="1500" dirty="0"/>
          </a:p>
        </p:txBody>
      </p:sp>
      <p:sp>
        <p:nvSpPr>
          <p:cNvPr id="18" name="Workflow text 3"/>
          <p:cNvSpPr txBox="1"/>
          <p:nvPr/>
        </p:nvSpPr>
        <p:spPr>
          <a:xfrm>
            <a:off x="1188720" y="3767328"/>
            <a:ext cx="5394960" cy="548640"/>
          </a:xfrm>
          <a:prstGeom prst="rect">
            <a:avLst/>
          </a:prstGeom>
          <a:noFill/>
          <a:ln/>
        </p:spPr>
        <p:txBody>
          <a:bodyPr wrap="square" lIns="0" tIns="0" rIns="0" bIns="0" rtlCol="0" anchor="t"/>
          <a:lstStyle/>
          <a:p>
            <a:pPr indent="0" marL="0">
              <a:buNone/>
            </a:pPr>
            <a:r>
              <a:rPr lang="en-US" sz="1250" dirty="0">
                <a:solidFill>
                  <a:schemeClr val="tx1"/>
                </a:solidFill>
              </a:rPr>
              <a:t>The inductor current is exported and Fourier-analysed; only the 10 most dominant frequency components are kept.</a:t>
            </a:r>
            <a:endParaRPr lang="en-US" sz="1250" dirty="0"/>
          </a:p>
        </p:txBody>
      </p:sp>
      <p:sp>
        <p:nvSpPr>
          <p:cNvPr id="19" name="Workflow connector 4"/>
          <p:cNvSpPr/>
          <p:nvPr/>
        </p:nvSpPr>
        <p:spPr>
          <a:xfrm>
            <a:off x="777240" y="4837176"/>
            <a:ext cx="0" cy="484632"/>
          </a:xfrm>
          <a:prstGeom prst="line">
            <a:avLst/>
          </a:prstGeom>
          <a:noFill/>
          <a:ln w="19050">
            <a:solidFill>
              <a:schemeClr val="accent1">
                <a:alpha val="45000"/>
              </a:schemeClr>
            </a:solidFill>
            <a:prstDash val="solid"/>
          </a:ln>
        </p:spPr>
      </p:sp>
      <p:sp>
        <p:nvSpPr>
          <p:cNvPr id="20" name="Workflow step 4"/>
          <p:cNvSpPr/>
          <p:nvPr/>
        </p:nvSpPr>
        <p:spPr>
          <a:xfrm>
            <a:off x="548640" y="4379976"/>
            <a:ext cx="457200" cy="457200"/>
          </a:xfrm>
          <a:prstGeom prst="ellipse">
            <a:avLst/>
          </a:prstGeom>
          <a:solidFill>
            <a:schemeClr val="accent1"/>
          </a:solidFill>
          <a:ln/>
        </p:spPr>
      </p:sp>
      <p:sp>
        <p:nvSpPr>
          <p:cNvPr id="21" name="Workflow step 4 number"/>
          <p:cNvSpPr txBox="1"/>
          <p:nvPr/>
        </p:nvSpPr>
        <p:spPr>
          <a:xfrm>
            <a:off x="548640" y="43799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Workflow title 4"/>
          <p:cNvSpPr txBox="1"/>
          <p:nvPr/>
        </p:nvSpPr>
        <p:spPr>
          <a:xfrm>
            <a:off x="1188720" y="4361688"/>
            <a:ext cx="5394960" cy="329184"/>
          </a:xfrm>
          <a:prstGeom prst="rect">
            <a:avLst/>
          </a:prstGeom>
          <a:noFill/>
          <a:ln/>
        </p:spPr>
        <p:txBody>
          <a:bodyPr wrap="square" lIns="0" tIns="0" rIns="0" bIns="0" rtlCol="0" anchor="ctr"/>
          <a:lstStyle/>
          <a:p>
            <a:pPr indent="0" marL="0">
              <a:buNone/>
            </a:pPr>
            <a:r>
              <a:rPr lang="en-US" sz="1500" b="1" dirty="0">
                <a:solidFill>
                  <a:schemeClr val="tx2"/>
                </a:solidFill>
              </a:rPr>
              <a:t>Magnetic FEM</a:t>
            </a:r>
            <a:pPr indent="0" marL="0">
              <a:buNone/>
            </a:pPr>
            <a:r>
              <a:rPr lang="en-US" sz="1150" b="1" dirty="0">
                <a:solidFill>
                  <a:schemeClr val="accent2"/>
                </a:solidFill>
              </a:rPr>
              <a:t>   Ansys Maxwell 2D</a:t>
            </a:r>
            <a:endParaRPr lang="en-US" sz="1500" dirty="0"/>
          </a:p>
        </p:txBody>
      </p:sp>
      <p:sp>
        <p:nvSpPr>
          <p:cNvPr id="23" name="Workflow text 4"/>
          <p:cNvSpPr txBox="1"/>
          <p:nvPr/>
        </p:nvSpPr>
        <p:spPr>
          <a:xfrm>
            <a:off x="1188720" y="4709160"/>
            <a:ext cx="5394960" cy="548640"/>
          </a:xfrm>
          <a:prstGeom prst="rect">
            <a:avLst/>
          </a:prstGeom>
          <a:noFill/>
          <a:ln/>
        </p:spPr>
        <p:txBody>
          <a:bodyPr wrap="square" lIns="0" tIns="0" rIns="0" bIns="0" rtlCol="0" anchor="t"/>
          <a:lstStyle/>
          <a:p>
            <a:pPr indent="0" marL="0">
              <a:buNone/>
            </a:pPr>
            <a:r>
              <a:rPr lang="en-US" sz="1250" dirty="0">
                <a:solidFill>
                  <a:schemeClr val="tx1"/>
                </a:solidFill>
              </a:rPr>
              <a:t>The components drive the 2D model as parallel current sources; core, air gaps, insulation, layer stack and wire (solid / litz) are set.</a:t>
            </a:r>
            <a:endParaRPr lang="en-US" sz="1250" dirty="0"/>
          </a:p>
        </p:txBody>
      </p:sp>
      <p:sp>
        <p:nvSpPr>
          <p:cNvPr id="24" name="Workflow step 5"/>
          <p:cNvSpPr/>
          <p:nvPr/>
        </p:nvSpPr>
        <p:spPr>
          <a:xfrm>
            <a:off x="548640" y="5321808"/>
            <a:ext cx="457200" cy="457200"/>
          </a:xfrm>
          <a:prstGeom prst="ellipse">
            <a:avLst/>
          </a:prstGeom>
          <a:solidFill>
            <a:schemeClr val="accent1"/>
          </a:solidFill>
          <a:ln/>
        </p:spPr>
      </p:sp>
      <p:sp>
        <p:nvSpPr>
          <p:cNvPr id="25" name="Workflow step 5 number"/>
          <p:cNvSpPr txBox="1"/>
          <p:nvPr/>
        </p:nvSpPr>
        <p:spPr>
          <a:xfrm>
            <a:off x="548640" y="53218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Workflow title 5"/>
          <p:cNvSpPr txBox="1"/>
          <p:nvPr/>
        </p:nvSpPr>
        <p:spPr>
          <a:xfrm>
            <a:off x="1188720" y="5303520"/>
            <a:ext cx="5394960" cy="329184"/>
          </a:xfrm>
          <a:prstGeom prst="rect">
            <a:avLst/>
          </a:prstGeom>
          <a:noFill/>
          <a:ln/>
        </p:spPr>
        <p:txBody>
          <a:bodyPr wrap="square" lIns="0" tIns="0" rIns="0" bIns="0" rtlCol="0" anchor="ctr"/>
          <a:lstStyle/>
          <a:p>
            <a:pPr indent="0" marL="0">
              <a:buNone/>
            </a:pPr>
            <a:r>
              <a:rPr lang="en-US" sz="1500" b="1" dirty="0">
                <a:solidFill>
                  <a:schemeClr val="tx2"/>
                </a:solidFill>
              </a:rPr>
              <a:t>Loss summary</a:t>
            </a:r>
            <a:pPr indent="0" marL="0">
              <a:buNone/>
            </a:pPr>
            <a:r>
              <a:rPr lang="en-US" sz="1150" b="1" dirty="0">
                <a:solidFill>
                  <a:schemeClr val="accent2"/>
                </a:solidFill>
              </a:rPr>
              <a:t>   Python</a:t>
            </a:r>
            <a:endParaRPr lang="en-US" sz="1500" dirty="0"/>
          </a:p>
        </p:txBody>
      </p:sp>
      <p:sp>
        <p:nvSpPr>
          <p:cNvPr id="27" name="Workflow text 5"/>
          <p:cNvSpPr txBox="1"/>
          <p:nvPr/>
        </p:nvSpPr>
        <p:spPr>
          <a:xfrm>
            <a:off x="1188720" y="5650992"/>
            <a:ext cx="5394960" cy="548640"/>
          </a:xfrm>
          <a:prstGeom prst="rect">
            <a:avLst/>
          </a:prstGeom>
          <a:noFill/>
          <a:ln/>
        </p:spPr>
        <p:txBody>
          <a:bodyPr wrap="square" lIns="0" tIns="0" rIns="0" bIns="0" rtlCol="0" anchor="t"/>
          <a:lstStyle/>
          <a:p>
            <a:pPr indent="0" marL="0">
              <a:buNone/>
            </a:pPr>
            <a:r>
              <a:rPr lang="en-US" sz="1250" dirty="0">
                <a:solidFill>
                  <a:schemeClr val="tx1"/>
                </a:solidFill>
              </a:rPr>
              <a:t>Core and winding losses are summed over all components:</a:t>
            </a:r>
            <a:endParaRPr lang="en-US" sz="1250" dirty="0"/>
          </a:p>
          <a:p>
            <a:pPr indent="0" marL="0">
              <a:buNone/>
            </a:pPr>
            <a:r>
              <a:rPr lang="en-US" sz="1250" dirty="0">
                <a:solidFill>
                  <a:schemeClr val="tx1"/>
                </a:solidFill>
              </a:rPr>
              <a:t>P</a:t>
            </a:r>
            <a:pPr indent="0" marL="0">
              <a:buNone/>
            </a:pPr>
            <a:r>
              <a:rPr lang="en-US" sz="1250" baseline="-40000" dirty="0">
                <a:solidFill>
                  <a:schemeClr val="tx1"/>
                </a:solidFill>
              </a:rPr>
              <a:t>w</a:t>
            </a:r>
            <a:pPr indent="0" marL="0">
              <a:buNone/>
            </a:pPr>
            <a:r>
              <a:rPr lang="en-US" sz="1250" dirty="0">
                <a:solidFill>
                  <a:schemeClr val="tx1"/>
                </a:solidFill>
              </a:rPr>
              <a:t> = Σ I</a:t>
            </a:r>
            <a:pPr indent="0" marL="0">
              <a:buNone/>
            </a:pPr>
            <a:r>
              <a:rPr lang="en-US" sz="1250" baseline="-40000" dirty="0">
                <a:solidFill>
                  <a:schemeClr val="tx1"/>
                </a:solidFill>
              </a:rPr>
              <a:t>n</a:t>
            </a:r>
            <a:pPr indent="0" marL="0">
              <a:buNone/>
            </a:pPr>
            <a:r>
              <a:rPr lang="en-US" sz="1250" dirty="0">
                <a:solidFill>
                  <a:schemeClr val="tx1"/>
                </a:solidFill>
              </a:rPr>
              <a:t>² · R</a:t>
            </a:r>
            <a:pPr indent="0" marL="0">
              <a:buNone/>
            </a:pPr>
            <a:r>
              <a:rPr lang="en-US" sz="1250" baseline="-40000" dirty="0">
                <a:solidFill>
                  <a:schemeClr val="tx1"/>
                </a:solidFill>
              </a:rPr>
              <a:t>ac</a:t>
            </a:r>
            <a:pPr indent="0" marL="0">
              <a:buNone/>
            </a:pPr>
            <a:r>
              <a:rPr lang="en-US" sz="1250" dirty="0">
                <a:solidFill>
                  <a:schemeClr val="tx1"/>
                </a:solidFill>
              </a:rPr>
              <a:t>(f</a:t>
            </a:r>
            <a:pPr indent="0" marL="0">
              <a:buNone/>
            </a:pPr>
            <a:r>
              <a:rPr lang="en-US" sz="1250" baseline="-40000" dirty="0">
                <a:solidFill>
                  <a:schemeClr val="tx1"/>
                </a:solidFill>
              </a:rPr>
              <a:t>n</a:t>
            </a:r>
            <a:pPr indent="0" marL="0">
              <a:buNone/>
            </a:pPr>
            <a:r>
              <a:rPr lang="en-US" sz="1250" dirty="0">
                <a:solidFill>
                  <a:schemeClr val="tx1"/>
                </a:solidFill>
              </a:rPr>
              <a:t>)   with R</a:t>
            </a:r>
            <a:pPr indent="0" marL="0">
              <a:buNone/>
            </a:pPr>
            <a:r>
              <a:rPr lang="en-US" sz="1250" baseline="-40000" dirty="0">
                <a:solidFill>
                  <a:schemeClr val="tx1"/>
                </a:solidFill>
              </a:rPr>
              <a:t>ac</a:t>
            </a:r>
            <a:pPr indent="0" marL="0">
              <a:buNone/>
            </a:pPr>
            <a:r>
              <a:rPr lang="en-US" sz="1250" dirty="0">
                <a:solidFill>
                  <a:schemeClr val="tx1"/>
                </a:solidFill>
              </a:rPr>
              <a:t> from skin + proximity effect</a:t>
            </a:r>
            <a:endParaRPr lang="en-US" sz="1250" dirty="0"/>
          </a:p>
        </p:txBody>
      </p:sp>
      <p:sp>
        <p:nvSpPr>
          <p:cNvPr id="28" name="Harmonics card"/>
          <p:cNvSpPr/>
          <p:nvPr/>
        </p:nvSpPr>
        <p:spPr>
          <a:xfrm>
            <a:off x="6903720" y="1554480"/>
            <a:ext cx="4736592" cy="3127248"/>
          </a:xfrm>
          <a:prstGeom prst="roundRect">
            <a:avLst>
              <a:gd name="adj" fmla="val 2924"/>
            </a:avLst>
          </a:prstGeom>
          <a:solidFill>
            <a:schemeClr val="bg2"/>
          </a:solidFill>
          <a:ln/>
        </p:spPr>
      </p:sp>
      <p:sp>
        <p:nvSpPr>
          <p:cNvPr id="29" name="Harmonics title"/>
          <p:cNvSpPr txBox="1"/>
          <p:nvPr/>
        </p:nvSpPr>
        <p:spPr>
          <a:xfrm>
            <a:off x="7132320" y="1645920"/>
            <a:ext cx="4279392" cy="292608"/>
          </a:xfrm>
          <a:prstGeom prst="rect">
            <a:avLst/>
          </a:prstGeom>
          <a:noFill/>
          <a:ln/>
        </p:spPr>
        <p:txBody>
          <a:bodyPr wrap="square" lIns="0" tIns="0" rIns="0" bIns="0" rtlCol="0" anchor="ctr"/>
          <a:lstStyle/>
          <a:p>
            <a:pPr indent="0" marL="0">
              <a:buNone/>
            </a:pPr>
            <a:r>
              <a:rPr lang="en-US" sz="1400" b="1" dirty="0">
                <a:solidFill>
                  <a:schemeClr val="tx2"/>
                </a:solidFill>
              </a:rPr>
              <a:t>Why ~10 frequency components are enough</a:t>
            </a:r>
            <a:endParaRPr lang="en-US" sz="1400" dirty="0"/>
          </a:p>
        </p:txBody>
      </p:sp>
      <p:sp>
        <p:nvSpPr>
          <p:cNvPr id="30" name="Harmonics subtitle"/>
          <p:cNvSpPr txBox="1"/>
          <p:nvPr/>
        </p:nvSpPr>
        <p:spPr>
          <a:xfrm>
            <a:off x="7132320" y="1938528"/>
            <a:ext cx="4279392" cy="256032"/>
          </a:xfrm>
          <a:prstGeom prst="rect">
            <a:avLst/>
          </a:prstGeom>
          <a:noFill/>
          <a:ln/>
        </p:spPr>
        <p:txBody>
          <a:bodyPr wrap="square" lIns="0" tIns="0" rIns="0" bIns="0" rtlCol="0" anchor="ctr"/>
          <a:lstStyle/>
          <a:p>
            <a:pPr indent="0" marL="0">
              <a:buNone/>
            </a:pPr>
            <a:r>
              <a:rPr lang="en-US" sz="1100" dirty="0">
                <a:solidFill>
                  <a:schemeClr val="accent3"/>
                </a:solidFill>
              </a:rPr>
              <a:t>Share of the ripple-related winding loss captured by the first N harmonics</a:t>
            </a:r>
            <a:endParaRPr lang="en-US" sz="1100" dirty="0"/>
          </a:p>
        </p:txBody>
      </p:sp>
      <p:graphicFrame>
        <p:nvGraphicFramePr>
          <p:cNvPr id="31" name="Harmonic share chart" descr="Line chart: share of ripple winding loss captured versus number of harmonics kept. Skin-effect limit reaches 99.9 % at N = 10; proximity-effect limit reaches 98 % at N = 10."/>
          <p:cNvGraphicFramePr/>
          <p:nvPr/>
        </p:nvGraphicFramePr>
        <p:xfrm>
          <a:off x="6995160" y="2176272"/>
          <a:ext cx="4553712" cy="1828800"/>
        </p:xfrm>
        <a:graphic xmlns:a="http://schemas.openxmlformats.org/drawingml/2006/main">
          <a:graphicData uri="http://schemas.openxmlformats.org/drawingml/2006/chart">
            <c:chart xmlns:c="http://schemas.openxmlformats.org/drawingml/2006/chart" r:id="rId1"/>
          </a:graphicData>
        </a:graphic>
      </p:graphicFrame>
      <p:sp>
        <p:nvSpPr>
          <p:cNvPr id="32" name="Harmonics key result"/>
          <p:cNvSpPr txBox="1"/>
          <p:nvPr/>
        </p:nvSpPr>
        <p:spPr>
          <a:xfrm>
            <a:off x="7132320" y="4023360"/>
            <a:ext cx="4279392" cy="256032"/>
          </a:xfrm>
          <a:prstGeom prst="rect">
            <a:avLst/>
          </a:prstGeom>
          <a:noFill/>
          <a:ln/>
        </p:spPr>
        <p:txBody>
          <a:bodyPr wrap="square" lIns="0" tIns="0" rIns="0" bIns="0" rtlCol="0" anchor="ctr"/>
          <a:lstStyle/>
          <a:p>
            <a:pPr indent="0" marL="0">
              <a:buNone/>
            </a:pPr>
            <a:r>
              <a:rPr lang="en-US" sz="1150" b="1" dirty="0">
                <a:solidFill>
                  <a:schemeClr val="accent1"/>
                </a:solidFill>
              </a:rPr>
              <a:t>N = 10 captures ≥ 98 % even in the worst (proximity-dominated) case</a:t>
            </a:r>
            <a:endParaRPr lang="en-US" sz="1150" dirty="0"/>
          </a:p>
        </p:txBody>
      </p:sp>
      <p:sp>
        <p:nvSpPr>
          <p:cNvPr id="33" name="Harmonics footnote"/>
          <p:cNvSpPr txBox="1"/>
          <p:nvPr/>
        </p:nvSpPr>
        <p:spPr>
          <a:xfrm>
            <a:off x="7132320" y="4288536"/>
            <a:ext cx="4279392" cy="329184"/>
          </a:xfrm>
          <a:prstGeom prst="rect">
            <a:avLst/>
          </a:prstGeom>
          <a:noFill/>
          <a:ln/>
        </p:spPr>
        <p:txBody>
          <a:bodyPr wrap="square" lIns="0" tIns="0" rIns="0" bIns="0" rtlCol="0" anchor="t"/>
          <a:lstStyle/>
          <a:p>
            <a:pPr indent="0" marL="0">
              <a:buNone/>
            </a:pPr>
            <a:r>
              <a:rPr lang="en-US" sz="900" dirty="0">
                <a:solidFill>
                  <a:schemeClr val="accent3"/>
                </a:solidFill>
              </a:rPr>
              <a:t>Own illustration, not poster data: symmetric triangular ripple (I</a:t>
            </a:r>
            <a:pPr indent="0" marL="0">
              <a:buNone/>
            </a:pPr>
            <a:r>
              <a:rPr lang="en-US" sz="900" baseline="-40000" dirty="0">
                <a:solidFill>
                  <a:schemeClr val="accent3"/>
                </a:solidFill>
              </a:rPr>
              <a:t>n</a:t>
            </a:r>
            <a:pPr indent="0" marL="0">
              <a:buNone/>
            </a:pPr>
            <a:r>
              <a:rPr lang="en-US" sz="900" dirty="0">
                <a:solidFill>
                  <a:schemeClr val="accent3"/>
                </a:solidFill>
              </a:rPr>
              <a:t> ∝ 1/n², odd n); limits R</a:t>
            </a:r>
            <a:pPr indent="0" marL="0">
              <a:buNone/>
            </a:pPr>
            <a:r>
              <a:rPr lang="en-US" sz="900" baseline="-40000" dirty="0">
                <a:solidFill>
                  <a:schemeClr val="accent3"/>
                </a:solidFill>
              </a:rPr>
              <a:t>ac</a:t>
            </a:r>
            <a:pPr indent="0" marL="0">
              <a:buNone/>
            </a:pPr>
            <a:r>
              <a:rPr lang="en-US" sz="900" dirty="0">
                <a:solidFill>
                  <a:schemeClr val="accent3"/>
                </a:solidFill>
              </a:rPr>
              <a:t> ∝ √f (d ≫ δ) and R</a:t>
            </a:r>
            <a:pPr indent="0" marL="0">
              <a:buNone/>
            </a:pPr>
            <a:r>
              <a:rPr lang="en-US" sz="900" baseline="-40000" dirty="0">
                <a:solidFill>
                  <a:schemeClr val="accent3"/>
                </a:solidFill>
              </a:rPr>
              <a:t>ac</a:t>
            </a:r>
            <a:pPr indent="0" marL="0">
              <a:buNone/>
            </a:pPr>
            <a:r>
              <a:rPr lang="en-US" sz="900" dirty="0">
                <a:solidFill>
                  <a:schemeClr val="accent3"/>
                </a:solidFill>
              </a:rPr>
              <a:t> ∝ f² (d ≪ δ) [9, 10].</a:t>
            </a:r>
            <a:endParaRPr lang="en-US" sz="900" dirty="0"/>
          </a:p>
        </p:txBody>
      </p:sp>
      <p:sp>
        <p:nvSpPr>
          <p:cNvPr id="34" name="Case study card"/>
          <p:cNvSpPr/>
          <p:nvPr/>
        </p:nvSpPr>
        <p:spPr>
          <a:xfrm>
            <a:off x="6903720" y="4846320"/>
            <a:ext cx="4736592" cy="1417320"/>
          </a:xfrm>
          <a:prstGeom prst="roundRect">
            <a:avLst>
              <a:gd name="adj" fmla="val 6452"/>
            </a:avLst>
          </a:prstGeom>
          <a:solidFill>
            <a:schemeClr val="bg2"/>
          </a:solidFill>
          <a:ln/>
        </p:spPr>
      </p:sp>
      <p:sp>
        <p:nvSpPr>
          <p:cNvPr id="35" name="Case study label"/>
          <p:cNvSpPr txBox="1"/>
          <p:nvPr/>
        </p:nvSpPr>
        <p:spPr>
          <a:xfrm>
            <a:off x="7132320" y="4919472"/>
            <a:ext cx="4279392" cy="201168"/>
          </a:xfrm>
          <a:prstGeom prst="rect">
            <a:avLst/>
          </a:prstGeom>
          <a:noFill/>
          <a:ln/>
        </p:spPr>
        <p:txBody>
          <a:bodyPr wrap="square" lIns="0" tIns="0" rIns="0" bIns="0" rtlCol="0" anchor="ctr"/>
          <a:lstStyle/>
          <a:p>
            <a:pPr indent="0" marL="0">
              <a:buNone/>
            </a:pPr>
            <a:r>
              <a:rPr lang="en-US" sz="1000" b="1" spc="200" kern="0" dirty="0">
                <a:solidFill>
                  <a:schemeClr val="accent2"/>
                </a:solidFill>
              </a:rPr>
              <a:t>CASE STUDY</a:t>
            </a:r>
            <a:endParaRPr lang="en-US" sz="1000" dirty="0"/>
          </a:p>
        </p:txBody>
      </p:sp>
      <p:sp>
        <p:nvSpPr>
          <p:cNvPr id="36" name="Case study title"/>
          <p:cNvSpPr txBox="1"/>
          <p:nvPr/>
        </p:nvSpPr>
        <p:spPr>
          <a:xfrm>
            <a:off x="7132320" y="5120640"/>
            <a:ext cx="4279392" cy="274320"/>
          </a:xfrm>
          <a:prstGeom prst="rect">
            <a:avLst/>
          </a:prstGeom>
          <a:noFill/>
          <a:ln/>
        </p:spPr>
        <p:txBody>
          <a:bodyPr wrap="square" lIns="0" tIns="0" rIns="0" bIns="0" rtlCol="0" anchor="ctr"/>
          <a:lstStyle/>
          <a:p>
            <a:pPr indent="0" marL="0">
              <a:buNone/>
            </a:pPr>
            <a:r>
              <a:rPr lang="en-US" sz="1300" b="1" dirty="0">
                <a:solidFill>
                  <a:schemeClr val="tx2"/>
                </a:solidFill>
              </a:rPr>
              <a:t>Buck converter · RM14LP core · 400 kHz · ≈ 880 W</a:t>
            </a:r>
            <a:endParaRPr lang="en-US" sz="1300" dirty="0"/>
          </a:p>
        </p:txBody>
      </p:sp>
      <p:sp>
        <p:nvSpPr>
          <p:cNvPr id="37" name="Case stat 1"/>
          <p:cNvSpPr txBox="1"/>
          <p:nvPr/>
        </p:nvSpPr>
        <p:spPr>
          <a:xfrm>
            <a:off x="7132320" y="5440680"/>
            <a:ext cx="1417320" cy="41148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 6.8 W</a:t>
            </a:r>
            <a:endParaRPr lang="en-US" sz="2200" dirty="0"/>
          </a:p>
        </p:txBody>
      </p:sp>
      <p:sp>
        <p:nvSpPr>
          <p:cNvPr id="38" name="Case label 1"/>
          <p:cNvSpPr txBox="1"/>
          <p:nvPr/>
        </p:nvSpPr>
        <p:spPr>
          <a:xfrm>
            <a:off x="7132320" y="5852160"/>
            <a:ext cx="1417320" cy="365760"/>
          </a:xfrm>
          <a:prstGeom prst="rect">
            <a:avLst/>
          </a:prstGeom>
          <a:noFill/>
          <a:ln/>
        </p:spPr>
        <p:txBody>
          <a:bodyPr wrap="square" lIns="0" tIns="0" rIns="0" bIns="0" rtlCol="0" anchor="t"/>
          <a:lstStyle/>
          <a:p>
            <a:pPr indent="0" marL="0">
              <a:buNone/>
            </a:pPr>
            <a:r>
              <a:rPr lang="en-US" sz="1050" dirty="0">
                <a:solidFill>
                  <a:schemeClr val="accent3"/>
                </a:solidFill>
              </a:rPr>
              <a:t>loss per switch (SPICE)</a:t>
            </a:r>
            <a:endParaRPr lang="en-US" sz="1050" dirty="0"/>
          </a:p>
        </p:txBody>
      </p:sp>
      <p:sp>
        <p:nvSpPr>
          <p:cNvPr id="39" name="Case stat 2"/>
          <p:cNvSpPr txBox="1"/>
          <p:nvPr/>
        </p:nvSpPr>
        <p:spPr>
          <a:xfrm>
            <a:off x="8595360" y="5440680"/>
            <a:ext cx="1417320" cy="41148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6.75 W</a:t>
            </a:r>
            <a:endParaRPr lang="en-US" sz="2200" dirty="0"/>
          </a:p>
        </p:txBody>
      </p:sp>
      <p:sp>
        <p:nvSpPr>
          <p:cNvPr id="40" name="Case label 2"/>
          <p:cNvSpPr txBox="1"/>
          <p:nvPr/>
        </p:nvSpPr>
        <p:spPr>
          <a:xfrm>
            <a:off x="8595360" y="5852160"/>
            <a:ext cx="1417320" cy="365760"/>
          </a:xfrm>
          <a:prstGeom prst="rect">
            <a:avLst/>
          </a:prstGeom>
          <a:noFill/>
          <a:ln/>
        </p:spPr>
        <p:txBody>
          <a:bodyPr wrap="square" lIns="0" tIns="0" rIns="0" bIns="0" rtlCol="0" anchor="t"/>
          <a:lstStyle/>
          <a:p>
            <a:pPr indent="0" marL="0">
              <a:buNone/>
            </a:pPr>
            <a:r>
              <a:rPr lang="en-US" sz="1050" dirty="0">
                <a:solidFill>
                  <a:schemeClr val="accent3"/>
                </a:solidFill>
              </a:rPr>
              <a:t>inductor, solid wire (FEM)</a:t>
            </a:r>
            <a:endParaRPr lang="en-US" sz="1050" dirty="0"/>
          </a:p>
        </p:txBody>
      </p:sp>
      <p:sp>
        <p:nvSpPr>
          <p:cNvPr id="41" name="Case stat 3"/>
          <p:cNvSpPr txBox="1"/>
          <p:nvPr/>
        </p:nvSpPr>
        <p:spPr>
          <a:xfrm>
            <a:off x="10058400" y="5440680"/>
            <a:ext cx="1417320" cy="41148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6.70 W</a:t>
            </a:r>
            <a:endParaRPr lang="en-US" sz="2200" dirty="0"/>
          </a:p>
        </p:txBody>
      </p:sp>
      <p:sp>
        <p:nvSpPr>
          <p:cNvPr id="42" name="Case label 3"/>
          <p:cNvSpPr txBox="1"/>
          <p:nvPr/>
        </p:nvSpPr>
        <p:spPr>
          <a:xfrm>
            <a:off x="10058400" y="5852160"/>
            <a:ext cx="1417320" cy="365760"/>
          </a:xfrm>
          <a:prstGeom prst="rect">
            <a:avLst/>
          </a:prstGeom>
          <a:noFill/>
          <a:ln/>
        </p:spPr>
        <p:txBody>
          <a:bodyPr wrap="square" lIns="0" tIns="0" rIns="0" bIns="0" rtlCol="0" anchor="t"/>
          <a:lstStyle/>
          <a:p>
            <a:pPr indent="0" marL="0">
              <a:buNone/>
            </a:pPr>
            <a:r>
              <a:rPr lang="en-US" sz="1050" dirty="0">
                <a:solidFill>
                  <a:schemeClr val="accent3"/>
                </a:solidFill>
              </a:rPr>
              <a:t>inductor, litz wire (FEM)</a:t>
            </a:r>
            <a:endParaRPr lang="en-US" sz="10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000" b="1" dirty="0">
                <a:solidFill>
                  <a:schemeClr val="tx2"/>
                </a:solidFill>
              </a:rPr>
              <a:t>Measuring loss as heat: near-adiabatic calorimetry</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500" dirty="0">
                <a:solidFill>
                  <a:schemeClr val="accent1"/>
                </a:solidFill>
              </a:rPr>
              <a:t>Every watt dissipated in the DUT heats a stirred liquid; the loss follows from the temperature slope</a:t>
            </a:r>
            <a:endParaRPr lang="en-US" sz="1500" dirty="0"/>
          </a:p>
        </p:txBody>
      </p:sp>
      <p:pic>
        <p:nvPicPr>
          <p:cNvPr id="4" name="Calorimeter schematic" descr="Schematic of the calorimeter: Dewar flask with vacuum jacket and double lid, stirred dielectric liquid, submerged inductor under test, calibration heater, stirrer motor with Arduino, PT100 probes read by a DAQ970A.">    </p:cNvPr>
          <p:cNvPicPr>
            <a:picLocks noChangeAspect="1"/>
          </p:cNvPicPr>
          <p:nvPr/>
        </p:nvPicPr>
        <p:blipFill>
          <a:blip r:embed="rId1"/>
          <a:stretch>
            <a:fillRect/>
          </a:stretch>
        </p:blipFill>
        <p:spPr>
          <a:xfrm>
            <a:off x="548640" y="1463040"/>
            <a:ext cx="4591878" cy="4800600"/>
          </a:xfrm>
          <a:prstGeom prst="rect">
            <a:avLst/>
          </a:prstGeom>
        </p:spPr>
      </p:pic>
      <p:sp>
        <p:nvSpPr>
          <p:cNvPr id="5" name="Energy balance card"/>
          <p:cNvSpPr/>
          <p:nvPr/>
        </p:nvSpPr>
        <p:spPr>
          <a:xfrm>
            <a:off x="5440680" y="1463040"/>
            <a:ext cx="6199632" cy="1371600"/>
          </a:xfrm>
          <a:prstGeom prst="roundRect">
            <a:avLst>
              <a:gd name="adj" fmla="val 6667"/>
            </a:avLst>
          </a:prstGeom>
          <a:solidFill>
            <a:schemeClr val="bg2"/>
          </a:solidFill>
          <a:ln/>
        </p:spPr>
      </p:sp>
      <p:sp>
        <p:nvSpPr>
          <p:cNvPr id="6" name="Energy balance equation"/>
          <p:cNvSpPr txBox="1"/>
          <p:nvPr/>
        </p:nvSpPr>
        <p:spPr>
          <a:xfrm>
            <a:off x="5669280" y="1554480"/>
            <a:ext cx="3657600" cy="548640"/>
          </a:xfrm>
          <a:prstGeom prst="rect">
            <a:avLst/>
          </a:prstGeom>
          <a:noFill/>
          <a:ln/>
        </p:spPr>
        <p:txBody>
          <a:bodyPr wrap="square" lIns="0" tIns="0" rIns="0" bIns="0" rtlCol="0" anchor="ctr"/>
          <a:lstStyle/>
          <a:p>
            <a:pPr indent="0" marL="0">
              <a:buNone/>
            </a:pPr>
            <a:r>
              <a:rPr lang="en-US" sz="2600" i="1" dirty="0">
                <a:solidFill>
                  <a:schemeClr val="tx2"/>
                </a:solidFill>
                <a:latin typeface="+mj-lt" pitchFamily="34" charset="0"/>
                <a:ea typeface="+mj-lt" pitchFamily="34" charset="-122"/>
                <a:cs typeface="+mj-lt" pitchFamily="34" charset="-120"/>
              </a:rPr>
              <a:t>P</a:t>
            </a:r>
            <a:pPr indent="0" marL="0">
              <a:buNone/>
            </a:pPr>
            <a:r>
              <a:rPr lang="en-US" sz="2600" baseline="-40000" dirty="0">
                <a:solidFill>
                  <a:schemeClr val="tx2"/>
                </a:solidFill>
                <a:latin typeface="+mj-lt" pitchFamily="34" charset="0"/>
                <a:ea typeface="+mj-lt" pitchFamily="34" charset="-122"/>
                <a:cs typeface="+mj-lt" pitchFamily="34" charset="-120"/>
              </a:rPr>
              <a:t>loss</a:t>
            </a:r>
            <a:pPr indent="0" marL="0">
              <a:buNone/>
            </a:pPr>
            <a:r>
              <a:rPr lang="en-US" sz="2600" dirty="0">
                <a:solidFill>
                  <a:schemeClr val="tx2"/>
                </a:solidFill>
                <a:latin typeface="+mj-lt" pitchFamily="34" charset="0"/>
                <a:ea typeface="+mj-lt" pitchFamily="34" charset="-122"/>
                <a:cs typeface="+mj-lt" pitchFamily="34" charset="-120"/>
              </a:rPr>
              <a:t> = C</a:t>
            </a:r>
            <a:pPr indent="0" marL="0">
              <a:buNone/>
            </a:pPr>
            <a:r>
              <a:rPr lang="en-US" sz="2600" baseline="-40000" dirty="0">
                <a:solidFill>
                  <a:schemeClr val="tx2"/>
                </a:solidFill>
                <a:latin typeface="+mj-lt" pitchFamily="34" charset="0"/>
                <a:ea typeface="+mj-lt" pitchFamily="34" charset="-122"/>
                <a:cs typeface="+mj-lt" pitchFamily="34" charset="-120"/>
              </a:rPr>
              <a:t>eq</a:t>
            </a:r>
            <a:pPr indent="0" marL="0">
              <a:buNone/>
            </a:pPr>
            <a:r>
              <a:rPr lang="en-US" sz="2600" dirty="0">
                <a:solidFill>
                  <a:schemeClr val="tx2"/>
                </a:solidFill>
                <a:latin typeface="+mj-lt" pitchFamily="34" charset="0"/>
                <a:ea typeface="+mj-lt" pitchFamily="34" charset="-122"/>
                <a:cs typeface="+mj-lt" pitchFamily="34" charset="-120"/>
              </a:rPr>
              <a:t> · ΔT / Δt</a:t>
            </a:r>
            <a:endParaRPr lang="en-US" sz="2600" dirty="0"/>
          </a:p>
        </p:txBody>
      </p:sp>
      <p:sp>
        <p:nvSpPr>
          <p:cNvPr id="7" name="Energy balance label"/>
          <p:cNvSpPr txBox="1"/>
          <p:nvPr/>
        </p:nvSpPr>
        <p:spPr>
          <a:xfrm>
            <a:off x="9281160" y="1627632"/>
            <a:ext cx="2148840" cy="411480"/>
          </a:xfrm>
          <a:prstGeom prst="rect">
            <a:avLst/>
          </a:prstGeom>
          <a:noFill/>
          <a:ln/>
        </p:spPr>
        <p:txBody>
          <a:bodyPr wrap="square" lIns="0" tIns="0" rIns="0" bIns="0" rtlCol="0" anchor="ctr"/>
          <a:lstStyle/>
          <a:p>
            <a:pPr algn="r" indent="0" marL="0">
              <a:buNone/>
            </a:pPr>
            <a:r>
              <a:rPr lang="en-US" sz="1100" i="1" dirty="0">
                <a:solidFill>
                  <a:schemeClr val="accent3"/>
                </a:solidFill>
              </a:rPr>
              <a:t>energy balance of a closed system</a:t>
            </a:r>
            <a:endParaRPr lang="en-US" sz="1100" dirty="0"/>
          </a:p>
        </p:txBody>
      </p:sp>
      <p:sp>
        <p:nvSpPr>
          <p:cNvPr id="8" name="Energy balance text"/>
          <p:cNvSpPr txBox="1"/>
          <p:nvPr/>
        </p:nvSpPr>
        <p:spPr>
          <a:xfrm>
            <a:off x="5669280" y="2130552"/>
            <a:ext cx="5742432" cy="640080"/>
          </a:xfrm>
          <a:prstGeom prst="rect">
            <a:avLst/>
          </a:prstGeom>
          <a:noFill/>
          <a:ln/>
        </p:spPr>
        <p:txBody>
          <a:bodyPr wrap="square" lIns="0" tIns="0" rIns="0" bIns="0" rtlCol="0" anchor="t"/>
          <a:lstStyle/>
          <a:p>
            <a:pPr indent="0" marL="0">
              <a:buNone/>
            </a:pPr>
            <a:r>
              <a:rPr lang="en-US" sz="1200" dirty="0">
                <a:solidFill>
                  <a:schemeClr val="tx1"/>
                </a:solidFill>
              </a:rPr>
              <a:t>C</a:t>
            </a:r>
            <a:pPr indent="0" marL="0">
              <a:buNone/>
            </a:pPr>
            <a:r>
              <a:rPr lang="en-US" sz="1200" baseline="-40000" dirty="0">
                <a:solidFill>
                  <a:schemeClr val="tx1"/>
                </a:solidFill>
              </a:rPr>
              <a:t>eq</a:t>
            </a:r>
            <a:pPr indent="0" marL="0">
              <a:buNone/>
            </a:pPr>
            <a:r>
              <a:rPr lang="en-US" sz="1200" dirty="0">
                <a:solidFill>
                  <a:schemeClr val="tx1"/>
                </a:solidFill>
              </a:rPr>
              <a:t> is the total heat capacity inside the Dewar (liquid + DUT + enclosure). The relation holds while heat exchange with the ambient is negligible — hence vacuum jacket, double lid and calibration under identical conditions.</a:t>
            </a:r>
            <a:endParaRPr lang="en-US" sz="1200" dirty="0"/>
          </a:p>
        </p:txBody>
      </p:sp>
      <p:sp>
        <p:nvSpPr>
          <p:cNvPr id="9" name="Setup heading"/>
          <p:cNvSpPr txBox="1"/>
          <p:nvPr/>
        </p:nvSpPr>
        <p:spPr>
          <a:xfrm>
            <a:off x="5440680" y="3044952"/>
            <a:ext cx="2926080" cy="320040"/>
          </a:xfrm>
          <a:prstGeom prst="rect">
            <a:avLst/>
          </a:prstGeom>
          <a:noFill/>
          <a:ln/>
        </p:spPr>
        <p:txBody>
          <a:bodyPr wrap="square" lIns="0" tIns="0" rIns="0" bIns="0" rtlCol="0" anchor="ctr"/>
          <a:lstStyle/>
          <a:p>
            <a:pPr indent="0" marL="0">
              <a:buNone/>
            </a:pPr>
            <a:r>
              <a:rPr lang="en-US" sz="1400" b="1" dirty="0">
                <a:solidFill>
                  <a:schemeClr val="tx2"/>
                </a:solidFill>
              </a:rPr>
              <a:t>Set-up</a:t>
            </a:r>
            <a:endParaRPr lang="en-US" sz="1400" dirty="0"/>
          </a:p>
        </p:txBody>
      </p:sp>
      <p:sp>
        <p:nvSpPr>
          <p:cNvPr id="10" name="Setup marker 1"/>
          <p:cNvSpPr/>
          <p:nvPr/>
        </p:nvSpPr>
        <p:spPr>
          <a:xfrm>
            <a:off x="5440680" y="3474720"/>
            <a:ext cx="274320" cy="274320"/>
          </a:xfrm>
          <a:prstGeom prst="ellipse">
            <a:avLst/>
          </a:prstGeom>
          <a:solidFill>
            <a:schemeClr val="tx2"/>
          </a:solidFill>
          <a:ln/>
        </p:spPr>
      </p:sp>
      <p:sp>
        <p:nvSpPr>
          <p:cNvPr id="11" name="Setup marker 1 number"/>
          <p:cNvSpPr txBox="1"/>
          <p:nvPr/>
        </p:nvSpPr>
        <p:spPr>
          <a:xfrm>
            <a:off x="5440680" y="347472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 name="Setup item 1"/>
          <p:cNvSpPr txBox="1"/>
          <p:nvPr/>
        </p:nvSpPr>
        <p:spPr>
          <a:xfrm>
            <a:off x="5824728" y="3474720"/>
            <a:ext cx="2606040" cy="274320"/>
          </a:xfrm>
          <a:prstGeom prst="rect">
            <a:avLst/>
          </a:prstGeom>
          <a:noFill/>
          <a:ln/>
        </p:spPr>
        <p:txBody>
          <a:bodyPr wrap="square" lIns="0" tIns="0" rIns="0" bIns="0" rtlCol="0" anchor="ctr"/>
          <a:lstStyle/>
          <a:p>
            <a:pPr indent="0" marL="0">
              <a:buNone/>
            </a:pPr>
            <a:r>
              <a:rPr lang="en-US" sz="1200" dirty="0">
                <a:solidFill>
                  <a:schemeClr val="tx1"/>
                </a:solidFill>
              </a:rPr>
              <a:t>Dewar flask with vacuum jacket</a:t>
            </a:r>
            <a:endParaRPr lang="en-US" sz="1200" dirty="0"/>
          </a:p>
        </p:txBody>
      </p:sp>
      <p:sp>
        <p:nvSpPr>
          <p:cNvPr id="13" name="Setup marker 2"/>
          <p:cNvSpPr/>
          <p:nvPr/>
        </p:nvSpPr>
        <p:spPr>
          <a:xfrm>
            <a:off x="5440680" y="3867912"/>
            <a:ext cx="274320" cy="274320"/>
          </a:xfrm>
          <a:prstGeom prst="ellipse">
            <a:avLst/>
          </a:prstGeom>
          <a:solidFill>
            <a:schemeClr val="tx2"/>
          </a:solidFill>
          <a:ln/>
        </p:spPr>
      </p:sp>
      <p:sp>
        <p:nvSpPr>
          <p:cNvPr id="14" name="Setup marker 2 number"/>
          <p:cNvSpPr txBox="1"/>
          <p:nvPr/>
        </p:nvSpPr>
        <p:spPr>
          <a:xfrm>
            <a:off x="5440680" y="386791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5" name="Setup item 2"/>
          <p:cNvSpPr txBox="1"/>
          <p:nvPr/>
        </p:nvSpPr>
        <p:spPr>
          <a:xfrm>
            <a:off x="5824728" y="3867912"/>
            <a:ext cx="2606040" cy="274320"/>
          </a:xfrm>
          <a:prstGeom prst="rect">
            <a:avLst/>
          </a:prstGeom>
          <a:noFill/>
          <a:ln/>
        </p:spPr>
        <p:txBody>
          <a:bodyPr wrap="square" lIns="0" tIns="0" rIns="0" bIns="0" rtlCol="0" anchor="ctr"/>
          <a:lstStyle/>
          <a:p>
            <a:pPr indent="0" marL="0">
              <a:buNone/>
            </a:pPr>
            <a:r>
              <a:rPr lang="en-US" sz="1200" dirty="0">
                <a:solidFill>
                  <a:schemeClr val="tx1"/>
                </a:solidFill>
              </a:rPr>
              <a:t>Custom double lid</a:t>
            </a:r>
            <a:endParaRPr lang="en-US" sz="1200" dirty="0"/>
          </a:p>
        </p:txBody>
      </p:sp>
      <p:sp>
        <p:nvSpPr>
          <p:cNvPr id="16" name="Setup marker 3"/>
          <p:cNvSpPr/>
          <p:nvPr/>
        </p:nvSpPr>
        <p:spPr>
          <a:xfrm>
            <a:off x="5440680" y="4261104"/>
            <a:ext cx="274320" cy="274320"/>
          </a:xfrm>
          <a:prstGeom prst="ellipse">
            <a:avLst/>
          </a:prstGeom>
          <a:solidFill>
            <a:schemeClr val="tx2"/>
          </a:solidFill>
          <a:ln/>
        </p:spPr>
      </p:sp>
      <p:sp>
        <p:nvSpPr>
          <p:cNvPr id="17" name="Setup marker 3 number"/>
          <p:cNvSpPr txBox="1"/>
          <p:nvPr/>
        </p:nvSpPr>
        <p:spPr>
          <a:xfrm>
            <a:off x="5440680" y="426110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Setup item 3"/>
          <p:cNvSpPr txBox="1"/>
          <p:nvPr/>
        </p:nvSpPr>
        <p:spPr>
          <a:xfrm>
            <a:off x="5824728" y="4261104"/>
            <a:ext cx="2606040" cy="274320"/>
          </a:xfrm>
          <a:prstGeom prst="rect">
            <a:avLst/>
          </a:prstGeom>
          <a:noFill/>
          <a:ln/>
        </p:spPr>
        <p:txBody>
          <a:bodyPr wrap="square" lIns="0" tIns="0" rIns="0" bIns="0" rtlCol="0" anchor="ctr"/>
          <a:lstStyle/>
          <a:p>
            <a:pPr indent="0" marL="0">
              <a:buNone/>
            </a:pPr>
            <a:r>
              <a:rPr lang="en-US" sz="1200" dirty="0">
                <a:solidFill>
                  <a:schemeClr val="tx1"/>
                </a:solidFill>
              </a:rPr>
              <a:t>Dielectric liquid, stirred</a:t>
            </a:r>
            <a:endParaRPr lang="en-US" sz="1200" dirty="0"/>
          </a:p>
        </p:txBody>
      </p:sp>
      <p:sp>
        <p:nvSpPr>
          <p:cNvPr id="19" name="Setup marker 4"/>
          <p:cNvSpPr/>
          <p:nvPr/>
        </p:nvSpPr>
        <p:spPr>
          <a:xfrm>
            <a:off x="5440680" y="4654296"/>
            <a:ext cx="274320" cy="274320"/>
          </a:xfrm>
          <a:prstGeom prst="ellipse">
            <a:avLst/>
          </a:prstGeom>
          <a:solidFill>
            <a:schemeClr val="tx2"/>
          </a:solidFill>
          <a:ln/>
        </p:spPr>
      </p:sp>
      <p:sp>
        <p:nvSpPr>
          <p:cNvPr id="20" name="Setup marker 4 number"/>
          <p:cNvSpPr txBox="1"/>
          <p:nvPr/>
        </p:nvSpPr>
        <p:spPr>
          <a:xfrm>
            <a:off x="5440680" y="46542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1" name="Setup item 4"/>
          <p:cNvSpPr txBox="1"/>
          <p:nvPr/>
        </p:nvSpPr>
        <p:spPr>
          <a:xfrm>
            <a:off x="5824728" y="4654296"/>
            <a:ext cx="2606040" cy="274320"/>
          </a:xfrm>
          <a:prstGeom prst="rect">
            <a:avLst/>
          </a:prstGeom>
          <a:noFill/>
          <a:ln/>
        </p:spPr>
        <p:txBody>
          <a:bodyPr wrap="square" lIns="0" tIns="0" rIns="0" bIns="0" rtlCol="0" anchor="ctr"/>
          <a:lstStyle/>
          <a:p>
            <a:pPr indent="0" marL="0">
              <a:buNone/>
            </a:pPr>
            <a:r>
              <a:rPr lang="en-US" sz="1200" dirty="0">
                <a:solidFill>
                  <a:schemeClr val="tx1"/>
                </a:solidFill>
              </a:rPr>
              <a:t>Stepper-motor stirrer + Arduino</a:t>
            </a:r>
            <a:endParaRPr lang="en-US" sz="1200" dirty="0"/>
          </a:p>
        </p:txBody>
      </p:sp>
      <p:sp>
        <p:nvSpPr>
          <p:cNvPr id="22" name="Setup marker 5"/>
          <p:cNvSpPr/>
          <p:nvPr/>
        </p:nvSpPr>
        <p:spPr>
          <a:xfrm>
            <a:off x="5440680" y="5047488"/>
            <a:ext cx="274320" cy="274320"/>
          </a:xfrm>
          <a:prstGeom prst="ellipse">
            <a:avLst/>
          </a:prstGeom>
          <a:solidFill>
            <a:schemeClr val="tx2"/>
          </a:solidFill>
          <a:ln/>
        </p:spPr>
      </p:sp>
      <p:sp>
        <p:nvSpPr>
          <p:cNvPr id="23" name="Setup marker 5 number"/>
          <p:cNvSpPr txBox="1"/>
          <p:nvPr/>
        </p:nvSpPr>
        <p:spPr>
          <a:xfrm>
            <a:off x="5440680" y="504748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4" name="Setup item 5"/>
          <p:cNvSpPr txBox="1"/>
          <p:nvPr/>
        </p:nvSpPr>
        <p:spPr>
          <a:xfrm>
            <a:off x="5824728" y="5047488"/>
            <a:ext cx="2606040" cy="274320"/>
          </a:xfrm>
          <a:prstGeom prst="rect">
            <a:avLst/>
          </a:prstGeom>
          <a:noFill/>
          <a:ln/>
        </p:spPr>
        <p:txBody>
          <a:bodyPr wrap="square" lIns="0" tIns="0" rIns="0" bIns="0" rtlCol="0" anchor="ctr"/>
          <a:lstStyle/>
          <a:p>
            <a:pPr indent="0" marL="0">
              <a:buNone/>
            </a:pPr>
            <a:r>
              <a:rPr lang="en-US" sz="1200" dirty="0">
                <a:solidFill>
                  <a:schemeClr val="tx1"/>
                </a:solidFill>
              </a:rPr>
              <a:t>DUT: inductor, fully submerged</a:t>
            </a:r>
            <a:endParaRPr lang="en-US" sz="1200" dirty="0"/>
          </a:p>
        </p:txBody>
      </p:sp>
      <p:sp>
        <p:nvSpPr>
          <p:cNvPr id="25" name="Setup marker 6"/>
          <p:cNvSpPr/>
          <p:nvPr/>
        </p:nvSpPr>
        <p:spPr>
          <a:xfrm>
            <a:off x="5440680" y="5440680"/>
            <a:ext cx="274320" cy="274320"/>
          </a:xfrm>
          <a:prstGeom prst="ellipse">
            <a:avLst/>
          </a:prstGeom>
          <a:solidFill>
            <a:schemeClr val="tx2"/>
          </a:solidFill>
          <a:ln/>
        </p:spPr>
      </p:sp>
      <p:sp>
        <p:nvSpPr>
          <p:cNvPr id="26" name="Setup marker 6 number"/>
          <p:cNvSpPr txBox="1"/>
          <p:nvPr/>
        </p:nvSpPr>
        <p:spPr>
          <a:xfrm>
            <a:off x="5440680" y="544068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7" name="Setup item 6"/>
          <p:cNvSpPr txBox="1"/>
          <p:nvPr/>
        </p:nvSpPr>
        <p:spPr>
          <a:xfrm>
            <a:off x="5824728" y="5440680"/>
            <a:ext cx="2606040" cy="274320"/>
          </a:xfrm>
          <a:prstGeom prst="rect">
            <a:avLst/>
          </a:prstGeom>
          <a:noFill/>
          <a:ln/>
        </p:spPr>
        <p:txBody>
          <a:bodyPr wrap="square" lIns="0" tIns="0" rIns="0" bIns="0" rtlCol="0" anchor="ctr"/>
          <a:lstStyle/>
          <a:p>
            <a:pPr indent="0" marL="0">
              <a:buNone/>
            </a:pPr>
            <a:r>
              <a:rPr lang="en-US" sz="1200" dirty="0">
                <a:solidFill>
                  <a:schemeClr val="tx1"/>
                </a:solidFill>
              </a:rPr>
              <a:t>Heater: wire-wound resistor</a:t>
            </a:r>
            <a:endParaRPr lang="en-US" sz="1200" dirty="0"/>
          </a:p>
        </p:txBody>
      </p:sp>
      <p:sp>
        <p:nvSpPr>
          <p:cNvPr id="28" name="Setup marker 7"/>
          <p:cNvSpPr/>
          <p:nvPr/>
        </p:nvSpPr>
        <p:spPr>
          <a:xfrm>
            <a:off x="5440680" y="5833872"/>
            <a:ext cx="274320" cy="274320"/>
          </a:xfrm>
          <a:prstGeom prst="ellipse">
            <a:avLst/>
          </a:prstGeom>
          <a:solidFill>
            <a:schemeClr val="tx2"/>
          </a:solidFill>
          <a:ln/>
        </p:spPr>
      </p:sp>
      <p:sp>
        <p:nvSpPr>
          <p:cNvPr id="29" name="Setup marker 7 number"/>
          <p:cNvSpPr txBox="1"/>
          <p:nvPr/>
        </p:nvSpPr>
        <p:spPr>
          <a:xfrm>
            <a:off x="5440680" y="583387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0" name="Setup item 7"/>
          <p:cNvSpPr txBox="1"/>
          <p:nvPr/>
        </p:nvSpPr>
        <p:spPr>
          <a:xfrm>
            <a:off x="5824728" y="5833872"/>
            <a:ext cx="2606040" cy="274320"/>
          </a:xfrm>
          <a:prstGeom prst="rect">
            <a:avLst/>
          </a:prstGeom>
          <a:noFill/>
          <a:ln/>
        </p:spPr>
        <p:txBody>
          <a:bodyPr wrap="square" lIns="0" tIns="0" rIns="0" bIns="0" rtlCol="0" anchor="ctr"/>
          <a:lstStyle/>
          <a:p>
            <a:pPr indent="0" marL="0">
              <a:buNone/>
            </a:pPr>
            <a:r>
              <a:rPr lang="en-US" sz="1200" dirty="0">
                <a:solidFill>
                  <a:schemeClr val="tx1"/>
                </a:solidFill>
              </a:rPr>
              <a:t>PT100 (liquid, ambient) → DAQ970A</a:t>
            </a:r>
            <a:endParaRPr lang="en-US" sz="1200" dirty="0"/>
          </a:p>
        </p:txBody>
      </p:sp>
      <p:sp>
        <p:nvSpPr>
          <p:cNvPr id="31" name="Why heading"/>
          <p:cNvSpPr txBox="1"/>
          <p:nvPr/>
        </p:nvSpPr>
        <p:spPr>
          <a:xfrm>
            <a:off x="8641080" y="3044952"/>
            <a:ext cx="2999232" cy="320040"/>
          </a:xfrm>
          <a:prstGeom prst="rect">
            <a:avLst/>
          </a:prstGeom>
          <a:noFill/>
          <a:ln/>
        </p:spPr>
        <p:txBody>
          <a:bodyPr wrap="square" lIns="0" tIns="0" rIns="0" bIns="0" rtlCol="0" anchor="ctr"/>
          <a:lstStyle/>
          <a:p>
            <a:pPr indent="0" marL="0">
              <a:buNone/>
            </a:pPr>
            <a:r>
              <a:rPr lang="en-US" sz="1400" b="1" dirty="0">
                <a:solidFill>
                  <a:schemeClr val="tx2"/>
                </a:solidFill>
              </a:rPr>
              <a:t>Why calorimetry?</a:t>
            </a:r>
            <a:endParaRPr lang="en-US" sz="1400" dirty="0"/>
          </a:p>
        </p:txBody>
      </p:sp>
      <p:sp>
        <p:nvSpPr>
          <p:cNvPr id="32" name="Why icon 1"/>
          <p:cNvSpPr/>
          <p:nvPr/>
        </p:nvSpPr>
        <p:spPr>
          <a:xfrm>
            <a:off x="8641080" y="3474720"/>
            <a:ext cx="384048" cy="384048"/>
          </a:xfrm>
          <a:prstGeom prst="ellipse">
            <a:avLst/>
          </a:prstGeom>
          <a:solidFill>
            <a:schemeClr val="accent2"/>
          </a:solidFill>
          <a:ln/>
        </p:spPr>
      </p:sp>
      <p:pic>
        <p:nvPicPr>
          <p:cNvPr id="33" name="Why icon 1 icon" descr="Why icon 1">    </p:cNvPr>
          <p:cNvPicPr>
            <a:picLocks noChangeAspect="1"/>
          </p:cNvPicPr>
          <p:nvPr/>
        </p:nvPicPr>
        <p:blipFill>
          <a:blip r:embed="rId2"/>
          <a:stretch>
            <a:fillRect/>
          </a:stretch>
        </p:blipFill>
        <p:spPr>
          <a:xfrm>
            <a:off x="8721730" y="3555370"/>
            <a:ext cx="222748" cy="222748"/>
          </a:xfrm>
          <a:prstGeom prst="rect">
            <a:avLst/>
          </a:prstGeom>
        </p:spPr>
      </p:pic>
      <p:sp>
        <p:nvSpPr>
          <p:cNvPr id="34" name="Why title 1"/>
          <p:cNvSpPr txBox="1"/>
          <p:nvPr/>
        </p:nvSpPr>
        <p:spPr>
          <a:xfrm>
            <a:off x="9144000" y="3456432"/>
            <a:ext cx="2496312" cy="274320"/>
          </a:xfrm>
          <a:prstGeom prst="rect">
            <a:avLst/>
          </a:prstGeom>
          <a:noFill/>
          <a:ln/>
        </p:spPr>
        <p:txBody>
          <a:bodyPr wrap="square" lIns="0" tIns="0" rIns="0" bIns="0" rtlCol="0" anchor="ctr"/>
          <a:lstStyle/>
          <a:p>
            <a:pPr indent="0" marL="0">
              <a:buNone/>
            </a:pPr>
            <a:r>
              <a:rPr lang="en-US" sz="1250" b="1" dirty="0">
                <a:solidFill>
                  <a:schemeClr val="tx2"/>
                </a:solidFill>
              </a:rPr>
              <a:t>Waveform-independent</a:t>
            </a:r>
            <a:endParaRPr lang="en-US" sz="1250" dirty="0"/>
          </a:p>
        </p:txBody>
      </p:sp>
      <p:sp>
        <p:nvSpPr>
          <p:cNvPr id="35" name="Why text 1"/>
          <p:cNvSpPr txBox="1"/>
          <p:nvPr/>
        </p:nvSpPr>
        <p:spPr>
          <a:xfrm>
            <a:off x="9144000" y="3730752"/>
            <a:ext cx="2496312" cy="621792"/>
          </a:xfrm>
          <a:prstGeom prst="rect">
            <a:avLst/>
          </a:prstGeom>
          <a:noFill/>
          <a:ln/>
        </p:spPr>
        <p:txBody>
          <a:bodyPr wrap="square" lIns="0" tIns="0" rIns="0" bIns="0" rtlCol="0" anchor="t"/>
          <a:lstStyle/>
          <a:p>
            <a:pPr indent="0" marL="0">
              <a:buNone/>
            </a:pPr>
            <a:r>
              <a:rPr lang="en-US" sz="1050" dirty="0">
                <a:solidFill>
                  <a:schemeClr val="tx1"/>
                </a:solidFill>
              </a:rPr>
              <a:t>Heat is measured, not V·I, so phase errors drop out. Electrically ΔP/P ≈ Q·Δφ: Q = 100 and 0.1° give 17 % [3, 6].</a:t>
            </a:r>
            <a:endParaRPr lang="en-US" sz="1050" dirty="0"/>
          </a:p>
        </p:txBody>
      </p:sp>
      <p:sp>
        <p:nvSpPr>
          <p:cNvPr id="36" name="Why icon 2"/>
          <p:cNvSpPr/>
          <p:nvPr/>
        </p:nvSpPr>
        <p:spPr>
          <a:xfrm>
            <a:off x="8641080" y="4389120"/>
            <a:ext cx="384048" cy="384048"/>
          </a:xfrm>
          <a:prstGeom prst="ellipse">
            <a:avLst/>
          </a:prstGeom>
          <a:solidFill>
            <a:schemeClr val="accent2"/>
          </a:solidFill>
          <a:ln/>
        </p:spPr>
      </p:sp>
      <p:pic>
        <p:nvPicPr>
          <p:cNvPr id="37" name="Why icon 2 icon" descr="Why icon 2">    </p:cNvPr>
          <p:cNvPicPr>
            <a:picLocks noChangeAspect="1"/>
          </p:cNvPicPr>
          <p:nvPr/>
        </p:nvPicPr>
        <p:blipFill>
          <a:blip r:embed="rId3"/>
          <a:stretch>
            <a:fillRect/>
          </a:stretch>
        </p:blipFill>
        <p:spPr>
          <a:xfrm>
            <a:off x="8721730" y="4469770"/>
            <a:ext cx="222748" cy="222748"/>
          </a:xfrm>
          <a:prstGeom prst="rect">
            <a:avLst/>
          </a:prstGeom>
        </p:spPr>
      </p:pic>
      <p:sp>
        <p:nvSpPr>
          <p:cNvPr id="38" name="Why title 2"/>
          <p:cNvSpPr txBox="1"/>
          <p:nvPr/>
        </p:nvSpPr>
        <p:spPr>
          <a:xfrm>
            <a:off x="9144000" y="4370832"/>
            <a:ext cx="2496312" cy="274320"/>
          </a:xfrm>
          <a:prstGeom prst="rect">
            <a:avLst/>
          </a:prstGeom>
          <a:noFill/>
          <a:ln/>
        </p:spPr>
        <p:txBody>
          <a:bodyPr wrap="square" lIns="0" tIns="0" rIns="0" bIns="0" rtlCol="0" anchor="ctr"/>
          <a:lstStyle/>
          <a:p>
            <a:pPr indent="0" marL="0">
              <a:buNone/>
            </a:pPr>
            <a:r>
              <a:rPr lang="en-US" sz="1250" b="1" dirty="0">
                <a:solidFill>
                  <a:schemeClr val="tx2"/>
                </a:solidFill>
              </a:rPr>
              <a:t>Closed, near-adiabatic</a:t>
            </a:r>
            <a:endParaRPr lang="en-US" sz="1250" dirty="0"/>
          </a:p>
        </p:txBody>
      </p:sp>
      <p:sp>
        <p:nvSpPr>
          <p:cNvPr id="39" name="Why text 2"/>
          <p:cNvSpPr txBox="1"/>
          <p:nvPr/>
        </p:nvSpPr>
        <p:spPr>
          <a:xfrm>
            <a:off x="9144000" y="4645152"/>
            <a:ext cx="2496312" cy="621792"/>
          </a:xfrm>
          <a:prstGeom prst="rect">
            <a:avLst/>
          </a:prstGeom>
          <a:noFill/>
          <a:ln/>
        </p:spPr>
        <p:txBody>
          <a:bodyPr wrap="square" lIns="0" tIns="0" rIns="0" bIns="0" rtlCol="0" anchor="t"/>
          <a:lstStyle/>
          <a:p>
            <a:pPr indent="0" marL="0">
              <a:buNone/>
            </a:pPr>
            <a:r>
              <a:rPr lang="en-US" sz="1050" dirty="0">
                <a:solidFill>
                  <a:schemeClr val="tx1"/>
                </a:solidFill>
              </a:rPr>
              <a:t>Only ΔT/Δt is needed: no coolant flow measurement, unlike steady-state calorimeters [4, 5].</a:t>
            </a:r>
            <a:endParaRPr lang="en-US" sz="1050" dirty="0"/>
          </a:p>
        </p:txBody>
      </p:sp>
      <p:sp>
        <p:nvSpPr>
          <p:cNvPr id="40" name="Why icon 3"/>
          <p:cNvSpPr/>
          <p:nvPr/>
        </p:nvSpPr>
        <p:spPr>
          <a:xfrm>
            <a:off x="8641080" y="5303520"/>
            <a:ext cx="384048" cy="384048"/>
          </a:xfrm>
          <a:prstGeom prst="ellipse">
            <a:avLst/>
          </a:prstGeom>
          <a:solidFill>
            <a:schemeClr val="accent2"/>
          </a:solidFill>
          <a:ln/>
        </p:spPr>
      </p:sp>
      <p:pic>
        <p:nvPicPr>
          <p:cNvPr id="41" name="Why icon 3 icon" descr="Why icon 3">    </p:cNvPr>
          <p:cNvPicPr>
            <a:picLocks noChangeAspect="1"/>
          </p:cNvPicPr>
          <p:nvPr/>
        </p:nvPicPr>
        <p:blipFill>
          <a:blip r:embed="rId4"/>
          <a:stretch>
            <a:fillRect/>
          </a:stretch>
        </p:blipFill>
        <p:spPr>
          <a:xfrm>
            <a:off x="8721730" y="5384170"/>
            <a:ext cx="222748" cy="222748"/>
          </a:xfrm>
          <a:prstGeom prst="rect">
            <a:avLst/>
          </a:prstGeom>
        </p:spPr>
      </p:pic>
      <p:sp>
        <p:nvSpPr>
          <p:cNvPr id="42" name="Why title 3"/>
          <p:cNvSpPr txBox="1"/>
          <p:nvPr/>
        </p:nvSpPr>
        <p:spPr>
          <a:xfrm>
            <a:off x="9144000" y="5285232"/>
            <a:ext cx="2496312" cy="274320"/>
          </a:xfrm>
          <a:prstGeom prst="rect">
            <a:avLst/>
          </a:prstGeom>
          <a:noFill/>
          <a:ln/>
        </p:spPr>
        <p:txBody>
          <a:bodyPr wrap="square" lIns="0" tIns="0" rIns="0" bIns="0" rtlCol="0" anchor="ctr"/>
          <a:lstStyle/>
          <a:p>
            <a:pPr indent="0" marL="0">
              <a:buNone/>
            </a:pPr>
            <a:r>
              <a:rPr lang="en-US" sz="1250" b="1" dirty="0">
                <a:solidFill>
                  <a:schemeClr val="tx2"/>
                </a:solidFill>
              </a:rPr>
              <a:t>Uniform liquid bath</a:t>
            </a:r>
            <a:endParaRPr lang="en-US" sz="1250" dirty="0"/>
          </a:p>
        </p:txBody>
      </p:sp>
      <p:sp>
        <p:nvSpPr>
          <p:cNvPr id="43" name="Why text 3"/>
          <p:cNvSpPr txBox="1"/>
          <p:nvPr/>
        </p:nvSpPr>
        <p:spPr>
          <a:xfrm>
            <a:off x="9144000" y="5559552"/>
            <a:ext cx="2496312" cy="621792"/>
          </a:xfrm>
          <a:prstGeom prst="rect">
            <a:avLst/>
          </a:prstGeom>
          <a:noFill/>
          <a:ln/>
        </p:spPr>
        <p:txBody>
          <a:bodyPr wrap="square" lIns="0" tIns="0" rIns="0" bIns="0" rtlCol="0" anchor="t"/>
          <a:lstStyle/>
          <a:p>
            <a:pPr indent="0" marL="0">
              <a:buNone/>
            </a:pPr>
            <a:r>
              <a:rPr lang="en-US" sz="1050" dirty="0">
                <a:solidFill>
                  <a:schemeClr val="tx1"/>
                </a:solidFill>
              </a:rPr>
              <a:t>Insulating liquid with high heat capacity; continuous stirring prevents hot spots.</a:t>
            </a:r>
            <a:endParaRPr lang="en-US" sz="10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000" b="1" dirty="0">
                <a:solidFill>
                  <a:schemeClr val="tx2"/>
                </a:solidFill>
              </a:rPr>
              <a:t>Calibration: the temperature slope measures power</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500" dirty="0">
                <a:solidFill>
                  <a:schemeClr val="accent1"/>
                </a:solidFill>
              </a:rPr>
              <a:t>Known heater powers map slope to watts; the DUT’s slope is then read off the same calibration line</a:t>
            </a:r>
            <a:endParaRPr lang="en-US" sz="1500" dirty="0"/>
          </a:p>
        </p:txBody>
      </p:sp>
      <p:sp>
        <p:nvSpPr>
          <p:cNvPr id="4" name="Records card"/>
          <p:cNvSpPr/>
          <p:nvPr/>
        </p:nvSpPr>
        <p:spPr>
          <a:xfrm>
            <a:off x="548640" y="1463040"/>
            <a:ext cx="5486400" cy="2971800"/>
          </a:xfrm>
          <a:prstGeom prst="roundRect">
            <a:avLst>
              <a:gd name="adj" fmla="val 3077"/>
            </a:avLst>
          </a:prstGeom>
          <a:solidFill>
            <a:schemeClr val="bg2"/>
          </a:solidFill>
          <a:ln/>
        </p:spPr>
      </p:sp>
      <p:sp>
        <p:nvSpPr>
          <p:cNvPr id="5" name="Records title"/>
          <p:cNvSpPr txBox="1"/>
          <p:nvPr/>
        </p:nvSpPr>
        <p:spPr>
          <a:xfrm>
            <a:off x="777240" y="1536192"/>
            <a:ext cx="5029200" cy="292608"/>
          </a:xfrm>
          <a:prstGeom prst="rect">
            <a:avLst/>
          </a:prstGeom>
          <a:noFill/>
          <a:ln/>
        </p:spPr>
        <p:txBody>
          <a:bodyPr wrap="square" lIns="0" tIns="0" rIns="0" bIns="0" rtlCol="0" anchor="ctr"/>
          <a:lstStyle/>
          <a:p>
            <a:pPr indent="0" marL="0">
              <a:buNone/>
            </a:pPr>
            <a:r>
              <a:rPr lang="en-US" sz="1300" b="1" dirty="0">
                <a:solidFill>
                  <a:schemeClr val="tx2"/>
                </a:solidFill>
              </a:rPr>
              <a:t>① Raw records: ΔT(t) at known heater power</a:t>
            </a:r>
            <a:endParaRPr lang="en-US" sz="1300" dirty="0"/>
          </a:p>
        </p:txBody>
      </p:sp>
      <p:graphicFrame>
        <p:nvGraphicFramePr>
          <p:cNvPr id="6" name="Calibration records chart" descr="Model temperature rise versus time for heater powers 2 to 13 W: after a short thermal lag each curve becomes a straight line whose slope is proportional to power."/>
          <p:cNvGraphicFramePr/>
          <p:nvPr/>
        </p:nvGraphicFramePr>
        <p:xfrm>
          <a:off x="640080" y="1847088"/>
          <a:ext cx="5303520" cy="2514600"/>
        </p:xfrm>
        <a:graphic xmlns:a="http://schemas.openxmlformats.org/drawingml/2006/main">
          <a:graphicData uri="http://schemas.openxmlformats.org/drawingml/2006/chart">
            <c:chart xmlns:c="http://schemas.openxmlformats.org/drawingml/2006/chart" r:id="rId1"/>
          </a:graphicData>
        </a:graphic>
      </p:graphicFrame>
      <p:sp>
        <p:nvSpPr>
          <p:cNvPr id="7" name="Linear region band"/>
          <p:cNvSpPr/>
          <p:nvPr/>
        </p:nvSpPr>
        <p:spPr>
          <a:xfrm>
            <a:off x="2856951" y="1972818"/>
            <a:ext cx="2450226" cy="1810512"/>
          </a:xfrm>
          <a:prstGeom prst="rect">
            <a:avLst/>
          </a:prstGeom>
          <a:solidFill>
            <a:schemeClr val="accent1">
              <a:alpha val="12000"/>
            </a:schemeClr>
          </a:solidFill>
          <a:ln/>
        </p:spPr>
      </p:sp>
      <p:sp>
        <p:nvSpPr>
          <p:cNvPr id="8" name="Linear region label"/>
          <p:cNvSpPr txBox="1"/>
          <p:nvPr/>
        </p:nvSpPr>
        <p:spPr>
          <a:xfrm>
            <a:off x="2911815" y="2009394"/>
            <a:ext cx="2011680" cy="228600"/>
          </a:xfrm>
          <a:prstGeom prst="rect">
            <a:avLst/>
          </a:prstGeom>
          <a:noFill/>
          <a:ln/>
        </p:spPr>
        <p:txBody>
          <a:bodyPr wrap="square" lIns="0" tIns="0" rIns="0" bIns="0" rtlCol="0" anchor="ctr"/>
          <a:lstStyle/>
          <a:p>
            <a:pPr indent="0" marL="0">
              <a:buNone/>
            </a:pPr>
            <a:r>
              <a:rPr lang="en-US" sz="1000" b="1" dirty="0">
                <a:solidFill>
                  <a:schemeClr val="accent1"/>
                </a:solidFill>
              </a:rPr>
              <a:t>linear region → fit slope s</a:t>
            </a:r>
            <a:endParaRPr lang="en-US" sz="1000" dirty="0"/>
          </a:p>
        </p:txBody>
      </p:sp>
      <p:sp>
        <p:nvSpPr>
          <p:cNvPr id="9" name="Thermal lag label"/>
          <p:cNvSpPr txBox="1"/>
          <p:nvPr/>
        </p:nvSpPr>
        <p:spPr>
          <a:xfrm>
            <a:off x="1278331" y="2009394"/>
            <a:ext cx="1523756" cy="457200"/>
          </a:xfrm>
          <a:prstGeom prst="rect">
            <a:avLst/>
          </a:prstGeom>
          <a:noFill/>
          <a:ln/>
        </p:spPr>
        <p:txBody>
          <a:bodyPr wrap="square" lIns="0" tIns="0" rIns="0" bIns="0" rtlCol="0" anchor="ctr"/>
          <a:lstStyle/>
          <a:p>
            <a:pPr indent="0" marL="0">
              <a:buNone/>
            </a:pPr>
            <a:r>
              <a:rPr lang="en-US" sz="950" i="1" dirty="0">
                <a:solidFill>
                  <a:schemeClr val="accent3"/>
                </a:solidFill>
              </a:rPr>
              <a:t>thermal lag: heat must first reach the liquid and sensor</a:t>
            </a:r>
            <a:endParaRPr lang="en-US" sz="950" dirty="0"/>
          </a:p>
        </p:txBody>
      </p:sp>
      <p:sp>
        <p:nvSpPr>
          <p:cNvPr id="10" name="Record label 2 W"/>
          <p:cNvSpPr txBox="1"/>
          <p:nvPr/>
        </p:nvSpPr>
        <p:spPr>
          <a:xfrm>
            <a:off x="5352898" y="3422877"/>
            <a:ext cx="457200" cy="182880"/>
          </a:xfrm>
          <a:prstGeom prst="rect">
            <a:avLst/>
          </a:prstGeom>
          <a:noFill/>
          <a:ln/>
        </p:spPr>
        <p:txBody>
          <a:bodyPr wrap="square" lIns="0" tIns="0" rIns="0" bIns="0" rtlCol="0" anchor="ctr"/>
          <a:lstStyle/>
          <a:p>
            <a:pPr indent="0" marL="0">
              <a:buNone/>
            </a:pPr>
            <a:r>
              <a:rPr lang="en-US" sz="950" b="1" dirty="0">
                <a:solidFill>
                  <a:srgbClr val="B98A5E"/>
                </a:solidFill>
              </a:rPr>
              <a:t>2 W</a:t>
            </a:r>
            <a:endParaRPr lang="en-US" sz="950" dirty="0"/>
          </a:p>
        </p:txBody>
      </p:sp>
      <p:sp>
        <p:nvSpPr>
          <p:cNvPr id="11" name="Record label 4 W"/>
          <p:cNvSpPr txBox="1"/>
          <p:nvPr/>
        </p:nvSpPr>
        <p:spPr>
          <a:xfrm>
            <a:off x="5352898" y="3153864"/>
            <a:ext cx="457200" cy="182880"/>
          </a:xfrm>
          <a:prstGeom prst="rect">
            <a:avLst/>
          </a:prstGeom>
          <a:noFill/>
          <a:ln/>
        </p:spPr>
        <p:txBody>
          <a:bodyPr wrap="square" lIns="0" tIns="0" rIns="0" bIns="0" rtlCol="0" anchor="ctr"/>
          <a:lstStyle/>
          <a:p>
            <a:pPr indent="0" marL="0">
              <a:buNone/>
            </a:pPr>
            <a:r>
              <a:rPr lang="en-US" sz="950" b="1" dirty="0">
                <a:solidFill>
                  <a:srgbClr val="D69A63"/>
                </a:solidFill>
              </a:rPr>
              <a:t>4 W</a:t>
            </a:r>
            <a:endParaRPr lang="en-US" sz="950" dirty="0"/>
          </a:p>
        </p:txBody>
      </p:sp>
      <p:sp>
        <p:nvSpPr>
          <p:cNvPr id="12" name="Record label 6 W"/>
          <p:cNvSpPr txBox="1"/>
          <p:nvPr/>
        </p:nvSpPr>
        <p:spPr>
          <a:xfrm>
            <a:off x="5352898" y="2884850"/>
            <a:ext cx="457200" cy="182880"/>
          </a:xfrm>
          <a:prstGeom prst="rect">
            <a:avLst/>
          </a:prstGeom>
          <a:noFill/>
          <a:ln/>
        </p:spPr>
        <p:txBody>
          <a:bodyPr wrap="square" lIns="0" tIns="0" rIns="0" bIns="0" rtlCol="0" anchor="ctr"/>
          <a:lstStyle/>
          <a:p>
            <a:pPr indent="0" marL="0">
              <a:buNone/>
            </a:pPr>
            <a:r>
              <a:rPr lang="en-US" sz="950" b="1" dirty="0">
                <a:solidFill>
                  <a:srgbClr val="CB8445"/>
                </a:solidFill>
              </a:rPr>
              <a:t>6 W</a:t>
            </a:r>
            <a:endParaRPr lang="en-US" sz="950" dirty="0"/>
          </a:p>
        </p:txBody>
      </p:sp>
      <p:sp>
        <p:nvSpPr>
          <p:cNvPr id="13" name="Record label 8 W"/>
          <p:cNvSpPr txBox="1"/>
          <p:nvPr/>
        </p:nvSpPr>
        <p:spPr>
          <a:xfrm>
            <a:off x="5352898" y="2615837"/>
            <a:ext cx="457200" cy="182880"/>
          </a:xfrm>
          <a:prstGeom prst="rect">
            <a:avLst/>
          </a:prstGeom>
          <a:noFill/>
          <a:ln/>
        </p:spPr>
        <p:txBody>
          <a:bodyPr wrap="square" lIns="0" tIns="0" rIns="0" bIns="0" rtlCol="0" anchor="ctr"/>
          <a:lstStyle/>
          <a:p>
            <a:pPr indent="0" marL="0">
              <a:buNone/>
            </a:pPr>
            <a:r>
              <a:rPr lang="en-US" sz="950" b="1" dirty="0">
                <a:solidFill>
                  <a:srgbClr val="C46A2B"/>
                </a:solidFill>
              </a:rPr>
              <a:t>8 W</a:t>
            </a:r>
            <a:endParaRPr lang="en-US" sz="950" dirty="0"/>
          </a:p>
        </p:txBody>
      </p:sp>
      <p:sp>
        <p:nvSpPr>
          <p:cNvPr id="14" name="Record label 10 W"/>
          <p:cNvSpPr txBox="1"/>
          <p:nvPr/>
        </p:nvSpPr>
        <p:spPr>
          <a:xfrm>
            <a:off x="5352898" y="2346824"/>
            <a:ext cx="457200" cy="182880"/>
          </a:xfrm>
          <a:prstGeom prst="rect">
            <a:avLst/>
          </a:prstGeom>
          <a:noFill/>
          <a:ln/>
        </p:spPr>
        <p:txBody>
          <a:bodyPr wrap="square" lIns="0" tIns="0" rIns="0" bIns="0" rtlCol="0" anchor="ctr"/>
          <a:lstStyle/>
          <a:p>
            <a:pPr indent="0" marL="0">
              <a:buNone/>
            </a:pPr>
            <a:r>
              <a:rPr lang="en-US" sz="950" b="1" dirty="0">
                <a:solidFill>
                  <a:srgbClr val="9C521F"/>
                </a:solidFill>
              </a:rPr>
              <a:t>10 W</a:t>
            </a:r>
            <a:endParaRPr lang="en-US" sz="950" dirty="0"/>
          </a:p>
        </p:txBody>
      </p:sp>
      <p:sp>
        <p:nvSpPr>
          <p:cNvPr id="15" name="Record label 13 W"/>
          <p:cNvSpPr txBox="1"/>
          <p:nvPr/>
        </p:nvSpPr>
        <p:spPr>
          <a:xfrm>
            <a:off x="5352898" y="1943304"/>
            <a:ext cx="457200" cy="182880"/>
          </a:xfrm>
          <a:prstGeom prst="rect">
            <a:avLst/>
          </a:prstGeom>
          <a:noFill/>
          <a:ln/>
        </p:spPr>
        <p:txBody>
          <a:bodyPr wrap="square" lIns="0" tIns="0" rIns="0" bIns="0" rtlCol="0" anchor="ctr"/>
          <a:lstStyle/>
          <a:p>
            <a:pPr indent="0" marL="0">
              <a:buNone/>
            </a:pPr>
            <a:r>
              <a:rPr lang="en-US" sz="950" b="1" dirty="0">
                <a:solidFill>
                  <a:srgbClr val="6E3814"/>
                </a:solidFill>
              </a:rPr>
              <a:t>13 W</a:t>
            </a:r>
            <a:endParaRPr lang="en-US" sz="950" dirty="0"/>
          </a:p>
        </p:txBody>
      </p:sp>
      <p:sp>
        <p:nvSpPr>
          <p:cNvPr id="16" name="Calibration line card"/>
          <p:cNvSpPr/>
          <p:nvPr/>
        </p:nvSpPr>
        <p:spPr>
          <a:xfrm>
            <a:off x="6263640" y="1463040"/>
            <a:ext cx="5376672" cy="2971800"/>
          </a:xfrm>
          <a:prstGeom prst="roundRect">
            <a:avLst>
              <a:gd name="adj" fmla="val 3077"/>
            </a:avLst>
          </a:prstGeom>
          <a:solidFill>
            <a:schemeClr val="bg2"/>
          </a:solidFill>
          <a:ln/>
        </p:spPr>
      </p:sp>
      <p:sp>
        <p:nvSpPr>
          <p:cNvPr id="17" name="Calibration line title"/>
          <p:cNvSpPr txBox="1"/>
          <p:nvPr/>
        </p:nvSpPr>
        <p:spPr>
          <a:xfrm>
            <a:off x="6492240" y="1536192"/>
            <a:ext cx="4937760" cy="292608"/>
          </a:xfrm>
          <a:prstGeom prst="rect">
            <a:avLst/>
          </a:prstGeom>
          <a:noFill/>
          <a:ln/>
        </p:spPr>
        <p:txBody>
          <a:bodyPr wrap="square" lIns="0" tIns="0" rIns="0" bIns="0" rtlCol="0" anchor="ctr"/>
          <a:lstStyle/>
          <a:p>
            <a:pPr indent="0" marL="0">
              <a:buNone/>
            </a:pPr>
            <a:r>
              <a:rPr lang="en-US" sz="1300" b="1" dirty="0">
                <a:solidFill>
                  <a:schemeClr val="tx2"/>
                </a:solidFill>
              </a:rPr>
              <a:t>② Calibration line: slope vs. power</a:t>
            </a:r>
            <a:endParaRPr lang="en-US" sz="1300" dirty="0"/>
          </a:p>
        </p:txBody>
      </p:sp>
      <p:graphicFrame>
        <p:nvGraphicFramePr>
          <p:cNvPr id="18" name="Calibration line chart" descr="Calibration line: temperature slope in mK/s versus heater power in W is a straight line; a DUT slope of 2.11 mK/s reads as 7.4 W."/>
          <p:cNvGraphicFramePr/>
          <p:nvPr/>
        </p:nvGraphicFramePr>
        <p:xfrm>
          <a:off x="6355080" y="1847088"/>
          <a:ext cx="5193792" cy="2514600"/>
        </p:xfrm>
        <a:graphic xmlns:a="http://schemas.openxmlformats.org/drawingml/2006/main">
          <a:graphicData uri="http://schemas.openxmlformats.org/drawingml/2006/chart">
            <c:chart xmlns:c="http://schemas.openxmlformats.org/drawingml/2006/chart" r:id="rId2"/>
          </a:graphicData>
        </a:graphic>
      </p:graphicFrame>
      <p:sp>
        <p:nvSpPr>
          <p:cNvPr id="19" name="Calibration key"/>
          <p:cNvSpPr txBox="1"/>
          <p:nvPr/>
        </p:nvSpPr>
        <p:spPr>
          <a:xfrm>
            <a:off x="7069775" y="2018538"/>
            <a:ext cx="2194560" cy="566928"/>
          </a:xfrm>
          <a:prstGeom prst="rect">
            <a:avLst/>
          </a:prstGeom>
          <a:noFill/>
          <a:ln/>
        </p:spPr>
        <p:txBody>
          <a:bodyPr wrap="square" lIns="0" tIns="0" rIns="0" bIns="0" rtlCol="0" anchor="t"/>
          <a:lstStyle/>
          <a:p>
            <a:pPr indent="0" marL="0">
              <a:buNone/>
            </a:pPr>
            <a:r>
              <a:rPr lang="en-US" sz="950" dirty="0">
                <a:solidFill>
                  <a:srgbClr val="C46A2B"/>
                </a:solidFill>
              </a:rPr>
              <a:t>● </a:t>
            </a:r>
            <a:pPr indent="0" marL="0">
              <a:buNone/>
            </a:pPr>
            <a:r>
              <a:rPr lang="en-US" sz="950" dirty="0">
                <a:solidFill>
                  <a:schemeClr val="tx1"/>
                </a:solidFill>
              </a:rPr>
              <a:t>heater calibration points</a:t>
            </a:r>
            <a:endParaRPr lang="en-US" sz="950" dirty="0"/>
          </a:p>
          <a:p>
            <a:pPr indent="0" marL="0">
              <a:buNone/>
            </a:pPr>
            <a:r>
              <a:rPr lang="en-US" sz="950" b="1" dirty="0">
                <a:solidFill>
                  <a:srgbClr val="5B6B77"/>
                </a:solidFill>
              </a:rPr>
              <a:t>‒ ‒ </a:t>
            </a:r>
            <a:pPr indent="0" marL="0">
              <a:buNone/>
            </a:pPr>
            <a:r>
              <a:rPr lang="en-US" sz="950" dirty="0">
                <a:solidFill>
                  <a:schemeClr val="tx1"/>
                </a:solidFill>
              </a:rPr>
              <a:t>linear fit, s = P / C</a:t>
            </a:r>
            <a:pPr indent="0" marL="0">
              <a:buNone/>
            </a:pPr>
            <a:r>
              <a:rPr lang="en-US" sz="950" baseline="-40000" dirty="0">
                <a:solidFill>
                  <a:schemeClr val="tx1"/>
                </a:solidFill>
              </a:rPr>
              <a:t>eq</a:t>
            </a:r>
            <a:endParaRPr lang="en-US" sz="950" dirty="0"/>
          </a:p>
          <a:p>
            <a:pPr indent="0" marL="0">
              <a:buNone/>
            </a:pPr>
            <a:r>
              <a:rPr lang="en-US" sz="950" dirty="0">
                <a:solidFill>
                  <a:srgbClr val="0F7C86"/>
                </a:solidFill>
              </a:rPr>
              <a:t>◆ </a:t>
            </a:r>
            <a:pPr indent="0" marL="0">
              <a:buNone/>
            </a:pPr>
            <a:r>
              <a:rPr lang="en-US" sz="950" dirty="0">
                <a:solidFill>
                  <a:schemeClr val="tx1"/>
                </a:solidFill>
              </a:rPr>
              <a:t>DUT reading (example)</a:t>
            </a:r>
            <a:endParaRPr lang="en-US" sz="950" dirty="0"/>
          </a:p>
        </p:txBody>
      </p:sp>
      <p:sp>
        <p:nvSpPr>
          <p:cNvPr id="20" name="DUT reading label"/>
          <p:cNvSpPr txBox="1"/>
          <p:nvPr/>
        </p:nvSpPr>
        <p:spPr>
          <a:xfrm>
            <a:off x="9348366" y="2917785"/>
            <a:ext cx="1920240" cy="228600"/>
          </a:xfrm>
          <a:prstGeom prst="rect">
            <a:avLst/>
          </a:prstGeom>
          <a:noFill/>
          <a:ln/>
        </p:spPr>
        <p:txBody>
          <a:bodyPr wrap="square" lIns="0" tIns="0" rIns="0" bIns="0" rtlCol="0" anchor="ctr"/>
          <a:lstStyle/>
          <a:p>
            <a:pPr indent="0" marL="0">
              <a:buNone/>
            </a:pPr>
            <a:r>
              <a:rPr lang="en-US" sz="1000" b="1" dirty="0">
                <a:solidFill>
                  <a:schemeClr val="accent1"/>
                </a:solidFill>
              </a:rPr>
              <a:t>DUT: s = 2.11 mK/s → P = 7.4 W</a:t>
            </a:r>
            <a:endParaRPr lang="en-US" sz="1000" dirty="0"/>
          </a:p>
        </p:txBody>
      </p:sp>
      <p:sp>
        <p:nvSpPr>
          <p:cNvPr id="21" name="Model footnote"/>
          <p:cNvSpPr txBox="1"/>
          <p:nvPr/>
        </p:nvSpPr>
        <p:spPr>
          <a:xfrm>
            <a:off x="548640" y="4480560"/>
            <a:ext cx="5486400" cy="310896"/>
          </a:xfrm>
          <a:prstGeom prst="rect">
            <a:avLst/>
          </a:prstGeom>
          <a:noFill/>
          <a:ln/>
        </p:spPr>
        <p:txBody>
          <a:bodyPr wrap="square" lIns="0" tIns="0" rIns="0" bIns="0" rtlCol="0" anchor="t"/>
          <a:lstStyle/>
          <a:p>
            <a:pPr indent="0" marL="0">
              <a:buNone/>
            </a:pPr>
            <a:r>
              <a:rPr lang="en-US" sz="900" dirty="0">
                <a:solidFill>
                  <a:schemeClr val="accent3"/>
                </a:solidFill>
              </a:rPr>
              <a:t>Model illustration, not poster data: ΔT(t) = (P/C</a:t>
            </a:r>
            <a:pPr indent="0" marL="0">
              <a:buNone/>
            </a:pPr>
            <a:r>
              <a:rPr lang="en-US" sz="900" baseline="-40000" dirty="0">
                <a:solidFill>
                  <a:schemeClr val="accent3"/>
                </a:solidFill>
              </a:rPr>
              <a:t>eq</a:t>
            </a:r>
            <a:pPr indent="0" marL="0">
              <a:buNone/>
            </a:pPr>
            <a:r>
              <a:rPr lang="en-US" sz="900" dirty="0">
                <a:solidFill>
                  <a:schemeClr val="accent3"/>
                </a:solidFill>
              </a:rPr>
              <a:t>)·[t − τ(1 − e^(−t/τ))] with C</a:t>
            </a:r>
            <a:pPr indent="0" marL="0">
              <a:buNone/>
            </a:pPr>
            <a:r>
              <a:rPr lang="en-US" sz="900" baseline="-40000" dirty="0">
                <a:solidFill>
                  <a:schemeClr val="accent3"/>
                </a:solidFill>
              </a:rPr>
              <a:t>eq</a:t>
            </a:r>
            <a:pPr indent="0" marL="0">
              <a:buNone/>
            </a:pPr>
            <a:r>
              <a:rPr lang="en-US" sz="900" dirty="0">
                <a:solidFill>
                  <a:schemeClr val="accent3"/>
                </a:solidFill>
              </a:rPr>
              <a:t> = 3.5 kJ/K, τ = 8 s (first-order lag between heat source and liquid).</a:t>
            </a:r>
            <a:endParaRPr lang="en-US" sz="900" dirty="0"/>
          </a:p>
        </p:txBody>
      </p:sp>
      <p:sp>
        <p:nvSpPr>
          <p:cNvPr id="22" name="Accuracy note"/>
          <p:cNvSpPr txBox="1"/>
          <p:nvPr/>
        </p:nvSpPr>
        <p:spPr>
          <a:xfrm>
            <a:off x="6263640" y="4480560"/>
            <a:ext cx="5376672" cy="310896"/>
          </a:xfrm>
          <a:prstGeom prst="rect">
            <a:avLst/>
          </a:prstGeom>
          <a:noFill/>
          <a:ln/>
        </p:spPr>
        <p:txBody>
          <a:bodyPr wrap="square" lIns="0" tIns="0" rIns="0" bIns="0" rtlCol="0" anchor="t"/>
          <a:lstStyle/>
          <a:p>
            <a:pPr indent="0" marL="0">
              <a:buNone/>
            </a:pPr>
            <a:r>
              <a:rPr lang="en-US" sz="950" b="1" dirty="0">
                <a:solidFill>
                  <a:schemeClr val="accent1"/>
                </a:solidFill>
              </a:rPr>
              <a:t>Accuracy measures from the poster: every run starts at 35 °C · DUT stays submerged during calibration (its heat capacity counts) · continuous stirring.</a:t>
            </a:r>
            <a:endParaRPr lang="en-US" sz="950" dirty="0"/>
          </a:p>
        </p:txBody>
      </p:sp>
      <p:sp>
        <p:nvSpPr>
          <p:cNvPr id="23" name="Procedure card 1"/>
          <p:cNvSpPr/>
          <p:nvPr/>
        </p:nvSpPr>
        <p:spPr>
          <a:xfrm>
            <a:off x="548640" y="4873752"/>
            <a:ext cx="2567178" cy="1389888"/>
          </a:xfrm>
          <a:prstGeom prst="roundRect">
            <a:avLst>
              <a:gd name="adj" fmla="val 6579"/>
            </a:avLst>
          </a:prstGeom>
          <a:solidFill>
            <a:schemeClr val="bg2"/>
          </a:solidFill>
          <a:ln/>
        </p:spPr>
      </p:sp>
      <p:sp>
        <p:nvSpPr>
          <p:cNvPr id="24" name="Procedure step 1"/>
          <p:cNvSpPr/>
          <p:nvPr/>
        </p:nvSpPr>
        <p:spPr>
          <a:xfrm>
            <a:off x="731520" y="5056632"/>
            <a:ext cx="384048" cy="384048"/>
          </a:xfrm>
          <a:prstGeom prst="ellipse">
            <a:avLst/>
          </a:prstGeom>
          <a:solidFill>
            <a:schemeClr val="accent2"/>
          </a:solidFill>
          <a:ln/>
        </p:spPr>
      </p:sp>
      <p:sp>
        <p:nvSpPr>
          <p:cNvPr id="25" name="Procedure step 1 number"/>
          <p:cNvSpPr txBox="1"/>
          <p:nvPr/>
        </p:nvSpPr>
        <p:spPr>
          <a:xfrm>
            <a:off x="731520" y="5056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6" name="Procedure title 1"/>
          <p:cNvSpPr txBox="1"/>
          <p:nvPr/>
        </p:nvSpPr>
        <p:spPr>
          <a:xfrm>
            <a:off x="1234440" y="5056632"/>
            <a:ext cx="1698498" cy="384048"/>
          </a:xfrm>
          <a:prstGeom prst="rect">
            <a:avLst/>
          </a:prstGeom>
          <a:noFill/>
          <a:ln/>
        </p:spPr>
        <p:txBody>
          <a:bodyPr wrap="square" lIns="0" tIns="0" rIns="0" bIns="0" rtlCol="0" anchor="ctr"/>
          <a:lstStyle/>
          <a:p>
            <a:pPr indent="0" marL="0">
              <a:buNone/>
            </a:pPr>
            <a:r>
              <a:rPr lang="en-US" sz="1400" b="1" dirty="0">
                <a:solidFill>
                  <a:schemeClr val="tx2"/>
                </a:solidFill>
              </a:rPr>
              <a:t>Calibrate</a:t>
            </a:r>
            <a:endParaRPr lang="en-US" sz="1400" dirty="0"/>
          </a:p>
        </p:txBody>
      </p:sp>
      <p:sp>
        <p:nvSpPr>
          <p:cNvPr id="27" name="Procedure text 1"/>
          <p:cNvSpPr txBox="1"/>
          <p:nvPr/>
        </p:nvSpPr>
        <p:spPr>
          <a:xfrm>
            <a:off x="731520" y="5532120"/>
            <a:ext cx="2201418" cy="658368"/>
          </a:xfrm>
          <a:prstGeom prst="rect">
            <a:avLst/>
          </a:prstGeom>
          <a:noFill/>
          <a:ln/>
        </p:spPr>
        <p:txBody>
          <a:bodyPr wrap="square" lIns="0" tIns="0" rIns="0" bIns="0" rtlCol="0" anchor="t"/>
          <a:lstStyle/>
          <a:p>
            <a:pPr indent="0" marL="0">
              <a:buNone/>
            </a:pPr>
            <a:r>
              <a:rPr lang="en-US" sz="1100" dirty="0">
                <a:solidFill>
                  <a:schemeClr val="tx1"/>
                </a:solidFill>
              </a:rPr>
              <a:t>Heat the liquid with the resistor at known DC power (2 … 13 W), DUT submerged.</a:t>
            </a:r>
            <a:endParaRPr lang="en-US" sz="1100" dirty="0"/>
          </a:p>
        </p:txBody>
      </p:sp>
      <p:sp>
        <p:nvSpPr>
          <p:cNvPr id="28" name="Procedure card 2"/>
          <p:cNvSpPr/>
          <p:nvPr/>
        </p:nvSpPr>
        <p:spPr>
          <a:xfrm>
            <a:off x="3390138" y="4873752"/>
            <a:ext cx="2567178" cy="1389888"/>
          </a:xfrm>
          <a:prstGeom prst="roundRect">
            <a:avLst>
              <a:gd name="adj" fmla="val 6579"/>
            </a:avLst>
          </a:prstGeom>
          <a:solidFill>
            <a:schemeClr val="bg2"/>
          </a:solidFill>
          <a:ln/>
        </p:spPr>
      </p:sp>
      <p:sp>
        <p:nvSpPr>
          <p:cNvPr id="29" name="Procedure step 2"/>
          <p:cNvSpPr/>
          <p:nvPr/>
        </p:nvSpPr>
        <p:spPr>
          <a:xfrm>
            <a:off x="3573018" y="5056632"/>
            <a:ext cx="384048" cy="384048"/>
          </a:xfrm>
          <a:prstGeom prst="ellipse">
            <a:avLst/>
          </a:prstGeom>
          <a:solidFill>
            <a:schemeClr val="accent2"/>
          </a:solidFill>
          <a:ln/>
        </p:spPr>
      </p:sp>
      <p:sp>
        <p:nvSpPr>
          <p:cNvPr id="30" name="Procedure step 2 number"/>
          <p:cNvSpPr txBox="1"/>
          <p:nvPr/>
        </p:nvSpPr>
        <p:spPr>
          <a:xfrm>
            <a:off x="3573018" y="5056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1" name="Procedure title 2"/>
          <p:cNvSpPr txBox="1"/>
          <p:nvPr/>
        </p:nvSpPr>
        <p:spPr>
          <a:xfrm>
            <a:off x="4075938" y="5056632"/>
            <a:ext cx="1698498" cy="384048"/>
          </a:xfrm>
          <a:prstGeom prst="rect">
            <a:avLst/>
          </a:prstGeom>
          <a:noFill/>
          <a:ln/>
        </p:spPr>
        <p:txBody>
          <a:bodyPr wrap="square" lIns="0" tIns="0" rIns="0" bIns="0" rtlCol="0" anchor="ctr"/>
          <a:lstStyle/>
          <a:p>
            <a:pPr indent="0" marL="0">
              <a:buNone/>
            </a:pPr>
            <a:r>
              <a:rPr lang="en-US" sz="1400" b="1" dirty="0">
                <a:solidFill>
                  <a:schemeClr val="tx2"/>
                </a:solidFill>
              </a:rPr>
              <a:t>Fit</a:t>
            </a:r>
            <a:endParaRPr lang="en-US" sz="1400" dirty="0"/>
          </a:p>
        </p:txBody>
      </p:sp>
      <p:sp>
        <p:nvSpPr>
          <p:cNvPr id="32" name="Procedure text 2"/>
          <p:cNvSpPr txBox="1"/>
          <p:nvPr/>
        </p:nvSpPr>
        <p:spPr>
          <a:xfrm>
            <a:off x="3573018" y="5532120"/>
            <a:ext cx="2201418" cy="658368"/>
          </a:xfrm>
          <a:prstGeom prst="rect">
            <a:avLst/>
          </a:prstGeom>
          <a:noFill/>
          <a:ln/>
        </p:spPr>
        <p:txBody>
          <a:bodyPr wrap="square" lIns="0" tIns="0" rIns="0" bIns="0" rtlCol="0" anchor="t"/>
          <a:lstStyle/>
          <a:p>
            <a:pPr indent="0" marL="0">
              <a:buNone/>
            </a:pPr>
            <a:r>
              <a:rPr lang="en-US" sz="1100" dirty="0">
                <a:solidFill>
                  <a:schemeClr val="tx1"/>
                </a:solidFill>
              </a:rPr>
              <a:t>Use only the linear part of each ΔT(t) record → slope s = ΔT/Δt for every power.</a:t>
            </a:r>
            <a:endParaRPr lang="en-US" sz="1100" dirty="0"/>
          </a:p>
        </p:txBody>
      </p:sp>
      <p:sp>
        <p:nvSpPr>
          <p:cNvPr id="33" name="Procedure card 3"/>
          <p:cNvSpPr/>
          <p:nvPr/>
        </p:nvSpPr>
        <p:spPr>
          <a:xfrm>
            <a:off x="6231636" y="4873752"/>
            <a:ext cx="2567178" cy="1389888"/>
          </a:xfrm>
          <a:prstGeom prst="roundRect">
            <a:avLst>
              <a:gd name="adj" fmla="val 6579"/>
            </a:avLst>
          </a:prstGeom>
          <a:solidFill>
            <a:schemeClr val="bg2"/>
          </a:solidFill>
          <a:ln/>
        </p:spPr>
      </p:sp>
      <p:sp>
        <p:nvSpPr>
          <p:cNvPr id="34" name="Procedure step 3"/>
          <p:cNvSpPr/>
          <p:nvPr/>
        </p:nvSpPr>
        <p:spPr>
          <a:xfrm>
            <a:off x="6414516" y="5056632"/>
            <a:ext cx="384048" cy="384048"/>
          </a:xfrm>
          <a:prstGeom prst="ellipse">
            <a:avLst/>
          </a:prstGeom>
          <a:solidFill>
            <a:schemeClr val="accent2"/>
          </a:solidFill>
          <a:ln/>
        </p:spPr>
      </p:sp>
      <p:sp>
        <p:nvSpPr>
          <p:cNvPr id="35" name="Procedure step 3 number"/>
          <p:cNvSpPr txBox="1"/>
          <p:nvPr/>
        </p:nvSpPr>
        <p:spPr>
          <a:xfrm>
            <a:off x="6414516" y="5056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6" name="Procedure title 3"/>
          <p:cNvSpPr txBox="1"/>
          <p:nvPr/>
        </p:nvSpPr>
        <p:spPr>
          <a:xfrm>
            <a:off x="6917436" y="5056632"/>
            <a:ext cx="1698498" cy="384048"/>
          </a:xfrm>
          <a:prstGeom prst="rect">
            <a:avLst/>
          </a:prstGeom>
          <a:noFill/>
          <a:ln/>
        </p:spPr>
        <p:txBody>
          <a:bodyPr wrap="square" lIns="0" tIns="0" rIns="0" bIns="0" rtlCol="0" anchor="ctr"/>
          <a:lstStyle/>
          <a:p>
            <a:pPr indent="0" marL="0">
              <a:buNone/>
            </a:pPr>
            <a:r>
              <a:rPr lang="en-US" sz="1400" b="1" dirty="0">
                <a:solidFill>
                  <a:schemeClr val="tx2"/>
                </a:solidFill>
              </a:rPr>
              <a:t>Measure</a:t>
            </a:r>
            <a:endParaRPr lang="en-US" sz="1400" dirty="0"/>
          </a:p>
        </p:txBody>
      </p:sp>
      <p:sp>
        <p:nvSpPr>
          <p:cNvPr id="37" name="Procedure text 3"/>
          <p:cNvSpPr txBox="1"/>
          <p:nvPr/>
        </p:nvSpPr>
        <p:spPr>
          <a:xfrm>
            <a:off x="6414516" y="5532120"/>
            <a:ext cx="2201418" cy="658368"/>
          </a:xfrm>
          <a:prstGeom prst="rect">
            <a:avLst/>
          </a:prstGeom>
          <a:noFill/>
          <a:ln/>
        </p:spPr>
        <p:txBody>
          <a:bodyPr wrap="square" lIns="0" tIns="0" rIns="0" bIns="0" rtlCol="0" anchor="t"/>
          <a:lstStyle/>
          <a:p>
            <a:pPr indent="0" marL="0">
              <a:buNone/>
            </a:pPr>
            <a:r>
              <a:rPr lang="en-US" sz="1100" dirty="0">
                <a:solidFill>
                  <a:schemeClr val="tx1"/>
                </a:solidFill>
              </a:rPr>
              <a:t>Operate the DUT in the converter exactly as in normal operation; record its slope.</a:t>
            </a:r>
            <a:endParaRPr lang="en-US" sz="1100" dirty="0"/>
          </a:p>
        </p:txBody>
      </p:sp>
      <p:sp>
        <p:nvSpPr>
          <p:cNvPr id="38" name="Procedure card 4"/>
          <p:cNvSpPr/>
          <p:nvPr/>
        </p:nvSpPr>
        <p:spPr>
          <a:xfrm>
            <a:off x="9073134" y="4873752"/>
            <a:ext cx="2567178" cy="1389888"/>
          </a:xfrm>
          <a:prstGeom prst="roundRect">
            <a:avLst>
              <a:gd name="adj" fmla="val 6579"/>
            </a:avLst>
          </a:prstGeom>
          <a:solidFill>
            <a:schemeClr val="bg2"/>
          </a:solidFill>
          <a:ln/>
        </p:spPr>
      </p:sp>
      <p:sp>
        <p:nvSpPr>
          <p:cNvPr id="39" name="Procedure step 4"/>
          <p:cNvSpPr/>
          <p:nvPr/>
        </p:nvSpPr>
        <p:spPr>
          <a:xfrm>
            <a:off x="9256014" y="5056632"/>
            <a:ext cx="384048" cy="384048"/>
          </a:xfrm>
          <a:prstGeom prst="ellipse">
            <a:avLst/>
          </a:prstGeom>
          <a:solidFill>
            <a:schemeClr val="accent2"/>
          </a:solidFill>
          <a:ln/>
        </p:spPr>
      </p:sp>
      <p:sp>
        <p:nvSpPr>
          <p:cNvPr id="40" name="Procedure step 4 number"/>
          <p:cNvSpPr txBox="1"/>
          <p:nvPr/>
        </p:nvSpPr>
        <p:spPr>
          <a:xfrm>
            <a:off x="9256014" y="5056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1" name="Procedure title 4"/>
          <p:cNvSpPr txBox="1"/>
          <p:nvPr/>
        </p:nvSpPr>
        <p:spPr>
          <a:xfrm>
            <a:off x="9758934" y="5056632"/>
            <a:ext cx="1698498" cy="384048"/>
          </a:xfrm>
          <a:prstGeom prst="rect">
            <a:avLst/>
          </a:prstGeom>
          <a:noFill/>
          <a:ln/>
        </p:spPr>
        <p:txBody>
          <a:bodyPr wrap="square" lIns="0" tIns="0" rIns="0" bIns="0" rtlCol="0" anchor="ctr"/>
          <a:lstStyle/>
          <a:p>
            <a:pPr indent="0" marL="0">
              <a:buNone/>
            </a:pPr>
            <a:r>
              <a:rPr lang="en-US" sz="1400" b="1" dirty="0">
                <a:solidFill>
                  <a:schemeClr val="tx2"/>
                </a:solidFill>
              </a:rPr>
              <a:t>Read off</a:t>
            </a:r>
            <a:endParaRPr lang="en-US" sz="1400" dirty="0"/>
          </a:p>
        </p:txBody>
      </p:sp>
      <p:sp>
        <p:nvSpPr>
          <p:cNvPr id="42" name="Procedure text 4"/>
          <p:cNvSpPr txBox="1"/>
          <p:nvPr/>
        </p:nvSpPr>
        <p:spPr>
          <a:xfrm>
            <a:off x="9256014" y="5532120"/>
            <a:ext cx="2201418" cy="658368"/>
          </a:xfrm>
          <a:prstGeom prst="rect">
            <a:avLst/>
          </a:prstGeom>
          <a:noFill/>
          <a:ln/>
        </p:spPr>
        <p:txBody>
          <a:bodyPr wrap="square" lIns="0" tIns="0" rIns="0" bIns="0" rtlCol="0" anchor="t"/>
          <a:lstStyle/>
          <a:p>
            <a:pPr indent="0" marL="0">
              <a:buNone/>
            </a:pPr>
            <a:r>
              <a:rPr lang="en-US" sz="1100" dirty="0">
                <a:solidFill>
                  <a:schemeClr val="tx1"/>
                </a:solidFill>
              </a:rPr>
              <a:t>P</a:t>
            </a:r>
            <a:pPr indent="0" marL="0">
              <a:buNone/>
            </a:pPr>
            <a:r>
              <a:rPr lang="en-US" sz="1100" baseline="-40000" dirty="0">
                <a:solidFill>
                  <a:schemeClr val="tx1"/>
                </a:solidFill>
              </a:rPr>
              <a:t>DUT</a:t>
            </a:r>
            <a:pPr indent="0" marL="0">
              <a:buNone/>
            </a:pPr>
            <a:r>
              <a:rPr lang="en-US" sz="1100" dirty="0">
                <a:solidFill>
                  <a:schemeClr val="tx1"/>
                </a:solidFill>
              </a:rPr>
              <a:t> follows from the calibration line, interpolating between calibrated slopes.</a:t>
            </a:r>
            <a:endParaRPr lang="en-US" sz="11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000" b="1" dirty="0">
                <a:solidFill>
                  <a:schemeClr val="tx2"/>
                </a:solidFill>
              </a:rPr>
              <a:t>Results: simulation vs. calorimetric measurement</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500" dirty="0">
                <a:solidFill>
                  <a:schemeClr val="accent1"/>
                </a:solidFill>
              </a:rPr>
              <a:t>Litz-wire loss is predicted within ≈ 1 %; the extra loss of solid wire is under-estimated by ≈ 8 %</a:t>
            </a:r>
            <a:endParaRPr lang="en-US" sz="1500" dirty="0"/>
          </a:p>
        </p:txBody>
      </p:sp>
      <p:sp>
        <p:nvSpPr>
          <p:cNvPr id="4" name="Results chart card"/>
          <p:cNvSpPr/>
          <p:nvPr/>
        </p:nvSpPr>
        <p:spPr>
          <a:xfrm>
            <a:off x="548640" y="1463040"/>
            <a:ext cx="5577840" cy="4800600"/>
          </a:xfrm>
          <a:prstGeom prst="roundRect">
            <a:avLst>
              <a:gd name="adj" fmla="val 1905"/>
            </a:avLst>
          </a:prstGeom>
          <a:solidFill>
            <a:schemeClr val="bg2"/>
          </a:solidFill>
          <a:ln/>
        </p:spPr>
      </p:sp>
      <p:sp>
        <p:nvSpPr>
          <p:cNvPr id="5" name="Results chart title"/>
          <p:cNvSpPr txBox="1"/>
          <p:nvPr/>
        </p:nvSpPr>
        <p:spPr>
          <a:xfrm>
            <a:off x="777240" y="1536192"/>
            <a:ext cx="5120640" cy="292608"/>
          </a:xfrm>
          <a:prstGeom prst="rect">
            <a:avLst/>
          </a:prstGeom>
          <a:noFill/>
          <a:ln/>
        </p:spPr>
        <p:txBody>
          <a:bodyPr wrap="square" lIns="0" tIns="0" rIns="0" bIns="0" rtlCol="0" anchor="ctr"/>
          <a:lstStyle/>
          <a:p>
            <a:pPr indent="0" marL="0">
              <a:buNone/>
            </a:pPr>
            <a:r>
              <a:rPr lang="en-US" sz="1300" b="1" dirty="0">
                <a:solidFill>
                  <a:schemeClr val="tx2"/>
                </a:solidFill>
              </a:rPr>
              <a:t>Inductor loss — RM14LP, 400 kHz, ≈ 880 W</a:t>
            </a:r>
            <a:endParaRPr lang="en-US" sz="1300" dirty="0"/>
          </a:p>
        </p:txBody>
      </p:sp>
      <p:graphicFrame>
        <p:nvGraphicFramePr>
          <p:cNvPr id="6" name="Results bar chart" descr="Clustered columns: solid wire simulated 6.75 W vs measured 7.37 W; litz wire simulated 6.70 W vs measured 6.67 W."/>
          <p:cNvGraphicFramePr/>
          <p:nvPr/>
        </p:nvGraphicFramePr>
        <p:xfrm>
          <a:off x="640080" y="1847088"/>
          <a:ext cx="539496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Measurement table"/>
          <p:cNvGraphicFramePr>
            <a:graphicFrameLocks noGrp="1"/>
          </p:cNvGraphicFramePr>
          <p:nvPr>
            <p:extLst>
              <p:ext uri="{D42A27DB-BD31-4B8C-83A1-F6EECF244321}">
                <p14:modId xmlns:p14="http://schemas.microsoft.com/office/powerpoint/2010/main" val="1579011935"/>
              </p:ext>
            </p:extLst>
          </p:nvPr>
        </p:nvGraphicFramePr>
        <p:xfrm>
          <a:off x="777240" y="4818888"/>
          <a:ext cx="5120640" cy="914400"/>
        </p:xfrm>
        <a:graphic>
          <a:graphicData uri="http://schemas.openxmlformats.org/drawingml/2006/table">
            <a:tbl>
              <a:tblPr/>
              <a:tblGrid>
                <a:gridCol w="777240"/>
                <a:gridCol w="594360"/>
                <a:gridCol w="594360"/>
                <a:gridCol w="594360"/>
                <a:gridCol w="685800"/>
                <a:gridCol w="822960"/>
                <a:gridCol w="1051560"/>
              </a:tblGrid>
              <a:tr h="283464">
                <a:tc>
                  <a:txBody>
                    <a:bodyPr/>
                    <a:lstStyle/>
                    <a:p>
                      <a:pPr algn="ctr" indent="0" marL="0">
                        <a:buNone/>
                      </a:pPr>
                      <a:r>
                        <a:rPr lang="en-US" sz="1050" b="1" dirty="0">
                          <a:solidFill>
                            <a:schemeClr val="bg1"/>
                          </a:solidFill>
                        </a:rPr>
                        <a:t>Wire</a:t>
                      </a:r>
                      <a:endParaRPr lang="en-US" sz="105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Run 1</a:t>
                      </a:r>
                      <a:endParaRPr lang="en-US" sz="105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Run 2</a:t>
                      </a:r>
                      <a:endParaRPr lang="en-US" sz="105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Run 3</a:t>
                      </a:r>
                      <a:endParaRPr lang="en-US" sz="105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Mean</a:t>
                      </a:r>
                      <a:endParaRPr lang="en-US" sz="105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Simulated</a:t>
                      </a:r>
                      <a:endParaRPr lang="en-US" sz="105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Sim. vs. mean</a:t>
                      </a:r>
                      <a:endParaRPr lang="en-US" sz="105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2"/>
                    </a:solidFill>
                  </a:tcPr>
                </a:tc>
              </a:tr>
              <a:tr h="283464">
                <a:tc>
                  <a:txBody>
                    <a:bodyPr/>
                    <a:lstStyle/>
                    <a:p>
                      <a:pPr algn="l" indent="0" marL="0">
                        <a:buNone/>
                      </a:pPr>
                      <a:r>
                        <a:rPr lang="en-US" sz="1100" b="1" dirty="0">
                          <a:solidFill>
                            <a:schemeClr val="tx1"/>
                          </a:solidFill>
                        </a:rPr>
                        <a:t>Solid</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7.3</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7.4</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7.4</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7.37</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6.75</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6"/>
                          </a:solidFill>
                        </a:rPr>
                        <a:t>−8.4 %</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r>
              <a:tr h="283464">
                <a:tc>
                  <a:txBody>
                    <a:bodyPr/>
                    <a:lstStyle/>
                    <a:p>
                      <a:pPr algn="l" indent="0" marL="0">
                        <a:buNone/>
                      </a:pPr>
                      <a:r>
                        <a:rPr lang="en-US" sz="1100" b="1" dirty="0">
                          <a:solidFill>
                            <a:schemeClr val="tx1"/>
                          </a:solidFill>
                        </a:rPr>
                        <a:t>Litz</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6.7</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6.7</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6.6</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6.67</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6.70</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accent5"/>
                          </a:solidFill>
                        </a:rPr>
                        <a:t>+0.5 %</a:t>
                      </a:r>
                      <a:endParaRPr lang="en-US" sz="1100" dirty="0"/>
                    </a:p>
                  </a:txBody>
                  <a:tcPr marL="73152" marR="73152" marT="27432" marB="2743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bg1"/>
                    </a:solidFill>
                  </a:tcPr>
                </a:tc>
              </a:tr>
            </a:tbl>
          </a:graphicData>
        </a:graphic>
      </p:graphicFrame>
      <p:sp>
        <p:nvSpPr>
          <p:cNvPr id="8" name="Table note"/>
          <p:cNvSpPr txBox="1"/>
          <p:nvPr/>
        </p:nvSpPr>
        <p:spPr>
          <a:xfrm>
            <a:off x="777240" y="5760720"/>
            <a:ext cx="5120640" cy="384048"/>
          </a:xfrm>
          <a:prstGeom prst="rect">
            <a:avLst/>
          </a:prstGeom>
          <a:noFill/>
          <a:ln/>
        </p:spPr>
        <p:txBody>
          <a:bodyPr wrap="square" lIns="0" tIns="0" rIns="0" bIns="0" rtlCol="0" anchor="t"/>
          <a:lstStyle/>
          <a:p>
            <a:pPr indent="0" marL="0">
              <a:buNone/>
            </a:pPr>
            <a:r>
              <a:rPr lang="en-US" sz="900" dirty="0">
                <a:solidFill>
                  <a:schemeClr val="accent3"/>
                </a:solidFill>
              </a:rPr>
              <a:t>Calorimetric runs from the poster; all values in W. Deviation = (simulated − measured mean) / measured mean.</a:t>
            </a:r>
            <a:endParaRPr lang="en-US" sz="900" dirty="0"/>
          </a:p>
        </p:txBody>
      </p:sp>
      <p:sp>
        <p:nvSpPr>
          <p:cNvPr id="9" name="Deviation card 1"/>
          <p:cNvSpPr/>
          <p:nvPr/>
        </p:nvSpPr>
        <p:spPr>
          <a:xfrm>
            <a:off x="6355080" y="1463040"/>
            <a:ext cx="2505456" cy="1325880"/>
          </a:xfrm>
          <a:prstGeom prst="roundRect">
            <a:avLst>
              <a:gd name="adj" fmla="val 6897"/>
            </a:avLst>
          </a:prstGeom>
          <a:solidFill>
            <a:schemeClr val="bg2"/>
          </a:solidFill>
          <a:ln/>
        </p:spPr>
      </p:sp>
      <p:sp>
        <p:nvSpPr>
          <p:cNvPr id="10" name="Deviation wire 1"/>
          <p:cNvSpPr txBox="1"/>
          <p:nvPr/>
        </p:nvSpPr>
        <p:spPr>
          <a:xfrm>
            <a:off x="6537960" y="1554480"/>
            <a:ext cx="2139696" cy="201168"/>
          </a:xfrm>
          <a:prstGeom prst="rect">
            <a:avLst/>
          </a:prstGeom>
          <a:noFill/>
          <a:ln/>
        </p:spPr>
        <p:txBody>
          <a:bodyPr wrap="square" lIns="0" tIns="0" rIns="0" bIns="0" rtlCol="0" anchor="ctr"/>
          <a:lstStyle/>
          <a:p>
            <a:pPr indent="0" marL="0">
              <a:buNone/>
            </a:pPr>
            <a:r>
              <a:rPr lang="en-US" sz="1000" b="1" spc="200" kern="0" dirty="0">
                <a:solidFill>
                  <a:schemeClr val="tx2"/>
                </a:solidFill>
              </a:rPr>
              <a:t>LITZ WIRE</a:t>
            </a:r>
            <a:endParaRPr lang="en-US" sz="1000" dirty="0"/>
          </a:p>
        </p:txBody>
      </p:sp>
      <p:sp>
        <p:nvSpPr>
          <p:cNvPr id="11" name="Deviation value 1"/>
          <p:cNvSpPr txBox="1"/>
          <p:nvPr/>
        </p:nvSpPr>
        <p:spPr>
          <a:xfrm>
            <a:off x="6537960" y="1755648"/>
            <a:ext cx="2139696" cy="530352"/>
          </a:xfrm>
          <a:prstGeom prst="rect">
            <a:avLst/>
          </a:prstGeom>
          <a:noFill/>
          <a:ln/>
        </p:spPr>
        <p:txBody>
          <a:bodyPr wrap="square" lIns="0" tIns="0" rIns="0" bIns="0" rtlCol="0" anchor="ctr"/>
          <a:lstStyle/>
          <a:p>
            <a:pPr indent="0" marL="0">
              <a:buNone/>
            </a:pPr>
            <a:r>
              <a:rPr lang="en-US" sz="3200" b="1" dirty="0">
                <a:solidFill>
                  <a:schemeClr val="accent5"/>
                </a:solidFill>
                <a:latin typeface="+mj-lt" pitchFamily="34" charset="0"/>
                <a:ea typeface="+mj-lt" pitchFamily="34" charset="-122"/>
                <a:cs typeface="+mj-lt" pitchFamily="34" charset="-120"/>
              </a:rPr>
              <a:t>+0.5 %</a:t>
            </a:r>
            <a:endParaRPr lang="en-US" sz="3200" dirty="0"/>
          </a:p>
        </p:txBody>
      </p:sp>
      <p:sp>
        <p:nvSpPr>
          <p:cNvPr id="12" name="Deviation label 1"/>
          <p:cNvSpPr txBox="1"/>
          <p:nvPr/>
        </p:nvSpPr>
        <p:spPr>
          <a:xfrm>
            <a:off x="6537960" y="2313432"/>
            <a:ext cx="2139696" cy="411480"/>
          </a:xfrm>
          <a:prstGeom prst="rect">
            <a:avLst/>
          </a:prstGeom>
          <a:noFill/>
          <a:ln/>
        </p:spPr>
        <p:txBody>
          <a:bodyPr wrap="square" lIns="0" tIns="0" rIns="0" bIns="0" rtlCol="0" anchor="t"/>
          <a:lstStyle/>
          <a:p>
            <a:pPr indent="0" marL="0">
              <a:buNone/>
            </a:pPr>
            <a:r>
              <a:rPr lang="en-US" sz="1050" dirty="0">
                <a:solidFill>
                  <a:schemeClr val="tx1"/>
                </a:solidFill>
              </a:rPr>
              <a:t>simulated vs. measured mean</a:t>
            </a:r>
            <a:endParaRPr lang="en-US" sz="1050" dirty="0"/>
          </a:p>
          <a:p>
            <a:pPr indent="0" marL="0">
              <a:buNone/>
            </a:pPr>
            <a:r>
              <a:rPr lang="en-US" sz="1050" dirty="0">
                <a:solidFill>
                  <a:schemeClr val="tx1"/>
                </a:solidFill>
              </a:rPr>
              <a:t>per run: 0 … +1.5 %</a:t>
            </a:r>
            <a:endParaRPr lang="en-US" sz="1050" dirty="0"/>
          </a:p>
        </p:txBody>
      </p:sp>
      <p:sp>
        <p:nvSpPr>
          <p:cNvPr id="13" name="Deviation card 2"/>
          <p:cNvSpPr/>
          <p:nvPr/>
        </p:nvSpPr>
        <p:spPr>
          <a:xfrm>
            <a:off x="9134856" y="1463040"/>
            <a:ext cx="2505456" cy="1325880"/>
          </a:xfrm>
          <a:prstGeom prst="roundRect">
            <a:avLst>
              <a:gd name="adj" fmla="val 6897"/>
            </a:avLst>
          </a:prstGeom>
          <a:solidFill>
            <a:schemeClr val="bg2"/>
          </a:solidFill>
          <a:ln/>
        </p:spPr>
      </p:sp>
      <p:sp>
        <p:nvSpPr>
          <p:cNvPr id="14" name="Deviation wire 2"/>
          <p:cNvSpPr txBox="1"/>
          <p:nvPr/>
        </p:nvSpPr>
        <p:spPr>
          <a:xfrm>
            <a:off x="9317736" y="1554480"/>
            <a:ext cx="2139696" cy="201168"/>
          </a:xfrm>
          <a:prstGeom prst="rect">
            <a:avLst/>
          </a:prstGeom>
          <a:noFill/>
          <a:ln/>
        </p:spPr>
        <p:txBody>
          <a:bodyPr wrap="square" lIns="0" tIns="0" rIns="0" bIns="0" rtlCol="0" anchor="ctr"/>
          <a:lstStyle/>
          <a:p>
            <a:pPr indent="0" marL="0">
              <a:buNone/>
            </a:pPr>
            <a:r>
              <a:rPr lang="en-US" sz="1000" b="1" spc="200" kern="0" dirty="0">
                <a:solidFill>
                  <a:schemeClr val="tx2"/>
                </a:solidFill>
              </a:rPr>
              <a:t>SOLID WIRE</a:t>
            </a:r>
            <a:endParaRPr lang="en-US" sz="1000" dirty="0"/>
          </a:p>
        </p:txBody>
      </p:sp>
      <p:sp>
        <p:nvSpPr>
          <p:cNvPr id="15" name="Deviation value 2"/>
          <p:cNvSpPr txBox="1"/>
          <p:nvPr/>
        </p:nvSpPr>
        <p:spPr>
          <a:xfrm>
            <a:off x="9317736" y="1755648"/>
            <a:ext cx="2139696" cy="530352"/>
          </a:xfrm>
          <a:prstGeom prst="rect">
            <a:avLst/>
          </a:prstGeom>
          <a:noFill/>
          <a:ln/>
        </p:spPr>
        <p:txBody>
          <a:bodyPr wrap="square" lIns="0" tIns="0" rIns="0" bIns="0" rtlCol="0" anchor="ctr"/>
          <a:lstStyle/>
          <a:p>
            <a:pPr indent="0" marL="0">
              <a:buNone/>
            </a:pPr>
            <a:r>
              <a:rPr lang="en-US" sz="3200" b="1" dirty="0">
                <a:solidFill>
                  <a:schemeClr val="accent6"/>
                </a:solidFill>
                <a:latin typeface="+mj-lt" pitchFamily="34" charset="0"/>
                <a:ea typeface="+mj-lt" pitchFamily="34" charset="-122"/>
                <a:cs typeface="+mj-lt" pitchFamily="34" charset="-120"/>
              </a:rPr>
              <a:t>−8.4 %</a:t>
            </a:r>
            <a:endParaRPr lang="en-US" sz="3200" dirty="0"/>
          </a:p>
        </p:txBody>
      </p:sp>
      <p:sp>
        <p:nvSpPr>
          <p:cNvPr id="16" name="Deviation label 2"/>
          <p:cNvSpPr txBox="1"/>
          <p:nvPr/>
        </p:nvSpPr>
        <p:spPr>
          <a:xfrm>
            <a:off x="9317736" y="2313432"/>
            <a:ext cx="2139696" cy="411480"/>
          </a:xfrm>
          <a:prstGeom prst="rect">
            <a:avLst/>
          </a:prstGeom>
          <a:noFill/>
          <a:ln/>
        </p:spPr>
        <p:txBody>
          <a:bodyPr wrap="square" lIns="0" tIns="0" rIns="0" bIns="0" rtlCol="0" anchor="t"/>
          <a:lstStyle/>
          <a:p>
            <a:pPr indent="0" marL="0">
              <a:buNone/>
            </a:pPr>
            <a:r>
              <a:rPr lang="en-US" sz="1050" dirty="0">
                <a:solidFill>
                  <a:schemeClr val="tx1"/>
                </a:solidFill>
              </a:rPr>
              <a:t>simulated vs. measured mean</a:t>
            </a:r>
            <a:endParaRPr lang="en-US" sz="1050" dirty="0"/>
          </a:p>
          <a:p>
            <a:pPr indent="0" marL="0">
              <a:buNone/>
            </a:pPr>
            <a:r>
              <a:rPr lang="en-US" sz="1050" dirty="0">
                <a:solidFill>
                  <a:schemeClr val="tx1"/>
                </a:solidFill>
              </a:rPr>
              <a:t>per run: −7.5 … −8.8 %</a:t>
            </a:r>
            <a:endParaRPr lang="en-US" sz="1050" dirty="0"/>
          </a:p>
        </p:txBody>
      </p:sp>
      <p:sp>
        <p:nvSpPr>
          <p:cNvPr id="17" name="Conclusion icon 1"/>
          <p:cNvSpPr/>
          <p:nvPr/>
        </p:nvSpPr>
        <p:spPr>
          <a:xfrm>
            <a:off x="6355080" y="3017520"/>
            <a:ext cx="457200" cy="457200"/>
          </a:xfrm>
          <a:prstGeom prst="ellipse">
            <a:avLst/>
          </a:prstGeom>
          <a:solidFill>
            <a:schemeClr val="accent5"/>
          </a:solidFill>
          <a:ln/>
        </p:spPr>
      </p:sp>
      <p:pic>
        <p:nvPicPr>
          <p:cNvPr id="18" name="Conclusion icon 1 icon" descr="Conclusion icon 1">    </p:cNvPr>
          <p:cNvPicPr>
            <a:picLocks noChangeAspect="1"/>
          </p:cNvPicPr>
          <p:nvPr/>
        </p:nvPicPr>
        <p:blipFill>
          <a:blip r:embed="rId2"/>
          <a:stretch>
            <a:fillRect/>
          </a:stretch>
        </p:blipFill>
        <p:spPr>
          <a:xfrm>
            <a:off x="6451092" y="3113532"/>
            <a:ext cx="265176" cy="265176"/>
          </a:xfrm>
          <a:prstGeom prst="rect">
            <a:avLst/>
          </a:prstGeom>
        </p:spPr>
      </p:pic>
      <p:sp>
        <p:nvSpPr>
          <p:cNvPr id="19" name="Conclusion title 1"/>
          <p:cNvSpPr txBox="1"/>
          <p:nvPr/>
        </p:nvSpPr>
        <p:spPr>
          <a:xfrm>
            <a:off x="6976872" y="2999232"/>
            <a:ext cx="4663440" cy="292608"/>
          </a:xfrm>
          <a:prstGeom prst="rect">
            <a:avLst/>
          </a:prstGeom>
          <a:noFill/>
          <a:ln/>
        </p:spPr>
        <p:txBody>
          <a:bodyPr wrap="square" lIns="0" tIns="0" rIns="0" bIns="0" rtlCol="0" anchor="ctr"/>
          <a:lstStyle/>
          <a:p>
            <a:pPr indent="0" marL="0">
              <a:buNone/>
            </a:pPr>
            <a:r>
              <a:rPr lang="en-US" sz="1350" b="1" dirty="0">
                <a:solidFill>
                  <a:schemeClr val="tx2"/>
                </a:solidFill>
              </a:rPr>
              <a:t>Validated for litz windings</a:t>
            </a:r>
            <a:endParaRPr lang="en-US" sz="1350" dirty="0"/>
          </a:p>
        </p:txBody>
      </p:sp>
      <p:sp>
        <p:nvSpPr>
          <p:cNvPr id="20" name="Conclusion text 1"/>
          <p:cNvSpPr txBox="1"/>
          <p:nvPr/>
        </p:nvSpPr>
        <p:spPr>
          <a:xfrm>
            <a:off x="6976872" y="3310128"/>
            <a:ext cx="4663440" cy="713232"/>
          </a:xfrm>
          <a:prstGeom prst="rect">
            <a:avLst/>
          </a:prstGeom>
          <a:noFill/>
          <a:ln/>
        </p:spPr>
        <p:txBody>
          <a:bodyPr wrap="square" lIns="0" tIns="0" rIns="0" bIns="0" rtlCol="0" anchor="t"/>
          <a:lstStyle/>
          <a:p>
            <a:pPr indent="0" marL="0">
              <a:buNone/>
            </a:pPr>
            <a:r>
              <a:rPr lang="en-US" sz="1150" dirty="0">
                <a:solidFill>
                  <a:schemeClr val="tx1"/>
                </a:solidFill>
              </a:rPr>
              <a:t>The prediction lies within the measurement repeatability (± 0.05 W), so the workflow can drive automated design-space exploration.</a:t>
            </a:r>
            <a:endParaRPr lang="en-US" sz="1150" dirty="0"/>
          </a:p>
        </p:txBody>
      </p:sp>
      <p:sp>
        <p:nvSpPr>
          <p:cNvPr id="21" name="Conclusion icon 2"/>
          <p:cNvSpPr/>
          <p:nvPr/>
        </p:nvSpPr>
        <p:spPr>
          <a:xfrm>
            <a:off x="6355080" y="4096512"/>
            <a:ext cx="457200" cy="457200"/>
          </a:xfrm>
          <a:prstGeom prst="ellipse">
            <a:avLst/>
          </a:prstGeom>
          <a:solidFill>
            <a:schemeClr val="accent4"/>
          </a:solidFill>
          <a:ln/>
        </p:spPr>
      </p:sp>
      <p:pic>
        <p:nvPicPr>
          <p:cNvPr id="22" name="Conclusion icon 2 icon" descr="Conclusion icon 2">    </p:cNvPr>
          <p:cNvPicPr>
            <a:picLocks noChangeAspect="1"/>
          </p:cNvPicPr>
          <p:nvPr/>
        </p:nvPicPr>
        <p:blipFill>
          <a:blip r:embed="rId3"/>
          <a:stretch>
            <a:fillRect/>
          </a:stretch>
        </p:blipFill>
        <p:spPr>
          <a:xfrm>
            <a:off x="6451092" y="4192524"/>
            <a:ext cx="265176" cy="265176"/>
          </a:xfrm>
          <a:prstGeom prst="rect">
            <a:avLst/>
          </a:prstGeom>
        </p:spPr>
      </p:pic>
      <p:sp>
        <p:nvSpPr>
          <p:cNvPr id="23" name="Conclusion title 2"/>
          <p:cNvSpPr txBox="1"/>
          <p:nvPr/>
        </p:nvSpPr>
        <p:spPr>
          <a:xfrm>
            <a:off x="6976872" y="4078224"/>
            <a:ext cx="4663440" cy="292608"/>
          </a:xfrm>
          <a:prstGeom prst="rect">
            <a:avLst/>
          </a:prstGeom>
          <a:noFill/>
          <a:ln/>
        </p:spPr>
        <p:txBody>
          <a:bodyPr wrap="square" lIns="0" tIns="0" rIns="0" bIns="0" rtlCol="0" anchor="ctr"/>
          <a:lstStyle/>
          <a:p>
            <a:pPr indent="0" marL="0">
              <a:buNone/>
            </a:pPr>
            <a:r>
              <a:rPr lang="en-US" sz="1350" b="1" dirty="0">
                <a:solidFill>
                  <a:schemeClr val="tx2"/>
                </a:solidFill>
              </a:rPr>
              <a:t>Solid-wire extra loss not captured</a:t>
            </a:r>
            <a:endParaRPr lang="en-US" sz="1350" dirty="0"/>
          </a:p>
        </p:txBody>
      </p:sp>
      <p:sp>
        <p:nvSpPr>
          <p:cNvPr id="24" name="Conclusion text 2"/>
          <p:cNvSpPr txBox="1"/>
          <p:nvPr/>
        </p:nvSpPr>
        <p:spPr>
          <a:xfrm>
            <a:off x="6976872" y="4389120"/>
            <a:ext cx="4663440" cy="713232"/>
          </a:xfrm>
          <a:prstGeom prst="rect">
            <a:avLst/>
          </a:prstGeom>
          <a:noFill/>
          <a:ln/>
        </p:spPr>
        <p:txBody>
          <a:bodyPr wrap="square" lIns="0" tIns="0" rIns="0" bIns="0" rtlCol="0" anchor="t"/>
          <a:lstStyle/>
          <a:p>
            <a:pPr indent="0" marL="0">
              <a:buNone/>
            </a:pPr>
            <a:r>
              <a:rPr lang="en-US" sz="1150" dirty="0">
                <a:solidFill>
                  <a:schemeClr val="tx1"/>
                </a:solidFill>
              </a:rPr>
              <a:t>Measured solid − litz = +0.70 W, simulated only +0.05 W: the HF eddy-current loss of solid conductors is under-represented.</a:t>
            </a:r>
            <a:endParaRPr lang="en-US" sz="1150" dirty="0"/>
          </a:p>
        </p:txBody>
      </p:sp>
      <p:sp>
        <p:nvSpPr>
          <p:cNvPr id="25" name="Conclusion icon 3"/>
          <p:cNvSpPr/>
          <p:nvPr/>
        </p:nvSpPr>
        <p:spPr>
          <a:xfrm>
            <a:off x="6355080" y="5175504"/>
            <a:ext cx="457200" cy="457200"/>
          </a:xfrm>
          <a:prstGeom prst="ellipse">
            <a:avLst/>
          </a:prstGeom>
          <a:solidFill>
            <a:schemeClr val="accent1"/>
          </a:solidFill>
          <a:ln/>
        </p:spPr>
      </p:sp>
      <p:pic>
        <p:nvPicPr>
          <p:cNvPr id="26" name="Conclusion icon 3 icon" descr="Conclusion icon 3">    </p:cNvPr>
          <p:cNvPicPr>
            <a:picLocks noChangeAspect="1"/>
          </p:cNvPicPr>
          <p:nvPr/>
        </p:nvPicPr>
        <p:blipFill>
          <a:blip r:embed="rId4"/>
          <a:stretch>
            <a:fillRect/>
          </a:stretch>
        </p:blipFill>
        <p:spPr>
          <a:xfrm>
            <a:off x="6451092" y="5271516"/>
            <a:ext cx="265176" cy="265176"/>
          </a:xfrm>
          <a:prstGeom prst="rect">
            <a:avLst/>
          </a:prstGeom>
        </p:spPr>
      </p:pic>
      <p:sp>
        <p:nvSpPr>
          <p:cNvPr id="27" name="Conclusion title 3"/>
          <p:cNvSpPr txBox="1"/>
          <p:nvPr/>
        </p:nvSpPr>
        <p:spPr>
          <a:xfrm>
            <a:off x="6976872" y="5157216"/>
            <a:ext cx="4663440" cy="292608"/>
          </a:xfrm>
          <a:prstGeom prst="rect">
            <a:avLst/>
          </a:prstGeom>
          <a:noFill/>
          <a:ln/>
        </p:spPr>
        <p:txBody>
          <a:bodyPr wrap="square" lIns="0" tIns="0" rIns="0" bIns="0" rtlCol="0" anchor="ctr"/>
          <a:lstStyle/>
          <a:p>
            <a:pPr indent="0" marL="0">
              <a:buNone/>
            </a:pPr>
            <a:r>
              <a:rPr lang="en-US" sz="1350" b="1" dirty="0">
                <a:solidFill>
                  <a:schemeClr val="tx2"/>
                </a:solidFill>
              </a:rPr>
              <a:t>What to check next (our reading)</a:t>
            </a:r>
            <a:endParaRPr lang="en-US" sz="1350" dirty="0"/>
          </a:p>
        </p:txBody>
      </p:sp>
      <p:sp>
        <p:nvSpPr>
          <p:cNvPr id="28" name="Conclusion text 3"/>
          <p:cNvSpPr txBox="1"/>
          <p:nvPr/>
        </p:nvSpPr>
        <p:spPr>
          <a:xfrm>
            <a:off x="6976872" y="5468112"/>
            <a:ext cx="4663440" cy="713232"/>
          </a:xfrm>
          <a:prstGeom prst="rect">
            <a:avLst/>
          </a:prstGeom>
          <a:noFill/>
          <a:ln/>
        </p:spPr>
        <p:txBody>
          <a:bodyPr wrap="square" lIns="0" tIns="0" rIns="0" bIns="0" rtlCol="0" anchor="t"/>
          <a:lstStyle/>
          <a:p>
            <a:pPr indent="0" marL="0">
              <a:buNone/>
            </a:pPr>
            <a:r>
              <a:rPr lang="en-US" sz="1150" dirty="0">
                <a:solidFill>
                  <a:schemeClr val="tx1"/>
                </a:solidFill>
              </a:rPr>
              <a:t>3D effects beyond the 2D model, e.g. air-gap fringing and RM end turns [13, 14]; copper resistivity at operating temperature (+0.39 %/K); core vs. winding loss split.</a:t>
            </a:r>
            <a:endParaRPr lang="en-US" sz="11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40080"/>
          </a:xfrm>
          <a:prstGeom prst="rect">
            <a:avLst/>
          </a:prstGeom>
          <a:noFill/>
          <a:ln/>
        </p:spPr>
        <p:txBody>
          <a:bodyPr wrap="square" lIns="0" tIns="0" rIns="0" bIns="0" rtlCol="0" anchor="ctr"/>
          <a:lstStyle/>
          <a:p>
            <a:pPr algn="l" indent="0" marL="0">
              <a:buNone/>
            </a:pPr>
            <a:r>
              <a:rPr lang="en-US" sz="3000" b="1" dirty="0">
                <a:solidFill>
                  <a:schemeClr val="tx2"/>
                </a:solidFill>
              </a:rPr>
              <a:t>References and related work</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500" dirty="0">
                <a:solidFill>
                  <a:schemeClr val="accent1"/>
                </a:solidFill>
              </a:rPr>
              <a:t>The poster prints no reference list — these sources document it and the methods it builds on</a:t>
            </a:r>
            <a:endParaRPr lang="en-US" sz="1500" dirty="0"/>
          </a:p>
        </p:txBody>
      </p:sp>
      <p:sp>
        <p:nvSpPr>
          <p:cNvPr id="4" name="References left"/>
          <p:cNvSpPr txBox="1"/>
          <p:nvPr/>
        </p:nvSpPr>
        <p:spPr>
          <a:xfrm>
            <a:off x="548640" y="1463040"/>
            <a:ext cx="5440680" cy="3749040"/>
          </a:xfrm>
          <a:prstGeom prst="rect">
            <a:avLst/>
          </a:prstGeom>
          <a:noFill/>
          <a:ln/>
        </p:spPr>
        <p:txBody>
          <a:bodyPr wrap="square" lIns="0" tIns="0" rIns="0" bIns="0" rtlCol="0" anchor="t"/>
          <a:lstStyle/>
          <a:p>
            <a:pPr indent="0" marL="0">
              <a:spcAft>
                <a:spcPts val="200"/>
              </a:spcAft>
              <a:buNone/>
            </a:pPr>
            <a:r>
              <a:rPr lang="en-US" sz="1100" b="1" dirty="0">
                <a:solidFill>
                  <a:schemeClr val="accent2"/>
                </a:solidFill>
              </a:rPr>
              <a:t>The poster and the authors' related work</a:t>
            </a:r>
            <a:endParaRPr lang="en-US" sz="950" dirty="0"/>
          </a:p>
          <a:p>
            <a:pPr indent="0" marL="0">
              <a:buNone/>
            </a:pPr>
            <a:r>
              <a:rPr lang="en-US" sz="950" b="1" dirty="0">
                <a:solidFill>
                  <a:schemeClr val="tx2"/>
                </a:solidFill>
              </a:rPr>
              <a:t>[1] </a:t>
            </a:r>
            <a:pPr indent="0" marL="0">
              <a:buNone/>
            </a:pPr>
            <a:r>
              <a:rPr lang="en-US" sz="950" dirty="0">
                <a:solidFill>
                  <a:schemeClr val="tx1"/>
                </a:solidFill>
              </a:rPr>
              <a:t>P. Skoff, M. Stoiber, J. Reynvaan, and W. Konrad, “Experimental verification of automated loss-simulation of magnetic components,” poster, </a:t>
            </a:r>
            <a:pPr indent="0" marL="0">
              <a:buNone/>
            </a:pPr>
            <a:r>
              <a:rPr lang="en-US" sz="950" i="1" dirty="0">
                <a:solidFill>
                  <a:schemeClr val="tx1"/>
                </a:solidFill>
              </a:rPr>
              <a:t>Power Electronics for Energy Transition Symposium</a:t>
            </a:r>
            <a:pPr indent="0" marL="0">
              <a:spcAft>
                <a:spcPts val="300"/>
              </a:spcAft>
              <a:buNone/>
            </a:pPr>
            <a:r>
              <a:rPr lang="en-US" sz="950" dirty="0">
                <a:solidFill>
                  <a:schemeClr val="tx1"/>
                </a:solidFill>
              </a:rPr>
              <a:t> (AIT &amp; SAL), Vienna, Austria, Sep. 29–30, 2026.</a:t>
            </a:r>
            <a:endParaRPr lang="en-US" sz="950" dirty="0"/>
          </a:p>
          <a:p>
            <a:pPr indent="0" marL="0">
              <a:buNone/>
            </a:pPr>
            <a:r>
              <a:rPr lang="en-US" sz="950" b="1" dirty="0">
                <a:solidFill>
                  <a:schemeClr val="tx2"/>
                </a:solidFill>
              </a:rPr>
              <a:t>[2] </a:t>
            </a:r>
            <a:pPr indent="0" marL="0">
              <a:buNone/>
            </a:pPr>
            <a:r>
              <a:rPr lang="en-US" sz="950" dirty="0">
                <a:solidFill>
                  <a:schemeClr val="tx1"/>
                </a:solidFill>
              </a:rPr>
              <a:t>J. Reynvaan, M. Pajnić, and J. Krenn, “Evaluating fluid based transient calorimetric method for measurement of the ferrite core losses,” in </a:t>
            </a:r>
            <a:pPr indent="0" marL="0">
              <a:buNone/>
            </a:pPr>
            <a:r>
              <a:rPr lang="en-US" sz="950" i="1" dirty="0">
                <a:solidFill>
                  <a:schemeClr val="tx1"/>
                </a:solidFill>
              </a:rPr>
              <a:t>Proc. ICPE 2023-ECCE Asia</a:t>
            </a:r>
            <a:pPr indent="0" marL="0">
              <a:spcAft>
                <a:spcPts val="300"/>
              </a:spcAft>
              <a:buNone/>
            </a:pPr>
            <a:r>
              <a:rPr lang="en-US" sz="950" dirty="0">
                <a:solidFill>
                  <a:schemeClr val="tx1"/>
                </a:solidFill>
              </a:rPr>
              <a:t>, Jeju, Korea, 2023, pp. 3308–3313.</a:t>
            </a:r>
            <a:endParaRPr lang="en-US" sz="950" dirty="0"/>
          </a:p>
          <a:p>
            <a:pPr indent="0" marL="0">
              <a:spcBef>
                <a:spcPts val="600"/>
              </a:spcBef>
              <a:spcAft>
                <a:spcPts val="200"/>
              </a:spcAft>
              <a:buNone/>
            </a:pPr>
            <a:r>
              <a:rPr lang="en-US" sz="1100" b="1" dirty="0">
                <a:solidFill>
                  <a:schemeClr val="accent2"/>
                </a:solidFill>
              </a:rPr>
              <a:t>Calorimetric loss measurement</a:t>
            </a:r>
            <a:endParaRPr lang="en-US" sz="950" dirty="0"/>
          </a:p>
          <a:p>
            <a:pPr indent="0" marL="0">
              <a:buNone/>
            </a:pPr>
            <a:r>
              <a:rPr lang="en-US" sz="950" b="1" dirty="0">
                <a:solidFill>
                  <a:schemeClr val="tx2"/>
                </a:solidFill>
              </a:rPr>
              <a:t>[3] </a:t>
            </a:r>
            <a:pPr indent="0" marL="0">
              <a:buNone/>
            </a:pPr>
            <a:r>
              <a:rPr lang="en-US" sz="950" dirty="0">
                <a:solidFill>
                  <a:schemeClr val="tx1"/>
                </a:solidFill>
              </a:rPr>
              <a:t>P. Papamanolis, T. Guillod, F. Krismer, and J. W. Kolar, “Transient calorimetric measurement of ferrite core losses up to 50 MHz,” </a:t>
            </a:r>
            <a:pPr indent="0" marL="0">
              <a:buNone/>
            </a:pPr>
            <a:r>
              <a:rPr lang="en-US" sz="950" i="1" dirty="0">
                <a:solidFill>
                  <a:schemeClr val="tx1"/>
                </a:solidFill>
              </a:rPr>
              <a:t>IEEE Trans. Power Electron.</a:t>
            </a:r>
            <a:pPr indent="0" marL="0">
              <a:spcAft>
                <a:spcPts val="300"/>
              </a:spcAft>
              <a:buNone/>
            </a:pPr>
            <a:r>
              <a:rPr lang="en-US" sz="950" dirty="0">
                <a:solidFill>
                  <a:schemeClr val="tx1"/>
                </a:solidFill>
              </a:rPr>
              <a:t>, vol. 36, no. 3, pp. 2548–2563, 2021.</a:t>
            </a:r>
            <a:endParaRPr lang="en-US" sz="950" dirty="0"/>
          </a:p>
          <a:p>
            <a:pPr indent="0" marL="0">
              <a:buNone/>
            </a:pPr>
            <a:r>
              <a:rPr lang="en-US" sz="950" b="1" dirty="0">
                <a:solidFill>
                  <a:schemeClr val="tx2"/>
                </a:solidFill>
              </a:rPr>
              <a:t>[4] </a:t>
            </a:r>
            <a:pPr indent="0" marL="0">
              <a:buNone/>
            </a:pPr>
            <a:r>
              <a:rPr lang="en-US" sz="950" dirty="0">
                <a:solidFill>
                  <a:schemeClr val="tx1"/>
                </a:solidFill>
              </a:rPr>
              <a:t>D. Christen, U. Badstuebner, J. Biela, and J. W. Kolar, “Calorimetric power loss measurement for highly efficient converters,” in </a:t>
            </a:r>
            <a:pPr indent="0" marL="0">
              <a:buNone/>
            </a:pPr>
            <a:r>
              <a:rPr lang="en-US" sz="950" i="1" dirty="0">
                <a:solidFill>
                  <a:schemeClr val="tx1"/>
                </a:solidFill>
              </a:rPr>
              <a:t>Proc. IPEC 2010 (ECCE Asia)</a:t>
            </a:r>
            <a:pPr indent="0" marL="0">
              <a:spcAft>
                <a:spcPts val="300"/>
              </a:spcAft>
              <a:buNone/>
            </a:pPr>
            <a:r>
              <a:rPr lang="en-US" sz="950" dirty="0">
                <a:solidFill>
                  <a:schemeClr val="tx1"/>
                </a:solidFill>
              </a:rPr>
              <a:t>, Sapporo, Japan, 2010, pp. 1438–1445.</a:t>
            </a:r>
            <a:endParaRPr lang="en-US" sz="950" dirty="0"/>
          </a:p>
          <a:p>
            <a:pPr indent="0" marL="0">
              <a:buNone/>
            </a:pPr>
            <a:r>
              <a:rPr lang="en-US" sz="950" b="1" dirty="0">
                <a:solidFill>
                  <a:schemeClr val="tx2"/>
                </a:solidFill>
              </a:rPr>
              <a:t>[5] </a:t>
            </a:r>
            <a:pPr indent="0" marL="0">
              <a:buNone/>
            </a:pPr>
            <a:r>
              <a:rPr lang="en-US" sz="950" dirty="0">
                <a:solidFill>
                  <a:schemeClr val="tx1"/>
                </a:solidFill>
              </a:rPr>
              <a:t>S. Weier, M. A. Shafi, and R. McMahon, “Precision calorimetry for the accurate measurement of losses in power electronic devices,” </a:t>
            </a:r>
            <a:pPr indent="0" marL="0">
              <a:buNone/>
            </a:pPr>
            <a:r>
              <a:rPr lang="en-US" sz="950" i="1" dirty="0">
                <a:solidFill>
                  <a:schemeClr val="tx1"/>
                </a:solidFill>
              </a:rPr>
              <a:t>IEEE Trans. Ind. Appl.</a:t>
            </a:r>
            <a:pPr indent="0" marL="0">
              <a:spcAft>
                <a:spcPts val="300"/>
              </a:spcAft>
              <a:buNone/>
            </a:pPr>
            <a:r>
              <a:rPr lang="en-US" sz="950" dirty="0">
                <a:solidFill>
                  <a:schemeClr val="tx1"/>
                </a:solidFill>
              </a:rPr>
              <a:t>, vol. 46, no. 1, pp. 278–284, 2010.</a:t>
            </a:r>
            <a:endParaRPr lang="en-US" sz="950" dirty="0"/>
          </a:p>
          <a:p>
            <a:pPr indent="0" marL="0">
              <a:buNone/>
            </a:pPr>
            <a:r>
              <a:rPr lang="en-US" sz="950" b="1" dirty="0">
                <a:solidFill>
                  <a:schemeClr val="tx2"/>
                </a:solidFill>
              </a:rPr>
              <a:t>[6] </a:t>
            </a:r>
            <a:pPr indent="0" marL="0">
              <a:buNone/>
            </a:pPr>
            <a:r>
              <a:rPr lang="en-US" sz="950" dirty="0">
                <a:solidFill>
                  <a:schemeClr val="tx1"/>
                </a:solidFill>
              </a:rPr>
              <a:t>C. Xiao, G. Chen, and W. G. H. Odendaal, “Overview of power loss measurement techniques in power electronics systems,” </a:t>
            </a:r>
            <a:pPr indent="0" marL="0">
              <a:buNone/>
            </a:pPr>
            <a:r>
              <a:rPr lang="en-US" sz="950" i="1" dirty="0">
                <a:solidFill>
                  <a:schemeClr val="tx1"/>
                </a:solidFill>
              </a:rPr>
              <a:t>IEEE Trans. Ind. Appl.</a:t>
            </a:r>
            <a:pPr indent="0" marL="0">
              <a:spcAft>
                <a:spcPts val="300"/>
              </a:spcAft>
              <a:buNone/>
            </a:pPr>
            <a:r>
              <a:rPr lang="en-US" sz="950" dirty="0">
                <a:solidFill>
                  <a:schemeClr val="tx1"/>
                </a:solidFill>
              </a:rPr>
              <a:t>, vol. 43, no. 3, pp. 657–664, 2007.</a:t>
            </a:r>
            <a:endParaRPr lang="en-US" sz="950" dirty="0"/>
          </a:p>
          <a:p>
            <a:pPr indent="0" marL="0">
              <a:buNone/>
            </a:pPr>
            <a:r>
              <a:rPr lang="en-US" sz="950" b="1" dirty="0">
                <a:solidFill>
                  <a:schemeClr val="tx2"/>
                </a:solidFill>
              </a:rPr>
              <a:t>[7] </a:t>
            </a:r>
            <a:pPr indent="0" marL="0">
              <a:buNone/>
            </a:pPr>
            <a:r>
              <a:rPr lang="en-US" sz="950" dirty="0">
                <a:solidFill>
                  <a:schemeClr val="tx1"/>
                </a:solidFill>
              </a:rPr>
              <a:t>D. Rothmund, D. Bortis, and J. W. Kolar, “Accurate transient calorimetric measurement of soft-switching losses of 10-kV SiC MOSFETs and diodes,” </a:t>
            </a:r>
            <a:pPr indent="0" marL="0">
              <a:buNone/>
            </a:pPr>
            <a:r>
              <a:rPr lang="en-US" sz="950" i="1" dirty="0">
                <a:solidFill>
                  <a:schemeClr val="tx1"/>
                </a:solidFill>
              </a:rPr>
              <a:t>IEEE Trans. Power Electron.</a:t>
            </a:r>
            <a:pPr indent="0" marL="0">
              <a:spcAft>
                <a:spcPts val="300"/>
              </a:spcAft>
              <a:buNone/>
            </a:pPr>
            <a:r>
              <a:rPr lang="en-US" sz="950" dirty="0">
                <a:solidFill>
                  <a:schemeClr val="tx1"/>
                </a:solidFill>
              </a:rPr>
              <a:t>, vol. 33, no. 6, pp. 5240–5250, 2018.</a:t>
            </a:r>
            <a:endParaRPr lang="en-US" sz="950" dirty="0"/>
          </a:p>
          <a:p>
            <a:pPr indent="0" marL="0">
              <a:buNone/>
            </a:pPr>
            <a:r>
              <a:rPr lang="en-US" sz="950" b="1" dirty="0">
                <a:solidFill>
                  <a:schemeClr val="tx2"/>
                </a:solidFill>
              </a:rPr>
              <a:t>[8] </a:t>
            </a:r>
            <a:pPr indent="0" marL="0">
              <a:buNone/>
            </a:pPr>
            <a:r>
              <a:rPr lang="en-US" sz="950" dirty="0">
                <a:solidFill>
                  <a:schemeClr val="tx1"/>
                </a:solidFill>
              </a:rPr>
              <a:t>L. Zhu, Z. Liu, Y. Dang, S. Zhang, G. Zhang, and S. Ji, “A review of power loss measurement method for high-frequency transformer,” </a:t>
            </a:r>
            <a:pPr indent="0" marL="0">
              <a:buNone/>
            </a:pPr>
            <a:r>
              <a:rPr lang="en-US" sz="950" i="1" dirty="0">
                <a:solidFill>
                  <a:schemeClr val="tx1"/>
                </a:solidFill>
              </a:rPr>
              <a:t>Renewable Energy System and Equipment</a:t>
            </a:r>
            <a:pPr indent="0" marL="0">
              <a:spcAft>
                <a:spcPts val="300"/>
              </a:spcAft>
              <a:buNone/>
            </a:pPr>
            <a:r>
              <a:rPr lang="en-US" sz="950" dirty="0">
                <a:solidFill>
                  <a:schemeClr val="tx1"/>
                </a:solidFill>
              </a:rPr>
              <a:t>, 2026.</a:t>
            </a:r>
            <a:endParaRPr lang="en-US" sz="950" dirty="0"/>
          </a:p>
        </p:txBody>
      </p:sp>
      <p:sp>
        <p:nvSpPr>
          <p:cNvPr id="5" name="References note card"/>
          <p:cNvSpPr/>
          <p:nvPr/>
        </p:nvSpPr>
        <p:spPr>
          <a:xfrm>
            <a:off x="548640" y="5349240"/>
            <a:ext cx="5440680" cy="914400"/>
          </a:xfrm>
          <a:prstGeom prst="roundRect">
            <a:avLst>
              <a:gd name="adj" fmla="val 10000"/>
            </a:avLst>
          </a:prstGeom>
          <a:solidFill>
            <a:schemeClr val="bg2"/>
          </a:solidFill>
          <a:ln/>
        </p:spPr>
      </p:sp>
      <p:sp>
        <p:nvSpPr>
          <p:cNvPr id="6" name="References note icon"/>
          <p:cNvSpPr/>
          <p:nvPr/>
        </p:nvSpPr>
        <p:spPr>
          <a:xfrm>
            <a:off x="731520" y="5577840"/>
            <a:ext cx="457200" cy="457200"/>
          </a:xfrm>
          <a:prstGeom prst="ellipse">
            <a:avLst/>
          </a:prstGeom>
          <a:solidFill>
            <a:schemeClr val="accent2"/>
          </a:solidFill>
          <a:ln/>
        </p:spPr>
      </p:sp>
      <p:pic>
        <p:nvPicPr>
          <p:cNvPr id="7" name="References note icon icon" descr="References note icon">    </p:cNvPr>
          <p:cNvPicPr>
            <a:picLocks noChangeAspect="1"/>
          </p:cNvPicPr>
          <p:nvPr/>
        </p:nvPicPr>
        <p:blipFill>
          <a:blip r:embed="rId1"/>
          <a:stretch>
            <a:fillRect/>
          </a:stretch>
        </p:blipFill>
        <p:spPr>
          <a:xfrm>
            <a:off x="827532" y="5673852"/>
            <a:ext cx="265176" cy="265176"/>
          </a:xfrm>
          <a:prstGeom prst="rect">
            <a:avLst/>
          </a:prstGeom>
        </p:spPr>
      </p:pic>
      <p:sp>
        <p:nvSpPr>
          <p:cNvPr id="8" name="References note"/>
          <p:cNvSpPr txBox="1"/>
          <p:nvPr/>
        </p:nvSpPr>
        <p:spPr>
          <a:xfrm>
            <a:off x="1371600" y="5422392"/>
            <a:ext cx="4480560" cy="777240"/>
          </a:xfrm>
          <a:prstGeom prst="rect">
            <a:avLst/>
          </a:prstGeom>
          <a:noFill/>
          <a:ln/>
        </p:spPr>
        <p:txBody>
          <a:bodyPr wrap="square" lIns="0" tIns="0" rIns="0" bIns="0" rtlCol="0" anchor="ctr"/>
          <a:lstStyle/>
          <a:p>
            <a:pPr indent="0" marL="0">
              <a:buNone/>
            </a:pPr>
            <a:r>
              <a:rPr lang="en-US" sz="1000" b="1" dirty="0">
                <a:solidFill>
                  <a:schemeClr val="tx2"/>
                </a:solidFill>
              </a:rPr>
              <a:t>How these were found: </a:t>
            </a:r>
            <a:pPr indent="0" marL="0">
              <a:buNone/>
            </a:pPr>
            <a:r>
              <a:rPr lang="en-US" sz="1000" dirty="0">
                <a:solidFill>
                  <a:schemeClr val="tx1"/>
                </a:solidFill>
              </a:rPr>
              <a:t>[1] is the poster’s record on SAL’s research portal, [2] the authors’ own calorimetry paper, [3]–[20] the literature on each building block. Full entries with DOIs and links: REFERENCES.md next to this deck.</a:t>
            </a:r>
            <a:endParaRPr lang="en-US" sz="1000" dirty="0"/>
          </a:p>
        </p:txBody>
      </p:sp>
      <p:sp>
        <p:nvSpPr>
          <p:cNvPr id="9" name="References right"/>
          <p:cNvSpPr txBox="1"/>
          <p:nvPr/>
        </p:nvSpPr>
        <p:spPr>
          <a:xfrm>
            <a:off x="6199632" y="1463040"/>
            <a:ext cx="5440680" cy="4800600"/>
          </a:xfrm>
          <a:prstGeom prst="rect">
            <a:avLst/>
          </a:prstGeom>
          <a:noFill/>
          <a:ln/>
        </p:spPr>
        <p:txBody>
          <a:bodyPr wrap="square" lIns="0" tIns="0" rIns="0" bIns="0" rtlCol="0" anchor="t"/>
          <a:lstStyle/>
          <a:p>
            <a:pPr indent="0" marL="0">
              <a:spcAft>
                <a:spcPts val="200"/>
              </a:spcAft>
              <a:buNone/>
            </a:pPr>
            <a:r>
              <a:rPr lang="en-US" sz="1100" b="1" dirty="0">
                <a:solidFill>
                  <a:schemeClr val="accent2"/>
                </a:solidFill>
              </a:rPr>
              <a:t>Loss modelling of windings and cores</a:t>
            </a:r>
            <a:endParaRPr lang="en-US" sz="950" dirty="0"/>
          </a:p>
          <a:p>
            <a:pPr indent="0" marL="0">
              <a:buNone/>
            </a:pPr>
            <a:r>
              <a:rPr lang="en-US" sz="950" b="1" dirty="0">
                <a:solidFill>
                  <a:schemeClr val="tx2"/>
                </a:solidFill>
              </a:rPr>
              <a:t>[9] </a:t>
            </a:r>
            <a:pPr indent="0" marL="0">
              <a:buNone/>
            </a:pPr>
            <a:r>
              <a:rPr lang="en-US" sz="950" dirty="0">
                <a:solidFill>
                  <a:schemeClr val="tx1"/>
                </a:solidFill>
              </a:rPr>
              <a:t>P. L. Dowell, “Effects of eddy currents in transformer windings,” </a:t>
            </a:r>
            <a:pPr indent="0" marL="0">
              <a:buNone/>
            </a:pPr>
            <a:r>
              <a:rPr lang="en-US" sz="950" i="1" dirty="0">
                <a:solidFill>
                  <a:schemeClr val="tx1"/>
                </a:solidFill>
              </a:rPr>
              <a:t>Proc. IEE</a:t>
            </a:r>
            <a:pPr indent="0" marL="0">
              <a:spcAft>
                <a:spcPts val="300"/>
              </a:spcAft>
              <a:buNone/>
            </a:pPr>
            <a:r>
              <a:rPr lang="en-US" sz="950" dirty="0">
                <a:solidFill>
                  <a:schemeClr val="tx1"/>
                </a:solidFill>
              </a:rPr>
              <a:t>, vol. 113, no. 8, pp. 1387–1394, 1966.</a:t>
            </a:r>
            <a:endParaRPr lang="en-US" sz="950" dirty="0"/>
          </a:p>
          <a:p>
            <a:pPr indent="0" marL="0">
              <a:buNone/>
            </a:pPr>
            <a:r>
              <a:rPr lang="en-US" sz="950" b="1" dirty="0">
                <a:solidFill>
                  <a:schemeClr val="tx2"/>
                </a:solidFill>
              </a:rPr>
              <a:t>[10] </a:t>
            </a:r>
            <a:pPr indent="0" marL="0">
              <a:buNone/>
            </a:pPr>
            <a:r>
              <a:rPr lang="en-US" sz="950" dirty="0">
                <a:solidFill>
                  <a:schemeClr val="tx1"/>
                </a:solidFill>
              </a:rPr>
              <a:t>W. G. Hurley, E. Gath, and J. G. Breslin, “Optimizing the AC resistance of multilayer transformer windings with arbitrary current waveforms,” </a:t>
            </a:r>
            <a:pPr indent="0" marL="0">
              <a:buNone/>
            </a:pPr>
            <a:r>
              <a:rPr lang="en-US" sz="950" i="1" dirty="0">
                <a:solidFill>
                  <a:schemeClr val="tx1"/>
                </a:solidFill>
              </a:rPr>
              <a:t>IEEE Trans. Power Electron.</a:t>
            </a:r>
            <a:pPr indent="0" marL="0">
              <a:spcAft>
                <a:spcPts val="300"/>
              </a:spcAft>
              <a:buNone/>
            </a:pPr>
            <a:r>
              <a:rPr lang="en-US" sz="950" dirty="0">
                <a:solidFill>
                  <a:schemeClr val="tx1"/>
                </a:solidFill>
              </a:rPr>
              <a:t>, vol. 15, no. 2, pp. 369–376, 2000.</a:t>
            </a:r>
            <a:endParaRPr lang="en-US" sz="950" dirty="0"/>
          </a:p>
          <a:p>
            <a:pPr indent="0" marL="0">
              <a:buNone/>
            </a:pPr>
            <a:r>
              <a:rPr lang="en-US" sz="950" b="1" dirty="0">
                <a:solidFill>
                  <a:schemeClr val="tx2"/>
                </a:solidFill>
              </a:rPr>
              <a:t>[11] </a:t>
            </a:r>
            <a:pPr indent="0" marL="0">
              <a:buNone/>
            </a:pPr>
            <a:r>
              <a:rPr lang="en-US" sz="950" dirty="0">
                <a:solidFill>
                  <a:schemeClr val="tx1"/>
                </a:solidFill>
              </a:rPr>
              <a:t>C. R. Sullivan, “Optimal choice for number of strands in a litz-wire transformer winding,” </a:t>
            </a:r>
            <a:pPr indent="0" marL="0">
              <a:buNone/>
            </a:pPr>
            <a:r>
              <a:rPr lang="en-US" sz="950" i="1" dirty="0">
                <a:solidFill>
                  <a:schemeClr val="tx1"/>
                </a:solidFill>
              </a:rPr>
              <a:t>IEEE Trans. Power Electron.</a:t>
            </a:r>
            <a:pPr indent="0" marL="0">
              <a:spcAft>
                <a:spcPts val="300"/>
              </a:spcAft>
              <a:buNone/>
            </a:pPr>
            <a:r>
              <a:rPr lang="en-US" sz="950" dirty="0">
                <a:solidFill>
                  <a:schemeClr val="tx1"/>
                </a:solidFill>
              </a:rPr>
              <a:t>, vol. 14, no. 2, pp. 283–291, 1999.</a:t>
            </a:r>
            <a:endParaRPr lang="en-US" sz="950" dirty="0"/>
          </a:p>
          <a:p>
            <a:pPr indent="0" marL="0">
              <a:buNone/>
            </a:pPr>
            <a:r>
              <a:rPr lang="en-US" sz="950" b="1" dirty="0">
                <a:solidFill>
                  <a:schemeClr val="tx2"/>
                </a:solidFill>
              </a:rPr>
              <a:t>[12] </a:t>
            </a:r>
            <a:pPr indent="0" marL="0">
              <a:buNone/>
            </a:pPr>
            <a:r>
              <a:rPr lang="en-US" sz="950" dirty="0">
                <a:solidFill>
                  <a:schemeClr val="tx1"/>
                </a:solidFill>
              </a:rPr>
              <a:t>R. P. Wojda and M. K. Kazimierczuk, “Winding resistance and power loss of inductors with litz and solid-round wires,” </a:t>
            </a:r>
            <a:pPr indent="0" marL="0">
              <a:buNone/>
            </a:pPr>
            <a:r>
              <a:rPr lang="en-US" sz="950" i="1" dirty="0">
                <a:solidFill>
                  <a:schemeClr val="tx1"/>
                </a:solidFill>
              </a:rPr>
              <a:t>IEEE Trans. Ind. Appl.</a:t>
            </a:r>
            <a:pPr indent="0" marL="0">
              <a:spcAft>
                <a:spcPts val="300"/>
              </a:spcAft>
              <a:buNone/>
            </a:pPr>
            <a:r>
              <a:rPr lang="en-US" sz="950" dirty="0">
                <a:solidFill>
                  <a:schemeClr val="tx1"/>
                </a:solidFill>
              </a:rPr>
              <a:t>, vol. 54, no. 4, pp. 3548–3557, 2018.</a:t>
            </a:r>
            <a:endParaRPr lang="en-US" sz="950" dirty="0"/>
          </a:p>
          <a:p>
            <a:pPr indent="0" marL="0">
              <a:buNone/>
            </a:pPr>
            <a:r>
              <a:rPr lang="en-US" sz="950" b="1" dirty="0">
                <a:solidFill>
                  <a:schemeClr val="tx2"/>
                </a:solidFill>
              </a:rPr>
              <a:t>[13] </a:t>
            </a:r>
            <a:pPr indent="0" marL="0">
              <a:buNone/>
            </a:pPr>
            <a:r>
              <a:rPr lang="en-US" sz="950" dirty="0">
                <a:solidFill>
                  <a:schemeClr val="tx1"/>
                </a:solidFill>
              </a:rPr>
              <a:t>W. A. Roshen, “Fringing field formulas and winding loss due to an air gap,” </a:t>
            </a:r>
            <a:pPr indent="0" marL="0">
              <a:buNone/>
            </a:pPr>
            <a:r>
              <a:rPr lang="en-US" sz="950" i="1" dirty="0">
                <a:solidFill>
                  <a:schemeClr val="tx1"/>
                </a:solidFill>
              </a:rPr>
              <a:t>IEEE Trans. Magn.</a:t>
            </a:r>
            <a:pPr indent="0" marL="0">
              <a:spcAft>
                <a:spcPts val="300"/>
              </a:spcAft>
              <a:buNone/>
            </a:pPr>
            <a:r>
              <a:rPr lang="en-US" sz="950" dirty="0">
                <a:solidFill>
                  <a:schemeClr val="tx1"/>
                </a:solidFill>
              </a:rPr>
              <a:t>, vol. 43, no. 8, pp. 3387–3394, 2007.</a:t>
            </a:r>
            <a:endParaRPr lang="en-US" sz="950" dirty="0"/>
          </a:p>
          <a:p>
            <a:pPr indent="0" marL="0">
              <a:buNone/>
            </a:pPr>
            <a:r>
              <a:rPr lang="en-US" sz="950" b="1" dirty="0">
                <a:solidFill>
                  <a:schemeClr val="tx2"/>
                </a:solidFill>
              </a:rPr>
              <a:t>[14] </a:t>
            </a:r>
            <a:pPr indent="0" marL="0">
              <a:buNone/>
            </a:pPr>
            <a:r>
              <a:rPr lang="en-US" sz="950" dirty="0">
                <a:solidFill>
                  <a:schemeClr val="tx1"/>
                </a:solidFill>
              </a:rPr>
              <a:t>T. Ewald and J. Biela, “Analytical winding loss and inductance models for gapped inductors with litz or solid wires,” </a:t>
            </a:r>
            <a:pPr indent="0" marL="0">
              <a:buNone/>
            </a:pPr>
            <a:r>
              <a:rPr lang="en-US" sz="950" i="1" dirty="0">
                <a:solidFill>
                  <a:schemeClr val="tx1"/>
                </a:solidFill>
              </a:rPr>
              <a:t>IEEE Trans. Power Electron.</a:t>
            </a:r>
            <a:pPr indent="0" marL="0">
              <a:spcAft>
                <a:spcPts val="300"/>
              </a:spcAft>
              <a:buNone/>
            </a:pPr>
            <a:r>
              <a:rPr lang="en-US" sz="950" dirty="0">
                <a:solidFill>
                  <a:schemeClr val="tx1"/>
                </a:solidFill>
              </a:rPr>
              <a:t>, vol. 37, pp. 15127–15139, 2022.</a:t>
            </a:r>
            <a:endParaRPr lang="en-US" sz="950" dirty="0"/>
          </a:p>
          <a:p>
            <a:pPr indent="0" marL="0">
              <a:buNone/>
            </a:pPr>
            <a:r>
              <a:rPr lang="en-US" sz="950" b="1" dirty="0">
                <a:solidFill>
                  <a:schemeClr val="tx2"/>
                </a:solidFill>
              </a:rPr>
              <a:t>[15] </a:t>
            </a:r>
            <a:pPr indent="0" marL="0">
              <a:buNone/>
            </a:pPr>
            <a:r>
              <a:rPr lang="en-US" sz="950" dirty="0">
                <a:solidFill>
                  <a:schemeClr val="tx1"/>
                </a:solidFill>
              </a:rPr>
              <a:t>K. Venkatachalam, C. R. Sullivan, T. Abdallah, and H. Tacca, “Accurate prediction of ferrite core loss with nonsinusoidal waveforms using only Steinmetz parameters,” in </a:t>
            </a:r>
            <a:pPr indent="0" marL="0">
              <a:buNone/>
            </a:pPr>
            <a:r>
              <a:rPr lang="en-US" sz="950" i="1" dirty="0">
                <a:solidFill>
                  <a:schemeClr val="tx1"/>
                </a:solidFill>
              </a:rPr>
              <a:t>Proc. IEEE COMPEL</a:t>
            </a:r>
            <a:pPr indent="0" marL="0">
              <a:spcAft>
                <a:spcPts val="300"/>
              </a:spcAft>
              <a:buNone/>
            </a:pPr>
            <a:r>
              <a:rPr lang="en-US" sz="950" dirty="0">
                <a:solidFill>
                  <a:schemeClr val="tx1"/>
                </a:solidFill>
              </a:rPr>
              <a:t>, 2002, pp. 36–41.</a:t>
            </a:r>
            <a:endParaRPr lang="en-US" sz="950" dirty="0"/>
          </a:p>
          <a:p>
            <a:pPr indent="0" marL="0">
              <a:buNone/>
            </a:pPr>
            <a:r>
              <a:rPr lang="en-US" sz="950" b="1" dirty="0">
                <a:solidFill>
                  <a:schemeClr val="tx2"/>
                </a:solidFill>
              </a:rPr>
              <a:t>[16] </a:t>
            </a:r>
            <a:pPr indent="0" marL="0">
              <a:buNone/>
            </a:pPr>
            <a:r>
              <a:rPr lang="en-US" sz="950" dirty="0">
                <a:solidFill>
                  <a:schemeClr val="tx1"/>
                </a:solidFill>
              </a:rPr>
              <a:t>J. Mühlethäler, J. Biela, J. W. Kolar, and A. Ecklebe, “Improved core-loss calculation for magnetic components employed in power electronic systems,” </a:t>
            </a:r>
            <a:pPr indent="0" marL="0">
              <a:buNone/>
            </a:pPr>
            <a:r>
              <a:rPr lang="en-US" sz="950" i="1" dirty="0">
                <a:solidFill>
                  <a:schemeClr val="tx1"/>
                </a:solidFill>
              </a:rPr>
              <a:t>IEEE Trans. Power Electron.</a:t>
            </a:r>
            <a:pPr indent="0" marL="0">
              <a:spcAft>
                <a:spcPts val="300"/>
              </a:spcAft>
              <a:buNone/>
            </a:pPr>
            <a:r>
              <a:rPr lang="en-US" sz="950" dirty="0">
                <a:solidFill>
                  <a:schemeClr val="tx1"/>
                </a:solidFill>
              </a:rPr>
              <a:t>, vol. 27, no. 2, pp. 964–973, 2012.</a:t>
            </a:r>
            <a:endParaRPr lang="en-US" sz="950" dirty="0"/>
          </a:p>
          <a:p>
            <a:pPr indent="0" marL="0">
              <a:spcBef>
                <a:spcPts val="600"/>
              </a:spcBef>
              <a:spcAft>
                <a:spcPts val="200"/>
              </a:spcAft>
              <a:buNone/>
            </a:pPr>
            <a:r>
              <a:rPr lang="en-US" sz="1100" b="1" dirty="0">
                <a:solidFill>
                  <a:schemeClr val="accent2"/>
                </a:solidFill>
              </a:rPr>
              <a:t>Automated and integrated simulation / design workflows</a:t>
            </a:r>
            <a:endParaRPr lang="en-US" sz="950" dirty="0"/>
          </a:p>
          <a:p>
            <a:pPr indent="0" marL="0">
              <a:buNone/>
            </a:pPr>
            <a:r>
              <a:rPr lang="en-US" sz="950" b="1" dirty="0">
                <a:solidFill>
                  <a:schemeClr val="tx2"/>
                </a:solidFill>
              </a:rPr>
              <a:t>[17] </a:t>
            </a:r>
            <a:pPr indent="0" marL="0">
              <a:buNone/>
            </a:pPr>
            <a:r>
              <a:rPr lang="en-US" sz="950" dirty="0">
                <a:solidFill>
                  <a:schemeClr val="tx1"/>
                </a:solidFill>
              </a:rPr>
              <a:t>N. Förster, T. Piepenbrock, P. Rehlaender, O. Wallscheid, F. Schafmeister, and J. Böcker, “An open-source FEM magnetics toolbox for power electronic magnetic components,” in </a:t>
            </a:r>
            <a:pPr indent="0" marL="0">
              <a:buNone/>
            </a:pPr>
            <a:r>
              <a:rPr lang="en-US" sz="950" i="1" dirty="0">
                <a:solidFill>
                  <a:schemeClr val="tx1"/>
                </a:solidFill>
              </a:rPr>
              <a:t>Proc. PCIM Europe</a:t>
            </a:r>
            <a:pPr indent="0" marL="0">
              <a:spcAft>
                <a:spcPts val="300"/>
              </a:spcAft>
              <a:buNone/>
            </a:pPr>
            <a:r>
              <a:rPr lang="en-US" sz="950" dirty="0">
                <a:solidFill>
                  <a:schemeClr val="tx1"/>
                </a:solidFill>
              </a:rPr>
              <a:t>, Nuremberg, Germany, 2022.</a:t>
            </a:r>
            <a:endParaRPr lang="en-US" sz="950" dirty="0"/>
          </a:p>
          <a:p>
            <a:pPr indent="0" marL="0">
              <a:buNone/>
            </a:pPr>
            <a:r>
              <a:rPr lang="en-US" sz="950" b="1" dirty="0">
                <a:solidFill>
                  <a:schemeClr val="tx2"/>
                </a:solidFill>
              </a:rPr>
              <a:t>[18] </a:t>
            </a:r>
            <a:pPr indent="0" marL="0">
              <a:buNone/>
            </a:pPr>
            <a:r>
              <a:rPr lang="en-US" sz="950" dirty="0">
                <a:solidFill>
                  <a:schemeClr val="tx1"/>
                </a:solidFill>
              </a:rPr>
              <a:t>N. Djekanovic, M. Luo, and D. Dujic, “Integrated simulation approach to loss calculations of power converter systems,” in </a:t>
            </a:r>
            <a:pPr indent="0" marL="0">
              <a:buNone/>
            </a:pPr>
            <a:r>
              <a:rPr lang="en-US" sz="950" i="1" dirty="0">
                <a:solidFill>
                  <a:schemeClr val="tx1"/>
                </a:solidFill>
              </a:rPr>
              <a:t>Proc. PCIM Europe digital days</a:t>
            </a:r>
            <a:pPr indent="0" marL="0">
              <a:spcAft>
                <a:spcPts val="300"/>
              </a:spcAft>
              <a:buNone/>
            </a:pPr>
            <a:r>
              <a:rPr lang="en-US" sz="950" dirty="0">
                <a:solidFill>
                  <a:schemeClr val="tx1"/>
                </a:solidFill>
              </a:rPr>
              <a:t>, 2020, pp. 418–425.</a:t>
            </a:r>
            <a:endParaRPr lang="en-US" sz="950" dirty="0"/>
          </a:p>
          <a:p>
            <a:pPr indent="0" marL="0">
              <a:buNone/>
            </a:pPr>
            <a:r>
              <a:rPr lang="en-US" sz="950" b="1" dirty="0">
                <a:solidFill>
                  <a:schemeClr val="tx2"/>
                </a:solidFill>
              </a:rPr>
              <a:t>[19] </a:t>
            </a:r>
            <a:pPr indent="0" marL="0">
              <a:buNone/>
            </a:pPr>
            <a:r>
              <a:rPr lang="en-US" sz="950" dirty="0">
                <a:solidFill>
                  <a:schemeClr val="tx1"/>
                </a:solidFill>
              </a:rPr>
              <a:t>T. Guillod, P. Papamanolis, and J. W. Kolar, “Artificial neural network (ANN) based fast and accurate inductor modeling and design,” </a:t>
            </a:r>
            <a:pPr indent="0" marL="0">
              <a:buNone/>
            </a:pPr>
            <a:r>
              <a:rPr lang="en-US" sz="950" i="1" dirty="0">
                <a:solidFill>
                  <a:schemeClr val="tx1"/>
                </a:solidFill>
              </a:rPr>
              <a:t>IEEE Open J. Power Electron.</a:t>
            </a:r>
            <a:pPr indent="0" marL="0">
              <a:spcAft>
                <a:spcPts val="300"/>
              </a:spcAft>
              <a:buNone/>
            </a:pPr>
            <a:r>
              <a:rPr lang="en-US" sz="950" dirty="0">
                <a:solidFill>
                  <a:schemeClr val="tx1"/>
                </a:solidFill>
              </a:rPr>
              <a:t>, vol. 1, pp. 284–299, 2020.</a:t>
            </a:r>
            <a:endParaRPr lang="en-US" sz="950" dirty="0"/>
          </a:p>
          <a:p>
            <a:pPr indent="0" marL="0">
              <a:buNone/>
            </a:pPr>
            <a:r>
              <a:rPr lang="en-US" sz="950" b="1" dirty="0">
                <a:solidFill>
                  <a:schemeClr val="tx2"/>
                </a:solidFill>
              </a:rPr>
              <a:t>[20] </a:t>
            </a:r>
            <a:pPr indent="0" marL="0">
              <a:buNone/>
            </a:pPr>
            <a:r>
              <a:rPr lang="en-US" sz="950" dirty="0">
                <a:solidFill>
                  <a:schemeClr val="tx1"/>
                </a:solidFill>
              </a:rPr>
              <a:t>H. Li et al., “How MagNet: Machine learning framework for modeling power magnetic material characteristics,” </a:t>
            </a:r>
            <a:pPr indent="0" marL="0">
              <a:buNone/>
            </a:pPr>
            <a:r>
              <a:rPr lang="en-US" sz="950" i="1" dirty="0">
                <a:solidFill>
                  <a:schemeClr val="tx1"/>
                </a:solidFill>
              </a:rPr>
              <a:t>IEEE Trans. Power Electron.</a:t>
            </a:r>
            <a:pPr indent="0" marL="0">
              <a:spcAft>
                <a:spcPts val="300"/>
              </a:spcAft>
              <a:buNone/>
            </a:pPr>
            <a:r>
              <a:rPr lang="en-US" sz="950" dirty="0">
                <a:solidFill>
                  <a:schemeClr val="tx1"/>
                </a:solidFill>
              </a:rPr>
              <a:t>, vol. 38, no. 12, pp. 15829–15853, 2023.</a:t>
            </a:r>
            <a:endParaRPr lang="en-US" sz="95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Copper and Ferrite">
  <a:themeElements>
    <a:clrScheme name="Copper and Ferrite">
      <a:dk1>
        <a:srgbClr val="1E252B"/>
      </a:dk1>
      <a:lt1>
        <a:srgbClr val="FFFFFF"/>
      </a:lt1>
      <a:dk2>
        <a:srgbClr val="1F2D36"/>
      </a:dk2>
      <a:lt2>
        <a:srgbClr val="EEF2F4"/>
      </a:lt2>
      <a:accent1>
        <a:srgbClr val="0F7C86"/>
      </a:accent1>
      <a:accent2>
        <a:srgbClr val="C46A2B"/>
      </a:accent2>
      <a:accent3>
        <a:srgbClr val="5B6B77"/>
      </a:accent3>
      <a:accent4>
        <a:srgbClr val="E3A33B"/>
      </a:accent4>
      <a:accent5>
        <a:srgbClr val="2E8B57"/>
      </a:accent5>
      <a:accent6>
        <a:srgbClr val="B23A3A"/>
      </a:accent6>
      <a:hlink>
        <a:srgbClr val="0F7C86"/>
      </a:hlink>
      <a:folHlink>
        <a:srgbClr val="5B6B77"/>
      </a:folHlink>
    </a:clrScheme>
    <a:fontScheme name="Copper and Ferri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Experimental Verification of Automated Loss Simulation for Magnetic Components – Poster Digest</dc:title>
  <dc:subject>Automated magnetics loss simulation validated by near-adiabatic calorimetry</dc:subject>
  <dc:creator>PptxGenJS</dc:creator>
  <cp:lastModifiedBy>PptxGenJS</cp:lastModifiedBy>
  <cp:revision>1</cp:revision>
  <dcterms:created xsi:type="dcterms:W3CDTF">2026-10-02T14:28:27Z</dcterms:created>
  <dcterms:modified xsi:type="dcterms:W3CDTF">2026-10-02T14:28:27Z</dcterms:modified>
</cp:coreProperties>
</file>