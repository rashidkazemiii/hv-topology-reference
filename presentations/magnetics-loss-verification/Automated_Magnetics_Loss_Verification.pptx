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aab4ab29-b7d3-ccff-d076-4650c6b7ce5c}">
          <p14:sldIdLst>
            <p14:sldId id="256"/>
          </p14:sldIdLst>
        </p14:section>
        <p14:section name="Method" id="{4a85321e-5607-6322-a851-69271de7cbc6}">
          <p14:sldIdLst>
            <p14:sldId id="257"/>
            <p14:sldId id="258"/>
            <p14:sldId id="259"/>
          </p14:sldIdLst>
        </p14:section>
        <p14:section name="Results" id="{2538288e-b24e-f9ec-1a6c-2bd9e3c3fed0}">
          <p14:sldIdLst>
            <p14:sldId id="260"/>
          </p14:sldIdLst>
        </p14:section>
        <p14:section name="References" id="{05e1bf7f-a18f-a03c-891b-e84923a52724}">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amplitude (% of fundamental)</c:v>
                </c:pt>
              </c:strCache>
            </c:strRef>
          </c:tx>
          <c:spPr>
            <a:solidFill>
              <a:srgbClr val="0F7C86"/>
            </a:solidFill>
            <a:effectLst/>
          </c:spPr>
          <c:invertIfNegative val="0"/>
          <c:dLbls>
            <c:numFmt formatCode="General" sourceLinked="0"/>
            <c:txPr>
              <a:bodyPr/>
              <a:lstStyle/>
              <a:p>
                <a:pPr>
                  <a:defRPr b="0" i="0" strike="noStrike" sz="900" u="none">
                    <a:solidFill>
                      <a:srgbClr val="1E252B"/>
                    </a:solidFill>
                    <a:latin typeface="+mn-lt"/>
                  </a:defRPr>
                </a:pPr>
              </a:p>
            </c:txPr>
            <c:showLegendKey val="0"/>
            <c:showVal val="1"/>
            <c:showCatName val="0"/>
            <c:showSerName val="0"/>
            <c:showPercent val="0"/>
            <c:showBubbleSize val="0"/>
            <c:showLeaderLines val="0"/>
          </c:dLbls>
          <c:cat>
            <c:multiLvlStrRef>
              <c:f>Sheet1!$A$2:$A$11</c:f>
              <c:multiLvlStrCache>
                <c:ptCount val="10"/>
                <c:lvl>
                  <c:pt idx="0">
                    <c:v>0.4</c:v>
                  </c:pt>
                  <c:pt idx="1">
                    <c:v>1.2</c:v>
                  </c:pt>
                  <c:pt idx="2">
                    <c:v>2.0</c:v>
                  </c:pt>
                  <c:pt idx="3">
                    <c:v>2.8</c:v>
                  </c:pt>
                  <c:pt idx="4">
                    <c:v>3.6</c:v>
                  </c:pt>
                  <c:pt idx="5">
                    <c:v>4.4</c:v>
                  </c:pt>
                  <c:pt idx="6">
                    <c:v>5.2</c:v>
                  </c:pt>
                  <c:pt idx="7">
                    <c:v>6.0</c:v>
                  </c:pt>
                  <c:pt idx="8">
                    <c:v>6.8</c:v>
                  </c:pt>
                  <c:pt idx="9">
                    <c:v>7.6</c:v>
                  </c:pt>
                </c:lvl>
              </c:multiLvlStrCache>
            </c:multiLvlStrRef>
          </c:cat>
          <c:val>
            <c:numRef>
              <c:f>Sheet1!$B$2:$B$11</c:f>
              <c:numCache>
                <c:formatCode>General</c:formatCode>
                <c:ptCount val="10"/>
                <c:pt idx="0">
                  <c:v>100</c:v>
                </c:pt>
                <c:pt idx="1">
                  <c:v>11.1</c:v>
                </c:pt>
                <c:pt idx="2">
                  <c:v>4</c:v>
                </c:pt>
                <c:pt idx="3">
                  <c:v>2</c:v>
                </c:pt>
                <c:pt idx="4">
                  <c:v>1.2</c:v>
                </c:pt>
                <c:pt idx="5">
                  <c:v>0.8</c:v>
                </c:pt>
                <c:pt idx="6">
                  <c:v>0.6</c:v>
                </c:pt>
                <c:pt idx="7">
                  <c:v>0.4</c:v>
                </c:pt>
                <c:pt idx="8">
                  <c:v>0.3</c:v>
                </c:pt>
                <c:pt idx="9">
                  <c:v>0.3</c:v>
                </c:pt>
              </c:numCache>
            </c:numRef>
          </c:val>
        </c:ser>
        <c:dLbls>
          <c:numFmt formatCode="General" sourceLinked="0"/>
          <c:txPr>
            <a:bodyPr/>
            <a:lstStyle/>
            <a:p>
              <a:pPr>
                <a:defRPr b="0" i="0" strike="noStrike" sz="900" u="none">
                  <a:solidFill>
                    <a:srgbClr val="1E25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source frequency (MHz)</a:t>
                </a:r>
              </a:p>
            </c:rich>
          </c:tx>
          <c:layout/>
          <c:overlay val="0"/>
        </c:title>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amplitude (%)</a:t>
                </a:r>
              </a:p>
            </c:rich>
          </c:tx>
          <c:layout/>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3"/>
          <c:h val="0.7"/>
        </c:manualLayout>
      </c:layout>
      <c:scatterChart>
        <c:scatterStyle val="lineMarker"/>
        <c:varyColors val="0"/>
        <c:ser>
          <c:idx val="0"/>
          <c:order val="0"/>
          <c:tx>
            <c:strRef>
              <c:f>Sheet1!$B$1</c:f>
              <c:strCache>
                <c:ptCount val="1"/>
                <c:pt idx="0">
                  <c:v>Heater calibration</c:v>
                </c:pt>
              </c:strCache>
            </c:strRef>
          </c:tx>
          <c:spPr>
            <a:solidFill>
              <a:srgbClr val="C46A2B"/>
            </a:solidFill>
            <a:ln>
              <a:noFill/>
            </a:ln>
            <a:effectLst/>
          </c:spPr>
          <c:marker>
            <c:symbol val="circle"/>
            <c:size val="9"/>
            <c:spPr>
              <a:solidFill>
                <a:srgbClr val="C46A2B"/>
              </a:solidFill>
              <a:ln w="9525" cap="flat">
                <a:solidFill>
                  <a:srgbClr val="C46A2B"/>
                </a:solidFill>
                <a:prstDash val="solid"/>
                <a:round/>
              </a:ln>
              <a:effectLst/>
            </c:spPr>
          </c:marker>
          <c:xVal>
            <c:numRef>
              <c:f>Sheet1!$A$2:$A$11</c:f>
              <c:numCache>
                <c:formatCode>General</c:formatCode>
                <c:ptCount val="6"/>
                <c:pt idx="0">
                  <c:v>2</c:v>
                </c:pt>
                <c:pt idx="1">
                  <c:v>3</c:v>
                </c:pt>
                <c:pt idx="2">
                  <c:v>5</c:v>
                </c:pt>
                <c:pt idx="3">
                  <c:v>8</c:v>
                </c:pt>
                <c:pt idx="4">
                  <c:v>10</c:v>
                </c:pt>
                <c:pt idx="5">
                  <c:v>13</c:v>
                </c:pt>
              </c:numCache>
            </c:numRef>
          </c:xVal>
          <c:yVal>
            <c:numRef>
              <c:f>Sheet1!$B$2:$B$11</c:f>
              <c:numCache>
                <c:formatCode>General</c:formatCode>
                <c:ptCount val="6"/>
                <c:pt idx="0">
                  <c:v>0.1538</c:v>
                </c:pt>
                <c:pt idx="1">
                  <c:v>0.2308</c:v>
                </c:pt>
                <c:pt idx="2">
                  <c:v>0.3846</c:v>
                </c:pt>
                <c:pt idx="3">
                  <c:v>0.6154</c:v>
                </c:pt>
                <c:pt idx="4">
                  <c:v>0.7692</c:v>
                </c:pt>
                <c:pt idx="5">
                  <c:v>1</c:v>
                </c:pt>
              </c:numCache>
            </c:numRef>
          </c:yVal>
          <c:smooth val="0"/>
        </c:ser>
        <c:ser>
          <c:idx val="1"/>
          <c:order val="1"/>
          <c:tx>
            <c:strRef>
              <c:f>Sheet1!$C$1</c:f>
              <c:strCache>
                <c:ptCount val="1"/>
                <c:pt idx="0">
                  <c:v>Proportional fit</c:v>
                </c:pt>
              </c:strCache>
            </c:strRef>
          </c:tx>
          <c:spPr>
            <a:solidFill>
              <a:srgbClr val="5B6B77"/>
            </a:solidFill>
            <a:ln w="25400" cap="flat">
              <a:solidFill>
                <a:srgbClr val="5B6B77"/>
              </a:solidFill>
              <a:prstDash val="dash"/>
              <a:round/>
            </a:ln>
            <a:effectLst/>
          </c:spPr>
          <c:marker>
            <c:symbol val="none"/>
          </c:marker>
          <c:xVal>
            <c:numRef>
              <c:f>Sheet1!$A$2:$A$11</c:f>
              <c:numCache>
                <c:formatCode>General</c:formatCode>
                <c:ptCount val="2"/>
                <c:pt idx="0">
                  <c:v>0</c:v>
                </c:pt>
                <c:pt idx="1">
                  <c:v>14</c:v>
                </c:pt>
              </c:numCache>
            </c:numRef>
          </c:xVal>
          <c:yVal>
            <c:numRef>
              <c:f>Sheet1!$C$2:$C$11</c:f>
              <c:numCache>
                <c:formatCode>General</c:formatCode>
                <c:ptCount val="2"/>
                <c:pt idx="0">
                  <c:v>0</c:v>
                </c:pt>
                <c:pt idx="1">
                  <c:v>1.0769</c:v>
                </c:pt>
              </c:numCache>
            </c:numRef>
          </c:yVal>
          <c:smooth val="0"/>
        </c:ser>
        <c:ser>
          <c:idx val="2"/>
          <c:order val="2"/>
          <c:tx>
            <c:strRef>
              <c:f>Sheet1!$D$1</c:f>
              <c:strCache>
                <c:ptCount val="1"/>
                <c:pt idx="0">
                  <c:v>DUT</c:v>
                </c:pt>
              </c:strCache>
            </c:strRef>
          </c:tx>
          <c:spPr>
            <a:solidFill>
              <a:srgbClr val="0F7C86"/>
            </a:solidFill>
            <a:ln>
              <a:noFill/>
            </a:ln>
            <a:effectLst/>
          </c:spPr>
          <c:marker>
            <c:symbol val="diamond"/>
            <c:size val="12"/>
            <c:spPr>
              <a:solidFill>
                <a:srgbClr val="0F7C86"/>
              </a:solidFill>
              <a:ln w="9525" cap="flat">
                <a:solidFill>
                  <a:srgbClr val="0F7C86"/>
                </a:solidFill>
                <a:prstDash val="solid"/>
                <a:round/>
              </a:ln>
              <a:effectLst/>
            </c:spPr>
          </c:marker>
          <c:xVal>
            <c:numRef>
              <c:f>Sheet1!$A$2:$A$11</c:f>
              <c:numCache>
                <c:formatCode>General</c:formatCode>
                <c:ptCount val="2"/>
                <c:pt idx="0">
                  <c:v>6.6667</c:v>
                </c:pt>
                <c:pt idx="1">
                  <c:v>7.4</c:v>
                </c:pt>
              </c:numCache>
            </c:numRef>
          </c:xVal>
          <c:yVal>
            <c:numRef>
              <c:f>Sheet1!$D$2:$D$11</c:f>
              <c:numCache>
                <c:formatCode>General</c:formatCode>
                <c:ptCount val="2"/>
                <c:pt idx="0">
                  <c:v>0.5128</c:v>
                </c:pt>
                <c:pt idx="1">
                  <c:v>0.5692</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4"/>
          <c:min val="0"/>
        </c:scaling>
        <c:delete val="0"/>
        <c:axPos val="b"/>
        <c:title>
          <c:tx>
            <c:rich>
              <a:bodyPr/>
              <a:lstStyle/>
              <a:p>
                <a:pPr>
                  <a:defRPr sz="1000" b="0" i="0" u="none" strike="noStrike">
                    <a:solidFill>
                      <a:srgbClr val="5B6B77"/>
                    </a:solidFill>
                    <a:latin typeface="+mn-lt"/>
                  </a:defRPr>
                </a:pPr>
                <a:r>
                  <a:rPr sz="1000" b="0" i="0" u="none" strike="noStrike">
                    <a:solidFill>
                      <a:srgbClr val="5B6B77"/>
                    </a:solidFill>
                    <a:latin typeface="+mn-lt"/>
                  </a:rPr>
                  <a:t>heater power P (W)</a:t>
                </a:r>
              </a:p>
            </c:rich>
          </c:tx>
          <c:layout/>
          <c:overlay val="0"/>
        </c:title>
        <c:numFmt formatCode="General" sourceLinked="1"/>
        <c:majorTickMark val="none"/>
        <c:minorTickMark val="none"/>
        <c:tickLblPos val="nextTo"/>
        <c:spPr>
          <a:ln w="12700" cap="flat">
            <a:solidFill>
              <a:srgbClr val="AEB8C0"/>
            </a:solidFill>
            <a:prstDash val="solid"/>
            <a:round/>
          </a:ln>
        </c:spPr>
        <c:txPr>
          <a:bodyPr/>
          <a:lstStyle/>
          <a:p>
            <a:pPr>
              <a:defRPr sz="1000" b="0" i="0" u="none" strike="noStrike">
                <a:solidFill>
                  <a:srgbClr val="5B6B77"/>
                </a:solidFill>
                <a:latin typeface="+mn-lt"/>
              </a:defRPr>
            </a:pPr>
            <a:endParaRPr lang="en-US"/>
          </a:p>
        </c:txPr>
        <c:crossAx val="2094734552"/>
        <c:crosses val="autoZero"/>
        <c:auto val="1"/>
        <c:lblAlgn val="ctr"/>
        <c:noMultiLvlLbl val="1"/>
        <c:majorUnit val="2"/>
      </c:valAx>
      <c:valAx>
        <c:axId val="2094734552"/>
        <c:scaling>
          <c:orientation val="minMax"/>
          <c:max val="1.2"/>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ΔT/Δt (rel. to 13 W)</a:t>
                </a:r>
              </a:p>
            </c:rich>
          </c:tx>
          <c:layout/>
          <c:overlay val="0"/>
        </c:title>
        <c:numFmt formatCode="General" sourceLinked="0"/>
        <c:majorTickMark val="none"/>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Simulated (Ansys Maxwell 2D)</c:v>
                </c:pt>
              </c:strCache>
            </c:strRef>
          </c:tx>
          <c:spPr>
            <a:solidFill>
              <a:srgbClr val="0F7C86"/>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Sheet1!$B$2:$B$3</c:f>
              <c:numCache>
                <c:formatCode>General</c:formatCode>
                <c:ptCount val="2"/>
                <c:pt idx="0">
                  <c:v>6.75</c:v>
                </c:pt>
                <c:pt idx="1">
                  <c:v>6.7</c:v>
                </c:pt>
              </c:numCache>
            </c:numRef>
          </c:val>
        </c:ser>
        <c:ser>
          <c:idx val="1"/>
          <c:order val="1"/>
          <c:tx>
            <c:strRef>
              <c:f>Sheet1!$C$1</c:f>
              <c:strCache>
                <c:ptCount val="1"/>
                <c:pt idx="0">
                  <c:v>Measured, calorimetric (mean of 3)</c:v>
                </c:pt>
              </c:strCache>
            </c:strRef>
          </c:tx>
          <c:spPr>
            <a:solidFill>
              <a:srgbClr val="C46A2B"/>
            </a:solidFill>
            <a:effectLst/>
          </c:spPr>
          <c:invertIfNegative val="0"/>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cat>
            <c:multiLvlStrRef>
              <c:f>Sheet1!$A$2:$A$3</c:f>
              <c:multiLvlStrCache>
                <c:ptCount val="2"/>
                <c:lvl>
                  <c:pt idx="0">
                    <c:v>Solid wire</c:v>
                  </c:pt>
                  <c:pt idx="1">
                    <c:v>Litz wire</c:v>
                  </c:pt>
                </c:lvl>
              </c:multiLvlStrCache>
            </c:multiLvlStrRef>
          </c:cat>
          <c:val>
            <c:numRef>
              <c:f>Sheet1!$C$2:$C$3</c:f>
              <c:numCache>
                <c:formatCode>General</c:formatCode>
                <c:ptCount val="2"/>
                <c:pt idx="0">
                  <c:v>7.4</c:v>
                </c:pt>
                <c:pt idx="1">
                  <c:v>6.667</c:v>
                </c:pt>
              </c:numCache>
            </c:numRef>
          </c:val>
        </c:ser>
        <c:dLbls>
          <c:numFmt formatCode="0.00" sourceLinked="0"/>
          <c:txPr>
            <a:bodyPr/>
            <a:lstStyle/>
            <a:p>
              <a:pPr>
                <a:defRPr b="1" i="0" strike="noStrike" sz="1100" u="none">
                  <a:solidFill>
                    <a:srgbClr val="1E252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EB8C0"/>
            </a:solidFill>
            <a:prstDash val="solid"/>
            <a:round/>
          </a:ln>
        </c:spPr>
        <c:txPr>
          <a:bodyPr/>
          <a:lstStyle/>
          <a:p>
            <a:pPr>
              <a:defRPr sz="1000" b="0" i="0" u="none" strike="noStrike">
                <a:solidFill>
                  <a:srgbClr val="1E25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6350" cap="flat">
              <a:solidFill>
                <a:srgbClr val="D5DCE1"/>
              </a:solidFill>
              <a:prstDash val="solid"/>
              <a:round/>
            </a:ln>
          </c:spPr>
        </c:majorGridlines>
        <c:title>
          <c:tx>
            <c:rich>
              <a:bodyPr/>
              <a:lstStyle/>
              <a:p>
                <a:pPr>
                  <a:defRPr sz="1000" b="0" i="0" u="none" strike="noStrike">
                    <a:solidFill>
                      <a:srgbClr val="5B6B77"/>
                    </a:solidFill>
                    <a:latin typeface="+mn-lt"/>
                  </a:defRPr>
                </a:pPr>
                <a:r>
                  <a:rPr sz="1000" b="0" i="0" u="none" strike="noStrike">
                    <a:solidFill>
                      <a:srgbClr val="5B6B77"/>
                    </a:solidFill>
                    <a:latin typeface="+mn-lt"/>
                  </a:rPr>
                  <a:t>loss (W)</a:t>
                </a:r>
              </a:p>
            </c:rich>
          </c:tx>
          <c:layout/>
          <c:overlay val="0"/>
        </c:title>
        <c:numFmt formatCode="0" sourceLinked="0"/>
        <c:majorTickMark val="out"/>
        <c:minorTickMark val="none"/>
        <c:tickLblPos val="nextTo"/>
        <c:spPr>
          <a:ln w="12700" cap="flat">
            <a:noFill/>
            <a:prstDash val="solid"/>
            <a:round/>
          </a:ln>
        </c:spPr>
        <c:txPr>
          <a:bodyPr/>
          <a:lstStyle/>
          <a:p>
            <a:pPr>
              <a:defRPr sz="1000" b="0" i="0" u="none" strike="noStrike">
                <a:solidFill>
                  <a:srgbClr val="5B6B77"/>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050">
              <a:solidFill>
                <a:srgbClr val="1E252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 OF THE POSTER
The poster by P. Skoff, M. Stoiber, J. Reynvaan and W. Konrad (Silicon Austria Labs with Infineon Technologies AG, Power Electronics for Energy Transition Symposium, Vienna, 29-30 Sep 2026) combines magnetics and thermal analysis.
Magnetic side: an automated Python-based workflow developed by SAL and Infineon characterises the losses of common converter topologies. Switch losses come from the Infineon SPICE solver; the losses of inductors and transformers come from 2D modelling in Ansys Maxwell combined with PLECS.
Thermal side: the simulation is validated with a measurement set-up that determines the losses through heat. All losses of a magnetic component (core + winding) are dissipated as heat. If the component sits in a near-adiabatic, stirred liquid, the heat is stored and the liquid temperature rises: P_loss = C_Th * dT/dt, where C_Th is the total heat capacity of everything inside the enclosure.
Comparison: for a buck-converter inductor (RM14LP core, 400 kHz, about 880 W) the simulated losses of the litz-wire version agree with the thermal measurement within 1.5 %, while the solid-wire version is measured 8-11 % above the simulation. Overall the measured losses are within about 11 % of the simulated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MAGNETIC SIDE (poster panel 'Simulation results - example: buck converter')
1) The circuit is drawn in PLECS.
2) Switch losses are simulated in the Infineon SPICE solver using Infineon models (about 6.8 W per switch).
3) The waveforms for the simulation of the magnetic component are extracted from PLECS and an FFT is done.
4) The 10 most dominant frequency components become parallel sinusoidal sources for the Ansys Maxwell simulation - good results at acceptable simulation time. The layer stack / winding structure and the material are assigned (litz or solid); core size and material, insulation thicknesses and air gaps are set.
5) Example: RM14LP core, solid wire, 400 kHz, around 880 W. Total inductor losses: 6.75 W with solid wire and 6.70 W with litz wire.
Physics behind it: a magnetic component has core losses (hysteresis and eddy currents in the ferrite, depending on frequency, flux density and waveform) and winding losses (DC resistance plus high-frequency skin and proximity effect, which litz wire reduces) [9-11]. Because the converter current is not sinusoidal, it is decomposed into sinusoids that a frequency-domain FEM solver can handle.
The chart is our own illustration of the FFT step, not taken from the poster: for an ideal triangular ripple at 400 kHz the harmonic amplitudes fall with 1/n^2, so the ten sinusoidal sources (0.4 to 7.6 MHz) rebuild the current within about 2 % of its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THERMAL SIDE (poster panel 'Setup for measuring inductor losses')
- A calorimetric method is used because the losses are dissipated as heat.
- A near-adiabatic set-up is constructed because, in contrast to other calorimetric methods, no mass-flow measurement is then necessary.
- The power dissipation is measured as P_loss = C_Th * dT/dt (approximately C_Th * delta T / delta t); C_Th is the total heat capacity and delta T the temperature change inside the adiabatic enclosure during the time delta t in which power is dissipated.
- The liquid inside the enclosure gives good electrical insulation and a very high heat capacity at reasonable cost. It is stirred continuously during calibration and measurement to ensure uniform heating.
- Set-up: Dewar jar with custom double lid; stepper motor + Arduino; PT100 sensors for fluid and ambient temperature; DAQ970A data-acquisition system; LV supply + wire-wound resistor as heating element for calibration.
Why thermal instead of electrical: an electrical V*I measurement of a high-Q inductor is extremely sensitive to phase errors (relative error about Q times the phase error), whereas the heat measurement does not depend on waveform or frequency [3, 6]. The method was evaluated by the same group for ferrite core losses [2].
The schematic is our own drawing; numbers 1-7 match the set-up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CALIBRATION (poster panel 'Calibration of setup')
- For accurate calibration the DUT must be fully submerged in the adiabatic enclosure, because it adds a non-negligible thermal capacity to the system.
- A heating element (LV supply + wire-wound resistor) with 4-wire measurement heats the liquid at known power levels (2, 3, 5, 8, 10 and 13 W in the poster's calibration plot, 0-25 s).
- The liquid is stirred continuously; its initial temperature is held at 35 degC for accurate data.
- Heating at known power for known times gives a series of points; the most linear regions are fitted and give a set of dT/dt slopes. The slope is directly proportional to the power loss, and intermediate powers are interpolated between calibrated slopes.
MEASUREMENT (poster panel 'Results'): the DUT is operated as in normal operation, its dT/dt slope is recorded and the most linear portion is compared with the calibration data.
THERMAL MODEL (our explanation of why these rules matter): the lumped network shows the DUT as a heat source with its own heat capacity, a thermal resistance to the liquid (which delays the response - the poster's calibration curves only start rising after several seconds), the heat capacity of liquid and enclosure, and a very large leakage resistance to ambient through the Dewar and double lid. With leakage negligible, P_loss = C_Th * dT/dt. Calibrating with the heater at known power determines this proportionality under identical conditions, so C_Th does not have to be calculated.
The calibration chart is idealised (relative slope); it shows the principle, not the poster's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(poster panel 'Results &amp; conclusion')
Calorimetric runs: solid wire 7.3 / 7.4 / 7.5 W (mean 7.40 W); litz wire 6.7 / 6.7 / 6.6 W (mean 6.67 W). Simulated: 6.75 W (solid) and 6.70 W (litz).
- Litz: measured mean 0.5 % below the simulation (0 to -1.5 % per run).
- Solid: measured mean 9.6 % above the simulation (+8.1 to +11.1 % per run).
- The thermal measurement shows that the solid-wire winding costs about 0.73 W more than the litz winding, while the simulation predicts only 0.05 W.
Poster's conclusion: the Python-based simulation workflow seems to enable accurate loss prediction of magnetic components. The simulated losses of litz-wound inductors are very close to the measured values; the effect of using solid wire seems to be under-represented in the simulation, and why this occurs should be investigated in future analysis. The simulation data is nevertheless close to real values and can serve as a good approximation for inductor design, as the measured losses are within ~11 % of the simulated losses.
Background for discussion (not on the poster): solid round wire is much more sensitive to high-frequency eddy-current effects (skin and proximity effect, air-gap fringing fields) than litz wire [10]; these effects are the natural place to look for the missing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is the poster itself. [2] is the reference printed on the poster: J. Reynvaan, M. Pajnic and J. Krenn, 'Evaluating Fluid Based Transient Calorimetric Method for Measurement of the Ferrite Core Losses', ICPE 2023-ECCE Asia, doi: 10.23919/ICPE2023-ECCEAsia54778.2023.10213808 - the same group's work on the fluid-based transient calorimeter used here.
[3]-[8]: thermal / calorimetric loss measurement with a similar concept (transient calorimetry of ferrite cores, closed calorimeters, overview of loss-measurement methods, temperature-based loss evaluation of high-frequency transformers, 2026 review).
[9]-[15]: modelling of magnetic losses and of the thermal behaviour of magnetic components (winding and core loss models, litz vs. solid wire, winding thermal models, open-source FEM toolbox with electric and thermal simulation, integrated loss simulation, FEM-based inductor design).
Links and DOIs: REFERENCES.md next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6675120" cy="17830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6675120" cy="7315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rtlCol="0"/>
          <a:lstStyle>
            <a:lvl1pPr indent="0" marL="0">
              <a:buNone/>
              <a:defRPr lang="en-US" sz="1500" dirty="0">
                <a:solidFill>
                  <a:schemeClr val="accent1"/>
                </a:solidFill>
              </a:defRPr>
            </a:lvl1pPr>
          </a:lstStyle>
          <a:p>
            <a:pPr indent="0" marL="0">
              <a:buNone/>
            </a:pPr>
            <a:endParaRPr lang="en-US" sz="1500" dirty="0"/>
          </a:p>
        </p:txBody>
      </p:sp>
      <p:sp>
        <p:nvSpPr>
          <p:cNvPr id="4" name="Text 0"/>
          <p:cNvSpPr/>
          <p:nvPr/>
        </p:nvSpPr>
        <p:spPr>
          <a:xfrm>
            <a:off x="548640" y="6419088"/>
            <a:ext cx="10058400" cy="256032"/>
          </a:xfrm>
          <a:prstGeom prst="rect">
            <a:avLst/>
          </a:prstGeom>
          <a:noFill/>
          <a:ln/>
        </p:spPr>
        <p:txBody>
          <a:bodyPr wrap="square" lIns="0" tIns="0" rIns="0" bIns="0" rtlCol="0" anchor="ctr"/>
          <a:lstStyle/>
          <a:p>
            <a:pPr indent="0" marL="0">
              <a:buNone/>
            </a:pPr>
            <a:r>
              <a:rPr lang="en-US" sz="900" dirty="0">
                <a:solidFill>
                  <a:schemeClr val="accent3"/>
                </a:solidFill>
              </a:rPr>
              <a:t>Poster digest · P. Skoff, M. Stoiber, J. Reynvaan, W. Konrad (Silicon Austria Labs, Infineon) · Power Electronics for Energy Transition Symposium, Vienna 2026</a:t>
            </a:r>
            <a:endParaRPr lang="en-US" sz="9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457200"/>
            <a:ext cx="6949440" cy="274320"/>
          </a:xfrm>
          <a:prstGeom prst="rect">
            <a:avLst/>
          </a:prstGeom>
          <a:noFill/>
          <a:ln/>
        </p:spPr>
        <p:txBody>
          <a:bodyPr wrap="square" lIns="0" tIns="0" rIns="0" bIns="0" rtlCol="0" anchor="ctr"/>
          <a:lstStyle/>
          <a:p>
            <a:pPr indent="0" marL="0">
              <a:buNone/>
            </a:pPr>
            <a:r>
              <a:rPr lang="en-US" sz="1200" b="1" spc="300" kern="0" dirty="0">
                <a:solidFill>
                  <a:schemeClr val="accent4"/>
                </a:solidFill>
              </a:rPr>
              <a:t>POSTER DIGEST  ·  THERMAL VERIFICATION OF MAGNETIC LOSSES</a:t>
            </a:r>
            <a:endParaRPr lang="en-US" sz="1200" dirty="0"/>
          </a:p>
        </p:txBody>
      </p:sp>
      <p:sp>
        <p:nvSpPr>
          <p:cNvPr id="3" name="Text 0"/>
          <p:cNvSpPr/>
          <p:nvPr>
            <p:ph idx="100" type="title" hasCustomPrompt="1"/>
          </p:nvPr>
        </p:nvSpPr>
        <p:spPr>
          <a:xfrm>
            <a:off x="548640" y="868680"/>
            <a:ext cx="6675120" cy="1783080"/>
          </a:xfrm>
          <a:prstGeom prst="rect">
            <a:avLst/>
          </a:prstGeom>
          <a:noFill/>
          <a:ln/>
        </p:spPr>
        <p:txBody>
          <a:bodyPr wrap="square" lIns="0" tIns="0" rIns="0" bIns="0" rtlCol="0" anchor="t"/>
          <a:lstStyle/>
          <a:p>
            <a:pPr algn="l" indent="0" marL="0">
              <a:buNone/>
            </a:pPr>
            <a:r>
              <a:rPr lang="en-US" sz="3400" b="1" dirty="0">
                <a:solidFill>
                  <a:schemeClr val="bg1"/>
                </a:solidFill>
              </a:rPr>
              <a:t>Experimental Verification of Automated Loss Simulation of Magnetic Components</a:t>
            </a:r>
            <a:endParaRPr lang="en-US" sz="3400" dirty="0"/>
          </a:p>
        </p:txBody>
      </p:sp>
      <p:sp>
        <p:nvSpPr>
          <p:cNvPr id="4" name="Text 0"/>
          <p:cNvSpPr/>
          <p:nvPr>
            <p:ph idx="101" type="body" hasCustomPrompt="1"/>
          </p:nvPr>
        </p:nvSpPr>
        <p:spPr>
          <a:xfrm>
            <a:off x="548640" y="2743200"/>
            <a:ext cx="6675120" cy="731520"/>
          </a:xfrm>
          <a:prstGeom prst="rect">
            <a:avLst/>
          </a:prstGeom>
          <a:noFill/>
          <a:ln/>
        </p:spPr>
        <p:txBody>
          <a:bodyPr wrap="square" lIns="0" tIns="0" rIns="0" bIns="0" rtlCol="0" anchor="t"/>
          <a:lstStyle/>
          <a:p>
            <a:pPr indent="0" marL="0">
              <a:buNone/>
            </a:pPr>
            <a:r>
              <a:rPr lang="en-US" sz="1600" dirty="0">
                <a:solidFill>
                  <a:schemeClr val="bg2"/>
                </a:solidFill>
              </a:rPr>
              <a:t>Losses predicted by an automated magnetic simulation are checked by measuring the heat they produce</a:t>
            </a:r>
            <a:endParaRPr lang="en-US" sz="1600" dirty="0"/>
          </a:p>
        </p:txBody>
      </p:sp>
      <p:sp>
        <p:nvSpPr>
          <p:cNvPr id="5" name="Source"/>
          <p:cNvSpPr txBox="1"/>
          <p:nvPr/>
        </p:nvSpPr>
        <p:spPr>
          <a:xfrm>
            <a:off x="548640" y="3566160"/>
            <a:ext cx="6675120" cy="566928"/>
          </a:xfrm>
          <a:prstGeom prst="rect">
            <a:avLst/>
          </a:prstGeom>
          <a:noFill/>
          <a:ln/>
        </p:spPr>
        <p:txBody>
          <a:bodyPr wrap="square" lIns="0" tIns="0" rIns="0" bIns="0" rtlCol="0" anchor="t"/>
          <a:lstStyle/>
          <a:p>
            <a:pPr indent="0" marL="0">
              <a:buNone/>
            </a:pPr>
            <a:r>
              <a:rPr lang="en-US" sz="1100" b="1" dirty="0">
                <a:solidFill>
                  <a:schemeClr val="bg2"/>
                </a:solidFill>
              </a:rPr>
              <a:t>P. Skoff, M. Stoiber, J. Reynvaan, W. Konrad</a:t>
            </a:r>
            <a:endParaRPr lang="en-US" sz="1100" dirty="0"/>
          </a:p>
          <a:p>
            <a:pPr indent="0" marL="0">
              <a:buNone/>
            </a:pPr>
            <a:r>
              <a:rPr lang="en-US" sz="1100" dirty="0">
                <a:solidFill>
                  <a:schemeClr val="bg2"/>
                </a:solidFill>
              </a:rPr>
              <a:t>Silicon Austria Labs (SAL), with Infineon Technologies AG · Power Electronics for Energy Transition Symposium, Vienna, 29–30 Sep 2026</a:t>
            </a:r>
            <a:endParaRPr lang="en-US" sz="1100" dirty="0"/>
          </a:p>
        </p:txBody>
      </p:sp>
      <p:sp>
        <p:nvSpPr>
          <p:cNvPr id="6" name="Principle card"/>
          <p:cNvSpPr/>
          <p:nvPr/>
        </p:nvSpPr>
        <p:spPr>
          <a:xfrm>
            <a:off x="7635240" y="685800"/>
            <a:ext cx="4005072" cy="3429000"/>
          </a:xfrm>
          <a:prstGeom prst="roundRect">
            <a:avLst>
              <a:gd name="adj" fmla="val 2667"/>
            </a:avLst>
          </a:prstGeom>
          <a:solidFill>
            <a:schemeClr val="bg1">
              <a:alpha val="9000"/>
            </a:schemeClr>
          </a:solidFill>
          <a:ln/>
        </p:spPr>
      </p:sp>
      <p:sp>
        <p:nvSpPr>
          <p:cNvPr id="7" name="Principle label"/>
          <p:cNvSpPr txBox="1"/>
          <p:nvPr/>
        </p:nvSpPr>
        <p:spPr>
          <a:xfrm>
            <a:off x="7909560" y="896112"/>
            <a:ext cx="3474720" cy="228600"/>
          </a:xfrm>
          <a:prstGeom prst="rect">
            <a:avLst/>
          </a:prstGeom>
          <a:noFill/>
          <a:ln/>
        </p:spPr>
        <p:txBody>
          <a:bodyPr wrap="square" lIns="0" tIns="0" rIns="0" bIns="0" rtlCol="0" anchor="ctr"/>
          <a:lstStyle/>
          <a:p>
            <a:pPr indent="0" marL="0">
              <a:buNone/>
            </a:pPr>
            <a:r>
              <a:rPr lang="en-US" sz="1050" b="1" spc="200" kern="0" dirty="0">
                <a:solidFill>
                  <a:schemeClr val="accent4"/>
                </a:solidFill>
              </a:rPr>
              <a:t>THE PRINCIPLE</a:t>
            </a:r>
            <a:endParaRPr lang="en-US" sz="1050" dirty="0"/>
          </a:p>
        </p:txBody>
      </p:sp>
      <p:sp>
        <p:nvSpPr>
          <p:cNvPr id="8" name="Principle equation"/>
          <p:cNvSpPr txBox="1"/>
          <p:nvPr/>
        </p:nvSpPr>
        <p:spPr>
          <a:xfrm>
            <a:off x="7909560" y="1188720"/>
            <a:ext cx="3566160" cy="731520"/>
          </a:xfrm>
          <a:prstGeom prst="rect">
            <a:avLst/>
          </a:prstGeom>
          <a:noFill/>
          <a:ln/>
        </p:spPr>
        <p:txBody>
          <a:bodyPr wrap="square" lIns="0" tIns="0" rIns="0" bIns="0" rtlCol="0" anchor="ctr"/>
          <a:lstStyle/>
          <a:p>
            <a:pPr indent="0" marL="0">
              <a:buNone/>
            </a:pPr>
            <a:r>
              <a:rPr lang="en-US" sz="3400" i="1" dirty="0">
                <a:solidFill>
                  <a:schemeClr val="bg1"/>
                </a:solidFill>
                <a:latin typeface="+mj-lt" pitchFamily="34" charset="0"/>
                <a:ea typeface="+mj-lt" pitchFamily="34" charset="-122"/>
                <a:cs typeface="+mj-lt" pitchFamily="34" charset="-120"/>
              </a:rPr>
              <a:t>P</a:t>
            </a:r>
            <a:pPr indent="0" marL="0">
              <a:buNone/>
            </a:pPr>
            <a:r>
              <a:rPr lang="en-US" sz="3400" baseline="-40000" dirty="0">
                <a:solidFill>
                  <a:schemeClr val="bg1"/>
                </a:solidFill>
                <a:latin typeface="+mj-lt" pitchFamily="34" charset="0"/>
                <a:ea typeface="+mj-lt" pitchFamily="34" charset="-122"/>
                <a:cs typeface="+mj-lt" pitchFamily="34" charset="-120"/>
              </a:rPr>
              <a:t>loss</a:t>
            </a:r>
            <a:pPr indent="0" marL="0">
              <a:buNone/>
            </a:pPr>
            <a:r>
              <a:rPr lang="en-US" sz="3400" dirty="0">
                <a:solidFill>
                  <a:schemeClr val="bg1"/>
                </a:solidFill>
                <a:latin typeface="+mj-lt" pitchFamily="34" charset="0"/>
                <a:ea typeface="+mj-lt" pitchFamily="34" charset="-122"/>
                <a:cs typeface="+mj-lt" pitchFamily="34" charset="-120"/>
              </a:rPr>
              <a:t> = C</a:t>
            </a:r>
            <a:pPr indent="0" marL="0">
              <a:buNone/>
            </a:pPr>
            <a:r>
              <a:rPr lang="en-US" sz="3400" baseline="-40000" dirty="0">
                <a:solidFill>
                  <a:schemeClr val="bg1"/>
                </a:solidFill>
                <a:latin typeface="+mj-lt" pitchFamily="34" charset="0"/>
                <a:ea typeface="+mj-lt" pitchFamily="34" charset="-122"/>
                <a:cs typeface="+mj-lt" pitchFamily="34" charset="-120"/>
              </a:rPr>
              <a:t>Th</a:t>
            </a:r>
            <a:pPr indent="0" marL="0">
              <a:buNone/>
            </a:pPr>
            <a:r>
              <a:rPr lang="en-US" sz="3400" dirty="0">
                <a:solidFill>
                  <a:schemeClr val="bg1"/>
                </a:solidFill>
                <a:latin typeface="+mj-lt" pitchFamily="34" charset="0"/>
                <a:ea typeface="+mj-lt" pitchFamily="34" charset="-122"/>
                <a:cs typeface="+mj-lt" pitchFamily="34" charset="-120"/>
              </a:rPr>
              <a:t> · dT/dt</a:t>
            </a:r>
            <a:endParaRPr lang="en-US" sz="3400" dirty="0"/>
          </a:p>
        </p:txBody>
      </p:sp>
      <p:sp>
        <p:nvSpPr>
          <p:cNvPr id="9" name="Principle text"/>
          <p:cNvSpPr txBox="1"/>
          <p:nvPr/>
        </p:nvSpPr>
        <p:spPr>
          <a:xfrm>
            <a:off x="7909560" y="2011680"/>
            <a:ext cx="3520440" cy="1188720"/>
          </a:xfrm>
          <a:prstGeom prst="rect">
            <a:avLst/>
          </a:prstGeom>
          <a:noFill/>
          <a:ln/>
        </p:spPr>
        <p:txBody>
          <a:bodyPr wrap="square" lIns="0" tIns="0" rIns="0" bIns="0" rtlCol="0" anchor="t"/>
          <a:lstStyle/>
          <a:p>
            <a:pPr indent="0" marL="0">
              <a:buNone/>
            </a:pPr>
            <a:r>
              <a:rPr lang="en-US" sz="1250" dirty="0">
                <a:solidFill>
                  <a:schemeClr val="bg2"/>
                </a:solidFill>
              </a:rPr>
              <a:t>Every watt lost in the core and winding of a magnetic component ends up as heat. Measuring how fast a known heat capacity C</a:t>
            </a:r>
            <a:pPr indent="0" marL="0">
              <a:buNone/>
            </a:pPr>
            <a:r>
              <a:rPr lang="en-US" sz="1250" baseline="-40000" dirty="0">
                <a:solidFill>
                  <a:schemeClr val="bg2"/>
                </a:solidFill>
              </a:rPr>
              <a:t>Th</a:t>
            </a:r>
            <a:pPr indent="0" marL="0">
              <a:buNone/>
            </a:pPr>
            <a:r>
              <a:rPr lang="en-US" sz="1250" dirty="0">
                <a:solidFill>
                  <a:schemeClr val="bg2"/>
                </a:solidFill>
              </a:rPr>
              <a:t> warms up gives the real loss — independent of the simulation.</a:t>
            </a:r>
            <a:endParaRPr lang="en-US" sz="1250" dirty="0"/>
          </a:p>
        </p:txBody>
      </p:sp>
      <p:sp>
        <p:nvSpPr>
          <p:cNvPr id="10" name="Principle footnote"/>
          <p:cNvSpPr txBox="1"/>
          <p:nvPr/>
        </p:nvSpPr>
        <p:spPr>
          <a:xfrm>
            <a:off x="7909560" y="3246120"/>
            <a:ext cx="3520440" cy="685800"/>
          </a:xfrm>
          <a:prstGeom prst="rect">
            <a:avLst/>
          </a:prstGeom>
          <a:noFill/>
          <a:ln/>
        </p:spPr>
        <p:txBody>
          <a:bodyPr wrap="square" lIns="0" tIns="0" rIns="0" bIns="0" rtlCol="0" anchor="t"/>
          <a:lstStyle/>
          <a:p>
            <a:pPr indent="0" marL="0">
              <a:buNone/>
            </a:pPr>
            <a:r>
              <a:rPr lang="en-US" sz="1050" i="1" dirty="0">
                <a:solidFill>
                  <a:schemeClr val="bg2"/>
                </a:solidFill>
              </a:rPr>
              <a:t>C</a:t>
            </a:r>
            <a:pPr indent="0" marL="0">
              <a:buNone/>
            </a:pPr>
            <a:r>
              <a:rPr lang="en-US" sz="1050" i="1" baseline="-40000" dirty="0">
                <a:solidFill>
                  <a:schemeClr val="bg2"/>
                </a:solidFill>
              </a:rPr>
              <a:t>Th</a:t>
            </a:r>
            <a:pPr indent="0" marL="0">
              <a:buNone/>
            </a:pPr>
            <a:r>
              <a:rPr lang="en-US" sz="1050" i="1" dirty="0">
                <a:solidFill>
                  <a:schemeClr val="bg2"/>
                </a:solidFill>
              </a:rPr>
              <a:t>: total heat capacity of the stirred liquid, the enclosure and the device under test.</a:t>
            </a:r>
            <a:endParaRPr lang="en-US" sz="1050" dirty="0"/>
          </a:p>
        </p:txBody>
      </p:sp>
      <p:sp>
        <p:nvSpPr>
          <p:cNvPr id="11" name="Concept card 1"/>
          <p:cNvSpPr/>
          <p:nvPr/>
        </p:nvSpPr>
        <p:spPr>
          <a:xfrm>
            <a:off x="548640" y="4434840"/>
            <a:ext cx="3310128" cy="1783080"/>
          </a:xfrm>
          <a:prstGeom prst="roundRect">
            <a:avLst>
              <a:gd name="adj" fmla="val 5128"/>
            </a:avLst>
          </a:prstGeom>
          <a:solidFill>
            <a:schemeClr val="bg1">
              <a:alpha val="9000"/>
            </a:schemeClr>
          </a:solidFill>
          <a:ln/>
        </p:spPr>
      </p:sp>
      <p:sp>
        <p:nvSpPr>
          <p:cNvPr id="12" name="Concept icon 1"/>
          <p:cNvSpPr/>
          <p:nvPr/>
        </p:nvSpPr>
        <p:spPr>
          <a:xfrm>
            <a:off x="777240" y="4681728"/>
            <a:ext cx="566928" cy="566928"/>
          </a:xfrm>
          <a:prstGeom prst="ellipse">
            <a:avLst/>
          </a:prstGeom>
          <a:solidFill>
            <a:schemeClr val="accent1"/>
          </a:solidFill>
          <a:ln/>
        </p:spPr>
      </p:sp>
      <p:pic>
        <p:nvPicPr>
          <p:cNvPr id="13" name="Concept icon 1 icon" descr="Concept icon 1">    </p:cNvPr>
          <p:cNvPicPr>
            <a:picLocks noChangeAspect="1"/>
          </p:cNvPicPr>
          <p:nvPr/>
        </p:nvPicPr>
        <p:blipFill>
          <a:blip r:embed="rId1"/>
          <a:stretch>
            <a:fillRect/>
          </a:stretch>
        </p:blipFill>
        <p:spPr>
          <a:xfrm>
            <a:off x="896295" y="4800783"/>
            <a:ext cx="328818" cy="328818"/>
          </a:xfrm>
          <a:prstGeom prst="rect">
            <a:avLst/>
          </a:prstGeom>
        </p:spPr>
      </p:pic>
      <p:sp>
        <p:nvSpPr>
          <p:cNvPr id="14" name="Concept title 1"/>
          <p:cNvSpPr txBox="1"/>
          <p:nvPr/>
        </p:nvSpPr>
        <p:spPr>
          <a:xfrm>
            <a:off x="1508760"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1 · Magnetic simulation</a:t>
            </a:r>
            <a:endParaRPr lang="en-US" sz="1550" dirty="0"/>
          </a:p>
        </p:txBody>
      </p:sp>
      <p:sp>
        <p:nvSpPr>
          <p:cNvPr id="15" name="Concept text 1"/>
          <p:cNvSpPr txBox="1"/>
          <p:nvPr/>
        </p:nvSpPr>
        <p:spPr>
          <a:xfrm>
            <a:off x="1508760"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PLECS, Infineon SPICE models and 2D FEM in Ansys Maxwell predict the core and winding losses of inductors and transformers.</a:t>
            </a:r>
            <a:endParaRPr lang="en-US" sz="1200" dirty="0"/>
          </a:p>
        </p:txBody>
      </p:sp>
      <p:pic>
        <p:nvPicPr>
          <p:cNvPr id="16" name="Concept arrow 1" descr="next step">    </p:cNvPr>
          <p:cNvPicPr>
            <a:picLocks noChangeAspect="1"/>
          </p:cNvPicPr>
          <p:nvPr/>
        </p:nvPicPr>
        <p:blipFill>
          <a:blip r:embed="rId2"/>
          <a:stretch>
            <a:fillRect/>
          </a:stretch>
        </p:blipFill>
        <p:spPr>
          <a:xfrm>
            <a:off x="3993642" y="5170932"/>
            <a:ext cx="310896" cy="310896"/>
          </a:xfrm>
          <a:prstGeom prst="rect">
            <a:avLst/>
          </a:prstGeom>
        </p:spPr>
      </p:pic>
      <p:sp>
        <p:nvSpPr>
          <p:cNvPr id="17" name="Concept card 2"/>
          <p:cNvSpPr/>
          <p:nvPr/>
        </p:nvSpPr>
        <p:spPr>
          <a:xfrm>
            <a:off x="4439412" y="4434840"/>
            <a:ext cx="3310128" cy="1783080"/>
          </a:xfrm>
          <a:prstGeom prst="roundRect">
            <a:avLst>
              <a:gd name="adj" fmla="val 5128"/>
            </a:avLst>
          </a:prstGeom>
          <a:solidFill>
            <a:schemeClr val="bg1">
              <a:alpha val="9000"/>
            </a:schemeClr>
          </a:solidFill>
          <a:ln/>
        </p:spPr>
      </p:sp>
      <p:sp>
        <p:nvSpPr>
          <p:cNvPr id="18" name="Concept icon 2"/>
          <p:cNvSpPr/>
          <p:nvPr/>
        </p:nvSpPr>
        <p:spPr>
          <a:xfrm>
            <a:off x="4668012" y="4681728"/>
            <a:ext cx="566928" cy="566928"/>
          </a:xfrm>
          <a:prstGeom prst="ellipse">
            <a:avLst/>
          </a:prstGeom>
          <a:solidFill>
            <a:schemeClr val="accent2"/>
          </a:solidFill>
          <a:ln/>
        </p:spPr>
      </p:sp>
      <p:pic>
        <p:nvPicPr>
          <p:cNvPr id="19" name="Concept icon 2 icon" descr="Concept icon 2">    </p:cNvPr>
          <p:cNvPicPr>
            <a:picLocks noChangeAspect="1"/>
          </p:cNvPicPr>
          <p:nvPr/>
        </p:nvPicPr>
        <p:blipFill>
          <a:blip r:embed="rId3"/>
          <a:stretch>
            <a:fillRect/>
          </a:stretch>
        </p:blipFill>
        <p:spPr>
          <a:xfrm>
            <a:off x="4787067" y="4800783"/>
            <a:ext cx="328818" cy="328818"/>
          </a:xfrm>
          <a:prstGeom prst="rect">
            <a:avLst/>
          </a:prstGeom>
        </p:spPr>
      </p:pic>
      <p:sp>
        <p:nvSpPr>
          <p:cNvPr id="20" name="Concept title 2"/>
          <p:cNvSpPr txBox="1"/>
          <p:nvPr/>
        </p:nvSpPr>
        <p:spPr>
          <a:xfrm>
            <a:off x="5399532"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2 · Thermal measurement</a:t>
            </a:r>
            <a:endParaRPr lang="en-US" sz="1550" dirty="0"/>
          </a:p>
        </p:txBody>
      </p:sp>
      <p:sp>
        <p:nvSpPr>
          <p:cNvPr id="21" name="Concept text 2"/>
          <p:cNvSpPr txBox="1"/>
          <p:nvPr/>
        </p:nvSpPr>
        <p:spPr>
          <a:xfrm>
            <a:off x="5399532"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The inductor runs in its converter inside a stirred, near-adiabatic liquid calorimeter; its temperature slope gives the real loss.</a:t>
            </a:r>
            <a:endParaRPr lang="en-US" sz="1200" dirty="0"/>
          </a:p>
        </p:txBody>
      </p:sp>
      <p:pic>
        <p:nvPicPr>
          <p:cNvPr id="22" name="Concept arrow 2" descr="next step">    </p:cNvPr>
          <p:cNvPicPr>
            <a:picLocks noChangeAspect="1"/>
          </p:cNvPicPr>
          <p:nvPr/>
        </p:nvPicPr>
        <p:blipFill>
          <a:blip r:embed="rId4"/>
          <a:stretch>
            <a:fillRect/>
          </a:stretch>
        </p:blipFill>
        <p:spPr>
          <a:xfrm>
            <a:off x="7884414" y="5170932"/>
            <a:ext cx="310896" cy="310896"/>
          </a:xfrm>
          <a:prstGeom prst="rect">
            <a:avLst/>
          </a:prstGeom>
        </p:spPr>
      </p:pic>
      <p:sp>
        <p:nvSpPr>
          <p:cNvPr id="23" name="Concept card 3"/>
          <p:cNvSpPr/>
          <p:nvPr/>
        </p:nvSpPr>
        <p:spPr>
          <a:xfrm>
            <a:off x="8330184" y="4434840"/>
            <a:ext cx="3310128" cy="1783080"/>
          </a:xfrm>
          <a:prstGeom prst="roundRect">
            <a:avLst>
              <a:gd name="adj" fmla="val 5128"/>
            </a:avLst>
          </a:prstGeom>
          <a:solidFill>
            <a:schemeClr val="bg1">
              <a:alpha val="9000"/>
            </a:schemeClr>
          </a:solidFill>
          <a:ln/>
        </p:spPr>
      </p:sp>
      <p:sp>
        <p:nvSpPr>
          <p:cNvPr id="24" name="Concept icon 3"/>
          <p:cNvSpPr/>
          <p:nvPr/>
        </p:nvSpPr>
        <p:spPr>
          <a:xfrm>
            <a:off x="8558784" y="4681728"/>
            <a:ext cx="566928" cy="566928"/>
          </a:xfrm>
          <a:prstGeom prst="ellipse">
            <a:avLst/>
          </a:prstGeom>
          <a:solidFill>
            <a:schemeClr val="accent4"/>
          </a:solidFill>
          <a:ln/>
        </p:spPr>
      </p:sp>
      <p:pic>
        <p:nvPicPr>
          <p:cNvPr id="25" name="Concept icon 3 icon" descr="Concept icon 3">    </p:cNvPr>
          <p:cNvPicPr>
            <a:picLocks noChangeAspect="1"/>
          </p:cNvPicPr>
          <p:nvPr/>
        </p:nvPicPr>
        <p:blipFill>
          <a:blip r:embed="rId5"/>
          <a:stretch>
            <a:fillRect/>
          </a:stretch>
        </p:blipFill>
        <p:spPr>
          <a:xfrm>
            <a:off x="8677839" y="4800783"/>
            <a:ext cx="328818" cy="328818"/>
          </a:xfrm>
          <a:prstGeom prst="rect">
            <a:avLst/>
          </a:prstGeom>
        </p:spPr>
      </p:pic>
      <p:sp>
        <p:nvSpPr>
          <p:cNvPr id="26" name="Concept title 3"/>
          <p:cNvSpPr txBox="1"/>
          <p:nvPr/>
        </p:nvSpPr>
        <p:spPr>
          <a:xfrm>
            <a:off x="9290304" y="4663440"/>
            <a:ext cx="2240280" cy="365760"/>
          </a:xfrm>
          <a:prstGeom prst="rect">
            <a:avLst/>
          </a:prstGeom>
          <a:noFill/>
          <a:ln/>
        </p:spPr>
        <p:txBody>
          <a:bodyPr wrap="square" lIns="0" tIns="0" rIns="0" bIns="0" rtlCol="0" anchor="ctr"/>
          <a:lstStyle/>
          <a:p>
            <a:pPr indent="0" marL="0">
              <a:buNone/>
            </a:pPr>
            <a:r>
              <a:rPr lang="en-US" sz="1550" b="1" dirty="0">
                <a:solidFill>
                  <a:schemeClr val="bg1"/>
                </a:solidFill>
              </a:rPr>
              <a:t>3 · Comparison</a:t>
            </a:r>
            <a:endParaRPr lang="en-US" sz="1550" dirty="0"/>
          </a:p>
        </p:txBody>
      </p:sp>
      <p:sp>
        <p:nvSpPr>
          <p:cNvPr id="27" name="Concept text 3"/>
          <p:cNvSpPr txBox="1"/>
          <p:nvPr/>
        </p:nvSpPr>
        <p:spPr>
          <a:xfrm>
            <a:off x="9290304" y="5074920"/>
            <a:ext cx="2194560" cy="1051560"/>
          </a:xfrm>
          <a:prstGeom prst="rect">
            <a:avLst/>
          </a:prstGeom>
          <a:noFill/>
          <a:ln/>
        </p:spPr>
        <p:txBody>
          <a:bodyPr wrap="square" lIns="0" tIns="0" rIns="0" bIns="0" rtlCol="0" anchor="t"/>
          <a:lstStyle/>
          <a:p>
            <a:pPr indent="0" marL="0">
              <a:buNone/>
            </a:pPr>
            <a:r>
              <a:rPr lang="en-US" sz="1200" dirty="0">
                <a:solidFill>
                  <a:schemeClr val="bg2"/>
                </a:solidFill>
              </a:rPr>
              <a:t>Buck converter, RM14LP, 400 kHz: litz within 1.5 %, solid wire measured 8–11 % above simulation.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Magnetic side: automated loss simulation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Python-based workflow: PLECS waveforms → FFT → Ansys Maxwell 2D losses of the magnetic component</a:t>
            </a:r>
            <a:endParaRPr lang="en-US" sz="1500" dirty="0"/>
          </a:p>
        </p:txBody>
      </p:sp>
      <p:sp>
        <p:nvSpPr>
          <p:cNvPr id="4" name="Workflow connector 1"/>
          <p:cNvSpPr/>
          <p:nvPr/>
        </p:nvSpPr>
        <p:spPr>
          <a:xfrm>
            <a:off x="777240" y="2011680"/>
            <a:ext cx="0" cy="484632"/>
          </a:xfrm>
          <a:prstGeom prst="line">
            <a:avLst/>
          </a:prstGeom>
          <a:noFill/>
          <a:ln w="19050">
            <a:solidFill>
              <a:schemeClr val="accent1">
                <a:alpha val="45000"/>
              </a:schemeClr>
            </a:solidFill>
            <a:prstDash val="solid"/>
          </a:ln>
        </p:spPr>
      </p:sp>
      <p:sp>
        <p:nvSpPr>
          <p:cNvPr id="5" name="Workflow step 1"/>
          <p:cNvSpPr/>
          <p:nvPr/>
        </p:nvSpPr>
        <p:spPr>
          <a:xfrm>
            <a:off x="548640" y="1554480"/>
            <a:ext cx="457200" cy="457200"/>
          </a:xfrm>
          <a:prstGeom prst="ellipse">
            <a:avLst/>
          </a:prstGeom>
          <a:solidFill>
            <a:schemeClr val="accent1"/>
          </a:solidFill>
          <a:ln/>
        </p:spPr>
      </p:sp>
      <p:sp>
        <p:nvSpPr>
          <p:cNvPr id="6" name="Workflow step 1 number"/>
          <p:cNvSpPr txBox="1"/>
          <p:nvPr/>
        </p:nvSpPr>
        <p:spPr>
          <a:xfrm>
            <a:off x="5486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Workflow title 1"/>
          <p:cNvSpPr txBox="1"/>
          <p:nvPr/>
        </p:nvSpPr>
        <p:spPr>
          <a:xfrm>
            <a:off x="1188720" y="1536192"/>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Circuit model</a:t>
            </a:r>
            <a:pPr indent="0" marL="0">
              <a:buNone/>
            </a:pPr>
            <a:r>
              <a:rPr lang="en-US" sz="1150" b="1" dirty="0">
                <a:solidFill>
                  <a:schemeClr val="accent2"/>
                </a:solidFill>
              </a:rPr>
              <a:t>   PLECS</a:t>
            </a:r>
            <a:endParaRPr lang="en-US" sz="1500" dirty="0"/>
          </a:p>
        </p:txBody>
      </p:sp>
      <p:sp>
        <p:nvSpPr>
          <p:cNvPr id="8" name="Workflow text 1"/>
          <p:cNvSpPr txBox="1"/>
          <p:nvPr/>
        </p:nvSpPr>
        <p:spPr>
          <a:xfrm>
            <a:off x="1188720" y="1883664"/>
            <a:ext cx="5394960" cy="566928"/>
          </a:xfrm>
          <a:prstGeom prst="rect">
            <a:avLst/>
          </a:prstGeom>
          <a:noFill/>
          <a:ln/>
        </p:spPr>
        <p:txBody>
          <a:bodyPr wrap="square" lIns="0" tIns="0" rIns="0" bIns="0" rtlCol="0" anchor="t"/>
          <a:lstStyle/>
          <a:p>
            <a:pPr indent="0" marL="0">
              <a:buNone/>
            </a:pPr>
            <a:r>
              <a:rPr lang="en-US" sz="1250" dirty="0">
                <a:solidFill>
                  <a:schemeClr val="tx1"/>
                </a:solidFill>
              </a:rPr>
              <a:t>The converter (example: buck converter) is drawn in PLECS; the waveforms of the magnetic component are extracted.</a:t>
            </a:r>
            <a:endParaRPr lang="en-US" sz="1250" dirty="0"/>
          </a:p>
        </p:txBody>
      </p:sp>
      <p:sp>
        <p:nvSpPr>
          <p:cNvPr id="9" name="Workflow connector 2"/>
          <p:cNvSpPr/>
          <p:nvPr/>
        </p:nvSpPr>
        <p:spPr>
          <a:xfrm>
            <a:off x="777240" y="2953512"/>
            <a:ext cx="0" cy="484632"/>
          </a:xfrm>
          <a:prstGeom prst="line">
            <a:avLst/>
          </a:prstGeom>
          <a:noFill/>
          <a:ln w="19050">
            <a:solidFill>
              <a:schemeClr val="accent1">
                <a:alpha val="45000"/>
              </a:schemeClr>
            </a:solidFill>
            <a:prstDash val="solid"/>
          </a:ln>
        </p:spPr>
      </p:sp>
      <p:sp>
        <p:nvSpPr>
          <p:cNvPr id="10" name="Workflow step 2"/>
          <p:cNvSpPr/>
          <p:nvPr/>
        </p:nvSpPr>
        <p:spPr>
          <a:xfrm>
            <a:off x="548640" y="2496312"/>
            <a:ext cx="457200" cy="457200"/>
          </a:xfrm>
          <a:prstGeom prst="ellipse">
            <a:avLst/>
          </a:prstGeom>
          <a:solidFill>
            <a:schemeClr val="accent1"/>
          </a:solidFill>
          <a:ln/>
        </p:spPr>
      </p:sp>
      <p:sp>
        <p:nvSpPr>
          <p:cNvPr id="11" name="Workflow step 2 number"/>
          <p:cNvSpPr txBox="1"/>
          <p:nvPr/>
        </p:nvSpPr>
        <p:spPr>
          <a:xfrm>
            <a:off x="548640" y="249631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Workflow title 2"/>
          <p:cNvSpPr txBox="1"/>
          <p:nvPr/>
        </p:nvSpPr>
        <p:spPr>
          <a:xfrm>
            <a:off x="1188720" y="2478024"/>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Switch losses</a:t>
            </a:r>
            <a:pPr indent="0" marL="0">
              <a:buNone/>
            </a:pPr>
            <a:r>
              <a:rPr lang="en-US" sz="1150" b="1" dirty="0">
                <a:solidFill>
                  <a:schemeClr val="accent2"/>
                </a:solidFill>
              </a:rPr>
              <a:t>   Infineon SPICE</a:t>
            </a:r>
            <a:endParaRPr lang="en-US" sz="1500" dirty="0"/>
          </a:p>
        </p:txBody>
      </p:sp>
      <p:sp>
        <p:nvSpPr>
          <p:cNvPr id="13" name="Workflow text 2"/>
          <p:cNvSpPr txBox="1"/>
          <p:nvPr/>
        </p:nvSpPr>
        <p:spPr>
          <a:xfrm>
            <a:off x="1188720" y="2825496"/>
            <a:ext cx="5394960" cy="566928"/>
          </a:xfrm>
          <a:prstGeom prst="rect">
            <a:avLst/>
          </a:prstGeom>
          <a:noFill/>
          <a:ln/>
        </p:spPr>
        <p:txBody>
          <a:bodyPr wrap="square" lIns="0" tIns="0" rIns="0" bIns="0" rtlCol="0" anchor="t"/>
          <a:lstStyle/>
          <a:p>
            <a:pPr indent="0" marL="0">
              <a:buNone/>
            </a:pPr>
            <a:r>
              <a:rPr lang="en-US" sz="1250" dirty="0">
                <a:solidFill>
                  <a:schemeClr val="tx1"/>
                </a:solidFill>
              </a:rPr>
              <a:t>Switch losses are simulated with Infineon device models: ≈ 6.8 W per switch.</a:t>
            </a:r>
            <a:endParaRPr lang="en-US" sz="1250" dirty="0"/>
          </a:p>
        </p:txBody>
      </p:sp>
      <p:sp>
        <p:nvSpPr>
          <p:cNvPr id="14" name="Workflow connector 3"/>
          <p:cNvSpPr/>
          <p:nvPr/>
        </p:nvSpPr>
        <p:spPr>
          <a:xfrm>
            <a:off x="777240" y="3895344"/>
            <a:ext cx="0" cy="484632"/>
          </a:xfrm>
          <a:prstGeom prst="line">
            <a:avLst/>
          </a:prstGeom>
          <a:noFill/>
          <a:ln w="19050">
            <a:solidFill>
              <a:schemeClr val="accent1">
                <a:alpha val="45000"/>
              </a:schemeClr>
            </a:solidFill>
            <a:prstDash val="solid"/>
          </a:ln>
        </p:spPr>
      </p:sp>
      <p:sp>
        <p:nvSpPr>
          <p:cNvPr id="15" name="Workflow step 3"/>
          <p:cNvSpPr/>
          <p:nvPr/>
        </p:nvSpPr>
        <p:spPr>
          <a:xfrm>
            <a:off x="548640" y="3438144"/>
            <a:ext cx="457200" cy="457200"/>
          </a:xfrm>
          <a:prstGeom prst="ellipse">
            <a:avLst/>
          </a:prstGeom>
          <a:solidFill>
            <a:schemeClr val="accent1"/>
          </a:solidFill>
          <a:ln/>
        </p:spPr>
      </p:sp>
      <p:sp>
        <p:nvSpPr>
          <p:cNvPr id="16" name="Workflow step 3 number"/>
          <p:cNvSpPr txBox="1"/>
          <p:nvPr/>
        </p:nvSpPr>
        <p:spPr>
          <a:xfrm>
            <a:off x="548640" y="34381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Workflow title 3"/>
          <p:cNvSpPr txBox="1"/>
          <p:nvPr/>
        </p:nvSpPr>
        <p:spPr>
          <a:xfrm>
            <a:off x="1188720" y="3419856"/>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FFT of the current</a:t>
            </a:r>
            <a:pPr indent="0" marL="0">
              <a:buNone/>
            </a:pPr>
            <a:r>
              <a:rPr lang="en-US" sz="1150" b="1" dirty="0">
                <a:solidFill>
                  <a:schemeClr val="accent2"/>
                </a:solidFill>
              </a:rPr>
              <a:t>   Python</a:t>
            </a:r>
            <a:endParaRPr lang="en-US" sz="1500" dirty="0"/>
          </a:p>
        </p:txBody>
      </p:sp>
      <p:sp>
        <p:nvSpPr>
          <p:cNvPr id="18" name="Workflow text 3"/>
          <p:cNvSpPr txBox="1"/>
          <p:nvPr/>
        </p:nvSpPr>
        <p:spPr>
          <a:xfrm>
            <a:off x="1188720" y="3767328"/>
            <a:ext cx="5394960" cy="566928"/>
          </a:xfrm>
          <a:prstGeom prst="rect">
            <a:avLst/>
          </a:prstGeom>
          <a:noFill/>
          <a:ln/>
        </p:spPr>
        <p:txBody>
          <a:bodyPr wrap="square" lIns="0" tIns="0" rIns="0" bIns="0" rtlCol="0" anchor="t"/>
          <a:lstStyle/>
          <a:p>
            <a:pPr indent="0" marL="0">
              <a:buNone/>
            </a:pPr>
            <a:r>
              <a:rPr lang="en-US" sz="1250" dirty="0">
                <a:solidFill>
                  <a:schemeClr val="tx1"/>
                </a:solidFill>
              </a:rPr>
              <a:t>An FFT of the inductor current is done; the 10 most dominant frequency components are kept.</a:t>
            </a:r>
            <a:endParaRPr lang="en-US" sz="1250" dirty="0"/>
          </a:p>
        </p:txBody>
      </p:sp>
      <p:sp>
        <p:nvSpPr>
          <p:cNvPr id="19" name="Workflow connector 4"/>
          <p:cNvSpPr/>
          <p:nvPr/>
        </p:nvSpPr>
        <p:spPr>
          <a:xfrm>
            <a:off x="777240" y="4837176"/>
            <a:ext cx="0" cy="484632"/>
          </a:xfrm>
          <a:prstGeom prst="line">
            <a:avLst/>
          </a:prstGeom>
          <a:noFill/>
          <a:ln w="19050">
            <a:solidFill>
              <a:schemeClr val="accent1">
                <a:alpha val="45000"/>
              </a:schemeClr>
            </a:solidFill>
            <a:prstDash val="solid"/>
          </a:ln>
        </p:spPr>
      </p:sp>
      <p:sp>
        <p:nvSpPr>
          <p:cNvPr id="20" name="Workflow step 4"/>
          <p:cNvSpPr/>
          <p:nvPr/>
        </p:nvSpPr>
        <p:spPr>
          <a:xfrm>
            <a:off x="548640" y="4379976"/>
            <a:ext cx="457200" cy="457200"/>
          </a:xfrm>
          <a:prstGeom prst="ellipse">
            <a:avLst/>
          </a:prstGeom>
          <a:solidFill>
            <a:schemeClr val="accent1"/>
          </a:solidFill>
          <a:ln/>
        </p:spPr>
      </p:sp>
      <p:sp>
        <p:nvSpPr>
          <p:cNvPr id="21" name="Workflow step 4 number"/>
          <p:cNvSpPr txBox="1"/>
          <p:nvPr/>
        </p:nvSpPr>
        <p:spPr>
          <a:xfrm>
            <a:off x="548640" y="43799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Workflow title 4"/>
          <p:cNvSpPr txBox="1"/>
          <p:nvPr/>
        </p:nvSpPr>
        <p:spPr>
          <a:xfrm>
            <a:off x="1188720" y="4361688"/>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Magnetic FEM</a:t>
            </a:r>
            <a:pPr indent="0" marL="0">
              <a:buNone/>
            </a:pPr>
            <a:r>
              <a:rPr lang="en-US" sz="1150" b="1" dirty="0">
                <a:solidFill>
                  <a:schemeClr val="accent2"/>
                </a:solidFill>
              </a:rPr>
              <a:t>   Ansys Maxwell 2D</a:t>
            </a:r>
            <a:endParaRPr lang="en-US" sz="1500" dirty="0"/>
          </a:p>
        </p:txBody>
      </p:sp>
      <p:sp>
        <p:nvSpPr>
          <p:cNvPr id="23" name="Workflow text 4"/>
          <p:cNvSpPr txBox="1"/>
          <p:nvPr/>
        </p:nvSpPr>
        <p:spPr>
          <a:xfrm>
            <a:off x="1188720" y="4709160"/>
            <a:ext cx="5394960" cy="566928"/>
          </a:xfrm>
          <a:prstGeom prst="rect">
            <a:avLst/>
          </a:prstGeom>
          <a:noFill/>
          <a:ln/>
        </p:spPr>
        <p:txBody>
          <a:bodyPr wrap="square" lIns="0" tIns="0" rIns="0" bIns="0" rtlCol="0" anchor="t"/>
          <a:lstStyle/>
          <a:p>
            <a:pPr indent="0" marL="0">
              <a:buNone/>
            </a:pPr>
            <a:r>
              <a:rPr lang="en-US" sz="1250" dirty="0">
                <a:solidFill>
                  <a:schemeClr val="tx1"/>
                </a:solidFill>
              </a:rPr>
              <a:t>They become parallel sinusoidal sources. Winding layer stack and material (litz or solid), core size &amp; material, insulation thicknesses and air gaps are set.</a:t>
            </a:r>
            <a:endParaRPr lang="en-US" sz="1250" dirty="0"/>
          </a:p>
        </p:txBody>
      </p:sp>
      <p:sp>
        <p:nvSpPr>
          <p:cNvPr id="24" name="Workflow step 5"/>
          <p:cNvSpPr/>
          <p:nvPr/>
        </p:nvSpPr>
        <p:spPr>
          <a:xfrm>
            <a:off x="548640" y="5321808"/>
            <a:ext cx="457200" cy="457200"/>
          </a:xfrm>
          <a:prstGeom prst="ellipse">
            <a:avLst/>
          </a:prstGeom>
          <a:solidFill>
            <a:schemeClr val="accent1"/>
          </a:solidFill>
          <a:ln/>
        </p:spPr>
      </p:sp>
      <p:sp>
        <p:nvSpPr>
          <p:cNvPr id="25" name="Workflow step 5 number"/>
          <p:cNvSpPr txBox="1"/>
          <p:nvPr/>
        </p:nvSpPr>
        <p:spPr>
          <a:xfrm>
            <a:off x="548640" y="53218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Workflow title 5"/>
          <p:cNvSpPr txBox="1"/>
          <p:nvPr/>
        </p:nvSpPr>
        <p:spPr>
          <a:xfrm>
            <a:off x="1188720" y="5303520"/>
            <a:ext cx="5394960" cy="329184"/>
          </a:xfrm>
          <a:prstGeom prst="rect">
            <a:avLst/>
          </a:prstGeom>
          <a:noFill/>
          <a:ln/>
        </p:spPr>
        <p:txBody>
          <a:bodyPr wrap="square" lIns="0" tIns="0" rIns="0" bIns="0" rtlCol="0" anchor="ctr"/>
          <a:lstStyle/>
          <a:p>
            <a:pPr indent="0" marL="0">
              <a:buNone/>
            </a:pPr>
            <a:r>
              <a:rPr lang="en-US" sz="1500" b="1" dirty="0">
                <a:solidFill>
                  <a:schemeClr val="tx2"/>
                </a:solidFill>
              </a:rPr>
              <a:t>Loss result</a:t>
            </a:r>
            <a:pPr indent="0" marL="0">
              <a:buNone/>
            </a:pPr>
            <a:r>
              <a:rPr lang="en-US" sz="1150" b="1" dirty="0">
                <a:solidFill>
                  <a:schemeClr val="accent2"/>
                </a:solidFill>
              </a:rPr>
              <a:t>   core + winding</a:t>
            </a:r>
            <a:endParaRPr lang="en-US" sz="1500" dirty="0"/>
          </a:p>
        </p:txBody>
      </p:sp>
      <p:sp>
        <p:nvSpPr>
          <p:cNvPr id="27" name="Workflow text 5"/>
          <p:cNvSpPr txBox="1"/>
          <p:nvPr/>
        </p:nvSpPr>
        <p:spPr>
          <a:xfrm>
            <a:off x="1188720" y="5650992"/>
            <a:ext cx="5394960" cy="566928"/>
          </a:xfrm>
          <a:prstGeom prst="rect">
            <a:avLst/>
          </a:prstGeom>
          <a:noFill/>
          <a:ln/>
        </p:spPr>
        <p:txBody>
          <a:bodyPr wrap="square" lIns="0" tIns="0" rIns="0" bIns="0" rtlCol="0" anchor="t"/>
          <a:lstStyle/>
          <a:p>
            <a:pPr indent="0" marL="0">
              <a:buNone/>
            </a:pPr>
            <a:r>
              <a:rPr lang="en-US" sz="1250" dirty="0">
                <a:solidFill>
                  <a:schemeClr val="tx1"/>
                </a:solidFill>
              </a:rPr>
              <a:t>Total inductor loss: 6.75 W with solid wire, 6.70 W with litz wire — the quantity that is then measured as heat.</a:t>
            </a:r>
            <a:endParaRPr lang="en-US" sz="1250" dirty="0"/>
          </a:p>
        </p:txBody>
      </p:sp>
      <p:sp>
        <p:nvSpPr>
          <p:cNvPr id="28" name="FFT card"/>
          <p:cNvSpPr/>
          <p:nvPr/>
        </p:nvSpPr>
        <p:spPr>
          <a:xfrm>
            <a:off x="6903720" y="1554480"/>
            <a:ext cx="4736592" cy="3127248"/>
          </a:xfrm>
          <a:prstGeom prst="roundRect">
            <a:avLst>
              <a:gd name="adj" fmla="val 2924"/>
            </a:avLst>
          </a:prstGeom>
          <a:solidFill>
            <a:schemeClr val="bg2"/>
          </a:solidFill>
          <a:ln/>
        </p:spPr>
      </p:sp>
      <p:sp>
        <p:nvSpPr>
          <p:cNvPr id="29" name="FFT title"/>
          <p:cNvSpPr txBox="1"/>
          <p:nvPr/>
        </p:nvSpPr>
        <p:spPr>
          <a:xfrm>
            <a:off x="7132320" y="1645920"/>
            <a:ext cx="4279392" cy="292608"/>
          </a:xfrm>
          <a:prstGeom prst="rect">
            <a:avLst/>
          </a:prstGeom>
          <a:noFill/>
          <a:ln/>
        </p:spPr>
        <p:txBody>
          <a:bodyPr wrap="square" lIns="0" tIns="0" rIns="0" bIns="0" rtlCol="0" anchor="ctr"/>
          <a:lstStyle/>
          <a:p>
            <a:pPr indent="0" marL="0">
              <a:buNone/>
            </a:pPr>
            <a:r>
              <a:rPr lang="en-US" sz="1400" b="1" dirty="0">
                <a:solidFill>
                  <a:schemeClr val="tx2"/>
                </a:solidFill>
              </a:rPr>
              <a:t>FFT step: the 10 sinusoidal sources</a:t>
            </a:r>
            <a:endParaRPr lang="en-US" sz="1400" dirty="0"/>
          </a:p>
        </p:txBody>
      </p:sp>
      <p:graphicFrame>
        <p:nvGraphicFramePr>
          <p:cNvPr id="30" name="FFT spectrum chart" descr="Bar chart of the ten sinusoidal source amplitudes of a triangular 400 kHz ripple current: 100 % at 0.4 MHz, 11 % at 1.2 MHz, 4 % at 2.0 MHz, falling to 0.3 % at 7.6 MHz."/>
          <p:cNvGraphicFramePr/>
          <p:nvPr/>
        </p:nvGraphicFramePr>
        <p:xfrm>
          <a:off x="6995160" y="1965960"/>
          <a:ext cx="4553712" cy="2103120"/>
        </p:xfrm>
        <a:graphic xmlns:a="http://schemas.openxmlformats.org/drawingml/2006/main">
          <a:graphicData uri="http://schemas.openxmlformats.org/drawingml/2006/chart">
            <c:chart xmlns:c="http://schemas.openxmlformats.org/drawingml/2006/chart" r:id="rId1"/>
          </a:graphicData>
        </a:graphic>
      </p:graphicFrame>
      <p:sp>
        <p:nvSpPr>
          <p:cNvPr id="31" name="FFT footnote"/>
          <p:cNvSpPr txBox="1"/>
          <p:nvPr/>
        </p:nvSpPr>
        <p:spPr>
          <a:xfrm>
            <a:off x="7132320" y="4114800"/>
            <a:ext cx="4279392" cy="475488"/>
          </a:xfrm>
          <a:prstGeom prst="rect">
            <a:avLst/>
          </a:prstGeom>
          <a:noFill/>
          <a:ln/>
        </p:spPr>
        <p:txBody>
          <a:bodyPr wrap="square" lIns="0" tIns="0" rIns="0" bIns="0" rtlCol="0" anchor="t"/>
          <a:lstStyle/>
          <a:p>
            <a:pPr indent="0" marL="0">
              <a:buNone/>
            </a:pPr>
            <a:r>
              <a:rPr lang="en-US" sz="950" dirty="0">
                <a:solidFill>
                  <a:schemeClr val="accent3"/>
                </a:solidFill>
              </a:rPr>
              <a:t>Own illustration (ideal triangular ripple at 400 kHz, D = 0.5): amplitudes fall with 1/n² (100, 11, 4, 2 … 0.3 %), so these 10 sources rebuild the current within 2 % of its peak — “good results and acceptable simulation time” (poster).</a:t>
            </a:r>
            <a:endParaRPr lang="en-US" sz="950" dirty="0"/>
          </a:p>
        </p:txBody>
      </p:sp>
      <p:sp>
        <p:nvSpPr>
          <p:cNvPr id="32" name="Case study card"/>
          <p:cNvSpPr/>
          <p:nvPr/>
        </p:nvSpPr>
        <p:spPr>
          <a:xfrm>
            <a:off x="6903720" y="4846320"/>
            <a:ext cx="4736592" cy="1417320"/>
          </a:xfrm>
          <a:prstGeom prst="roundRect">
            <a:avLst>
              <a:gd name="adj" fmla="val 6452"/>
            </a:avLst>
          </a:prstGeom>
          <a:solidFill>
            <a:schemeClr val="bg2"/>
          </a:solidFill>
          <a:ln/>
        </p:spPr>
      </p:sp>
      <p:sp>
        <p:nvSpPr>
          <p:cNvPr id="33" name="Case study label"/>
          <p:cNvSpPr txBox="1"/>
          <p:nvPr/>
        </p:nvSpPr>
        <p:spPr>
          <a:xfrm>
            <a:off x="7132320" y="4919472"/>
            <a:ext cx="4279392" cy="201168"/>
          </a:xfrm>
          <a:prstGeom prst="rect">
            <a:avLst/>
          </a:prstGeom>
          <a:noFill/>
          <a:ln/>
        </p:spPr>
        <p:txBody>
          <a:bodyPr wrap="square" lIns="0" tIns="0" rIns="0" bIns="0" rtlCol="0" anchor="ctr"/>
          <a:lstStyle/>
          <a:p>
            <a:pPr indent="0" marL="0">
              <a:buNone/>
            </a:pPr>
            <a:r>
              <a:rPr lang="en-US" sz="1000" b="1" spc="200" kern="0" dirty="0">
                <a:solidFill>
                  <a:schemeClr val="accent2"/>
                </a:solidFill>
              </a:rPr>
              <a:t>CASE STUDY</a:t>
            </a:r>
            <a:endParaRPr lang="en-US" sz="1000" dirty="0"/>
          </a:p>
        </p:txBody>
      </p:sp>
      <p:sp>
        <p:nvSpPr>
          <p:cNvPr id="34" name="Case study title"/>
          <p:cNvSpPr txBox="1"/>
          <p:nvPr/>
        </p:nvSpPr>
        <p:spPr>
          <a:xfrm>
            <a:off x="7132320" y="5120640"/>
            <a:ext cx="4279392" cy="274320"/>
          </a:xfrm>
          <a:prstGeom prst="rect">
            <a:avLst/>
          </a:prstGeom>
          <a:noFill/>
          <a:ln/>
        </p:spPr>
        <p:txBody>
          <a:bodyPr wrap="square" lIns="0" tIns="0" rIns="0" bIns="0" rtlCol="0" anchor="ctr"/>
          <a:lstStyle/>
          <a:p>
            <a:pPr indent="0" marL="0">
              <a:buNone/>
            </a:pPr>
            <a:r>
              <a:rPr lang="en-US" sz="1300" b="1" dirty="0">
                <a:solidFill>
                  <a:schemeClr val="tx2"/>
                </a:solidFill>
              </a:rPr>
              <a:t>Buck converter · RM14LP core · 400 kHz · ≈ 880 W</a:t>
            </a:r>
            <a:endParaRPr lang="en-US" sz="1300" dirty="0"/>
          </a:p>
        </p:txBody>
      </p:sp>
      <p:sp>
        <p:nvSpPr>
          <p:cNvPr id="35" name="Case stat 1"/>
          <p:cNvSpPr txBox="1"/>
          <p:nvPr/>
        </p:nvSpPr>
        <p:spPr>
          <a:xfrm>
            <a:off x="713232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 6.8 W</a:t>
            </a:r>
            <a:endParaRPr lang="en-US" sz="2200" dirty="0"/>
          </a:p>
        </p:txBody>
      </p:sp>
      <p:sp>
        <p:nvSpPr>
          <p:cNvPr id="36" name="Case label 1"/>
          <p:cNvSpPr txBox="1"/>
          <p:nvPr/>
        </p:nvSpPr>
        <p:spPr>
          <a:xfrm>
            <a:off x="713232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loss per switch</a:t>
            </a:r>
            <a:endParaRPr lang="en-US" sz="1050" dirty="0"/>
          </a:p>
        </p:txBody>
      </p:sp>
      <p:sp>
        <p:nvSpPr>
          <p:cNvPr id="37" name="Case stat 2"/>
          <p:cNvSpPr txBox="1"/>
          <p:nvPr/>
        </p:nvSpPr>
        <p:spPr>
          <a:xfrm>
            <a:off x="859536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6.75 W</a:t>
            </a:r>
            <a:endParaRPr lang="en-US" sz="2200" dirty="0"/>
          </a:p>
        </p:txBody>
      </p:sp>
      <p:sp>
        <p:nvSpPr>
          <p:cNvPr id="38" name="Case label 2"/>
          <p:cNvSpPr txBox="1"/>
          <p:nvPr/>
        </p:nvSpPr>
        <p:spPr>
          <a:xfrm>
            <a:off x="859536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solid wire</a:t>
            </a:r>
            <a:endParaRPr lang="en-US" sz="1050" dirty="0"/>
          </a:p>
        </p:txBody>
      </p:sp>
      <p:sp>
        <p:nvSpPr>
          <p:cNvPr id="39" name="Case stat 3"/>
          <p:cNvSpPr txBox="1"/>
          <p:nvPr/>
        </p:nvSpPr>
        <p:spPr>
          <a:xfrm>
            <a:off x="10058400" y="5440680"/>
            <a:ext cx="1417320" cy="41148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6.70 W</a:t>
            </a:r>
            <a:endParaRPr lang="en-US" sz="2200" dirty="0"/>
          </a:p>
        </p:txBody>
      </p:sp>
      <p:sp>
        <p:nvSpPr>
          <p:cNvPr id="40" name="Case label 3"/>
          <p:cNvSpPr txBox="1"/>
          <p:nvPr/>
        </p:nvSpPr>
        <p:spPr>
          <a:xfrm>
            <a:off x="10058400" y="5852160"/>
            <a:ext cx="1417320" cy="365760"/>
          </a:xfrm>
          <a:prstGeom prst="rect">
            <a:avLst/>
          </a:prstGeom>
          <a:noFill/>
          <a:ln/>
        </p:spPr>
        <p:txBody>
          <a:bodyPr wrap="square" lIns="0" tIns="0" rIns="0" bIns="0" rtlCol="0" anchor="t"/>
          <a:lstStyle/>
          <a:p>
            <a:pPr indent="0" marL="0">
              <a:buNone/>
            </a:pPr>
            <a:r>
              <a:rPr lang="en-US" sz="1050" dirty="0">
                <a:solidFill>
                  <a:schemeClr val="accent3"/>
                </a:solidFill>
              </a:rPr>
              <a:t>inductor, litz wire</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side: measuring the losses as heat</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Near-adiabatic calorimeter: the inductor’s losses heat a stirred liquid of known heat capacity</a:t>
            </a:r>
            <a:endParaRPr lang="en-US" sz="1500" dirty="0"/>
          </a:p>
        </p:txBody>
      </p:sp>
      <p:pic>
        <p:nvPicPr>
          <p:cNvPr id="4" name="Calorimeter schematic" descr="Schematic of the calorimeter: Dewar jar with vacuum jacket and double lid, stirred insulating liquid, submerged inductor under test, calibration heater fed by an LV supply, stirrer motor with Arduino, PT100 probes read by a DAQ970A.">    </p:cNvPr>
          <p:cNvPicPr>
            <a:picLocks noChangeAspect="1"/>
          </p:cNvPicPr>
          <p:nvPr/>
        </p:nvPicPr>
        <p:blipFill>
          <a:blip r:embed="rId1"/>
          <a:stretch>
            <a:fillRect/>
          </a:stretch>
        </p:blipFill>
        <p:spPr>
          <a:xfrm>
            <a:off x="548640" y="1463040"/>
            <a:ext cx="4591878" cy="4800600"/>
          </a:xfrm>
          <a:prstGeom prst="rect">
            <a:avLst/>
          </a:prstGeom>
        </p:spPr>
      </p:pic>
      <p:sp>
        <p:nvSpPr>
          <p:cNvPr id="5" name="Energy balance card"/>
          <p:cNvSpPr/>
          <p:nvPr/>
        </p:nvSpPr>
        <p:spPr>
          <a:xfrm>
            <a:off x="5440680" y="1463040"/>
            <a:ext cx="6199632" cy="1371600"/>
          </a:xfrm>
          <a:prstGeom prst="roundRect">
            <a:avLst>
              <a:gd name="adj" fmla="val 6667"/>
            </a:avLst>
          </a:prstGeom>
          <a:solidFill>
            <a:schemeClr val="bg2"/>
          </a:solidFill>
          <a:ln/>
        </p:spPr>
      </p:sp>
      <p:sp>
        <p:nvSpPr>
          <p:cNvPr id="6" name="Energy balance equation"/>
          <p:cNvSpPr txBox="1"/>
          <p:nvPr/>
        </p:nvSpPr>
        <p:spPr>
          <a:xfrm>
            <a:off x="5669280" y="1554480"/>
            <a:ext cx="5742432" cy="548640"/>
          </a:xfrm>
          <a:prstGeom prst="rect">
            <a:avLst/>
          </a:prstGeom>
          <a:noFill/>
          <a:ln/>
        </p:spPr>
        <p:txBody>
          <a:bodyPr wrap="square" lIns="0" tIns="0" rIns="0" bIns="0" rtlCol="0" anchor="ctr"/>
          <a:lstStyle/>
          <a:p>
            <a:pPr indent="0" marL="0">
              <a:buNone/>
            </a:pPr>
            <a:r>
              <a:rPr lang="en-US" sz="2600" i="1" dirty="0">
                <a:solidFill>
                  <a:schemeClr val="tx2"/>
                </a:solidFill>
                <a:latin typeface="+mj-lt" pitchFamily="34" charset="0"/>
                <a:ea typeface="+mj-lt" pitchFamily="34" charset="-122"/>
                <a:cs typeface="+mj-lt" pitchFamily="34" charset="-120"/>
              </a:rPr>
              <a:t>P</a:t>
            </a:r>
            <a:pPr indent="0" marL="0">
              <a:buNone/>
            </a:pPr>
            <a:r>
              <a:rPr lang="en-US" sz="2600" baseline="-40000" dirty="0">
                <a:solidFill>
                  <a:schemeClr val="tx2"/>
                </a:solidFill>
                <a:latin typeface="+mj-lt" pitchFamily="34" charset="0"/>
                <a:ea typeface="+mj-lt" pitchFamily="34" charset="-122"/>
                <a:cs typeface="+mj-lt" pitchFamily="34" charset="-120"/>
              </a:rPr>
              <a:t>loss</a:t>
            </a:r>
            <a:pPr indent="0" marL="0">
              <a:buNone/>
            </a:pPr>
            <a:r>
              <a:rPr lang="en-US" sz="2600" dirty="0">
                <a:solidFill>
                  <a:schemeClr val="tx2"/>
                </a:solidFill>
                <a:latin typeface="+mj-lt" pitchFamily="34" charset="0"/>
                <a:ea typeface="+mj-lt" pitchFamily="34" charset="-122"/>
                <a:cs typeface="+mj-lt" pitchFamily="34" charset="-120"/>
              </a:rPr>
              <a: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dT/dt ≈ C</a:t>
            </a:r>
            <a:pPr indent="0" marL="0">
              <a:buNone/>
            </a:pPr>
            <a:r>
              <a:rPr lang="en-US" sz="2600" baseline="-40000" dirty="0">
                <a:solidFill>
                  <a:schemeClr val="tx2"/>
                </a:solidFill>
                <a:latin typeface="+mj-lt" pitchFamily="34" charset="0"/>
                <a:ea typeface="+mj-lt" pitchFamily="34" charset="-122"/>
                <a:cs typeface="+mj-lt" pitchFamily="34" charset="-120"/>
              </a:rPr>
              <a:t>Th</a:t>
            </a:r>
            <a:pPr indent="0" marL="0">
              <a:buNone/>
            </a:pPr>
            <a:r>
              <a:rPr lang="en-US" sz="2600" dirty="0">
                <a:solidFill>
                  <a:schemeClr val="tx2"/>
                </a:solidFill>
                <a:latin typeface="+mj-lt" pitchFamily="34" charset="0"/>
                <a:ea typeface="+mj-lt" pitchFamily="34" charset="-122"/>
                <a:cs typeface="+mj-lt" pitchFamily="34" charset="-120"/>
              </a:rPr>
              <a:t> · ΔT/Δt</a:t>
            </a:r>
            <a:endParaRPr lang="en-US" sz="2600" dirty="0"/>
          </a:p>
        </p:txBody>
      </p:sp>
      <p:sp>
        <p:nvSpPr>
          <p:cNvPr id="7" name="Energy balance text"/>
          <p:cNvSpPr txBox="1"/>
          <p:nvPr/>
        </p:nvSpPr>
        <p:spPr>
          <a:xfrm>
            <a:off x="5669280" y="2148840"/>
            <a:ext cx="5742432" cy="621792"/>
          </a:xfrm>
          <a:prstGeom prst="rect">
            <a:avLst/>
          </a:prstGeom>
          <a:noFill/>
          <a:ln/>
        </p:spPr>
        <p:txBody>
          <a:bodyPr wrap="square" lIns="0" tIns="0" rIns="0" bIns="0" rtlCol="0" anchor="t"/>
          <a:lstStyle/>
          <a:p>
            <a:pPr indent="0" marL="0">
              <a:buNone/>
            </a:pPr>
            <a:r>
              <a:rPr lang="en-US" sz="1200" dirty="0">
                <a:solidFill>
                  <a:schemeClr val="tx1"/>
                </a:solidFill>
              </a:rPr>
              <a:t>C</a:t>
            </a:r>
            <a:pPr indent="0" marL="0">
              <a:buNone/>
            </a:pPr>
            <a:r>
              <a:rPr lang="en-US" sz="1200" baseline="-40000" dirty="0">
                <a:solidFill>
                  <a:schemeClr val="tx1"/>
                </a:solidFill>
              </a:rPr>
              <a:t>Th</a:t>
            </a:r>
            <a:pPr indent="0" marL="0">
              <a:buNone/>
            </a:pPr>
            <a:r>
              <a:rPr lang="en-US" sz="1200" dirty="0">
                <a:solidFill>
                  <a:schemeClr val="tx1"/>
                </a:solidFill>
              </a:rPr>
              <a:t>: total heat capacity inside the adiabatic enclosure; ΔT: its temperature change during the time Δt in which the power is dissipated. Valid because almost no heat leaves the Dewar.</a:t>
            </a:r>
            <a:endParaRPr lang="en-US" sz="1200" dirty="0"/>
          </a:p>
        </p:txBody>
      </p:sp>
      <p:sp>
        <p:nvSpPr>
          <p:cNvPr id="8" name="Setup heading"/>
          <p:cNvSpPr txBox="1"/>
          <p:nvPr/>
        </p:nvSpPr>
        <p:spPr>
          <a:xfrm>
            <a:off x="5440680" y="3044952"/>
            <a:ext cx="2926080" cy="320040"/>
          </a:xfrm>
          <a:prstGeom prst="rect">
            <a:avLst/>
          </a:prstGeom>
          <a:noFill/>
          <a:ln/>
        </p:spPr>
        <p:txBody>
          <a:bodyPr wrap="square" lIns="0" tIns="0" rIns="0" bIns="0" rtlCol="0" anchor="ctr"/>
          <a:lstStyle/>
          <a:p>
            <a:pPr indent="0" marL="0">
              <a:buNone/>
            </a:pPr>
            <a:r>
              <a:rPr lang="en-US" sz="1400" b="1" dirty="0">
                <a:solidFill>
                  <a:schemeClr val="tx2"/>
                </a:solidFill>
              </a:rPr>
              <a:t>Set-up</a:t>
            </a:r>
            <a:endParaRPr lang="en-US" sz="1400" dirty="0"/>
          </a:p>
        </p:txBody>
      </p:sp>
      <p:sp>
        <p:nvSpPr>
          <p:cNvPr id="9" name="Setup marker 1"/>
          <p:cNvSpPr/>
          <p:nvPr/>
        </p:nvSpPr>
        <p:spPr>
          <a:xfrm>
            <a:off x="5440680" y="3474720"/>
            <a:ext cx="274320" cy="274320"/>
          </a:xfrm>
          <a:prstGeom prst="ellipse">
            <a:avLst/>
          </a:prstGeom>
          <a:solidFill>
            <a:schemeClr val="tx2"/>
          </a:solidFill>
          <a:ln/>
        </p:spPr>
      </p:sp>
      <p:sp>
        <p:nvSpPr>
          <p:cNvPr id="10" name="Setup marker 1 number"/>
          <p:cNvSpPr txBox="1"/>
          <p:nvPr/>
        </p:nvSpPr>
        <p:spPr>
          <a:xfrm>
            <a:off x="5440680" y="347472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1" name="Setup item 1"/>
          <p:cNvSpPr txBox="1"/>
          <p:nvPr/>
        </p:nvSpPr>
        <p:spPr>
          <a:xfrm>
            <a:off x="5824728" y="3474720"/>
            <a:ext cx="2651760" cy="274320"/>
          </a:xfrm>
          <a:prstGeom prst="rect">
            <a:avLst/>
          </a:prstGeom>
          <a:noFill/>
          <a:ln/>
        </p:spPr>
        <p:txBody>
          <a:bodyPr wrap="square" lIns="0" tIns="0" rIns="0" bIns="0" rtlCol="0" anchor="ctr"/>
          <a:lstStyle/>
          <a:p>
            <a:pPr indent="0" marL="0">
              <a:buNone/>
            </a:pPr>
            <a:r>
              <a:rPr lang="en-US" sz="1200" dirty="0">
                <a:solidFill>
                  <a:schemeClr val="tx1"/>
                </a:solidFill>
              </a:rPr>
              <a:t>Dewar jar (vacuum-insulated)</a:t>
            </a:r>
            <a:endParaRPr lang="en-US" sz="1200" dirty="0"/>
          </a:p>
        </p:txBody>
      </p:sp>
      <p:sp>
        <p:nvSpPr>
          <p:cNvPr id="12" name="Setup marker 2"/>
          <p:cNvSpPr/>
          <p:nvPr/>
        </p:nvSpPr>
        <p:spPr>
          <a:xfrm>
            <a:off x="5440680" y="3867912"/>
            <a:ext cx="274320" cy="274320"/>
          </a:xfrm>
          <a:prstGeom prst="ellipse">
            <a:avLst/>
          </a:prstGeom>
          <a:solidFill>
            <a:schemeClr val="tx2"/>
          </a:solidFill>
          <a:ln/>
        </p:spPr>
      </p:sp>
      <p:sp>
        <p:nvSpPr>
          <p:cNvPr id="13" name="Setup marker 2 number"/>
          <p:cNvSpPr txBox="1"/>
          <p:nvPr/>
        </p:nvSpPr>
        <p:spPr>
          <a:xfrm>
            <a:off x="5440680" y="386791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4" name="Setup item 2"/>
          <p:cNvSpPr txBox="1"/>
          <p:nvPr/>
        </p:nvSpPr>
        <p:spPr>
          <a:xfrm>
            <a:off x="5824728" y="3867912"/>
            <a:ext cx="2651760" cy="274320"/>
          </a:xfrm>
          <a:prstGeom prst="rect">
            <a:avLst/>
          </a:prstGeom>
          <a:noFill/>
          <a:ln/>
        </p:spPr>
        <p:txBody>
          <a:bodyPr wrap="square" lIns="0" tIns="0" rIns="0" bIns="0" rtlCol="0" anchor="ctr"/>
          <a:lstStyle/>
          <a:p>
            <a:pPr indent="0" marL="0">
              <a:buNone/>
            </a:pPr>
            <a:r>
              <a:rPr lang="en-US" sz="1200" dirty="0">
                <a:solidFill>
                  <a:schemeClr val="tx1"/>
                </a:solidFill>
              </a:rPr>
              <a:t>Custom double lid</a:t>
            </a:r>
            <a:endParaRPr lang="en-US" sz="1200" dirty="0"/>
          </a:p>
        </p:txBody>
      </p:sp>
      <p:sp>
        <p:nvSpPr>
          <p:cNvPr id="15" name="Setup marker 3"/>
          <p:cNvSpPr/>
          <p:nvPr/>
        </p:nvSpPr>
        <p:spPr>
          <a:xfrm>
            <a:off x="5440680" y="4261104"/>
            <a:ext cx="274320" cy="274320"/>
          </a:xfrm>
          <a:prstGeom prst="ellipse">
            <a:avLst/>
          </a:prstGeom>
          <a:solidFill>
            <a:schemeClr val="tx2"/>
          </a:solidFill>
          <a:ln/>
        </p:spPr>
      </p:sp>
      <p:sp>
        <p:nvSpPr>
          <p:cNvPr id="16" name="Setup marker 3 number"/>
          <p:cNvSpPr txBox="1"/>
          <p:nvPr/>
        </p:nvSpPr>
        <p:spPr>
          <a:xfrm>
            <a:off x="5440680" y="4261104"/>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7" name="Setup item 3"/>
          <p:cNvSpPr txBox="1"/>
          <p:nvPr/>
        </p:nvSpPr>
        <p:spPr>
          <a:xfrm>
            <a:off x="5824728" y="4261104"/>
            <a:ext cx="2651760" cy="274320"/>
          </a:xfrm>
          <a:prstGeom prst="rect">
            <a:avLst/>
          </a:prstGeom>
          <a:noFill/>
          <a:ln/>
        </p:spPr>
        <p:txBody>
          <a:bodyPr wrap="square" lIns="0" tIns="0" rIns="0" bIns="0" rtlCol="0" anchor="ctr"/>
          <a:lstStyle/>
          <a:p>
            <a:pPr indent="0" marL="0">
              <a:buNone/>
            </a:pPr>
            <a:r>
              <a:rPr lang="en-US" sz="1200" dirty="0">
                <a:solidFill>
                  <a:schemeClr val="tx1"/>
                </a:solidFill>
              </a:rPr>
              <a:t>Insulating liquid, stirred</a:t>
            </a:r>
            <a:endParaRPr lang="en-US" sz="1200" dirty="0"/>
          </a:p>
        </p:txBody>
      </p:sp>
      <p:sp>
        <p:nvSpPr>
          <p:cNvPr id="18" name="Setup marker 4"/>
          <p:cNvSpPr/>
          <p:nvPr/>
        </p:nvSpPr>
        <p:spPr>
          <a:xfrm>
            <a:off x="5440680" y="4654296"/>
            <a:ext cx="274320" cy="274320"/>
          </a:xfrm>
          <a:prstGeom prst="ellipse">
            <a:avLst/>
          </a:prstGeom>
          <a:solidFill>
            <a:schemeClr val="tx2"/>
          </a:solidFill>
          <a:ln/>
        </p:spPr>
      </p:sp>
      <p:sp>
        <p:nvSpPr>
          <p:cNvPr id="19" name="Setup marker 4 number"/>
          <p:cNvSpPr txBox="1"/>
          <p:nvPr/>
        </p:nvSpPr>
        <p:spPr>
          <a:xfrm>
            <a:off x="5440680" y="4654296"/>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0" name="Setup item 4"/>
          <p:cNvSpPr txBox="1"/>
          <p:nvPr/>
        </p:nvSpPr>
        <p:spPr>
          <a:xfrm>
            <a:off x="5824728" y="4654296"/>
            <a:ext cx="2651760" cy="274320"/>
          </a:xfrm>
          <a:prstGeom prst="rect">
            <a:avLst/>
          </a:prstGeom>
          <a:noFill/>
          <a:ln/>
        </p:spPr>
        <p:txBody>
          <a:bodyPr wrap="square" lIns="0" tIns="0" rIns="0" bIns="0" rtlCol="0" anchor="ctr"/>
          <a:lstStyle/>
          <a:p>
            <a:pPr indent="0" marL="0">
              <a:buNone/>
            </a:pPr>
            <a:r>
              <a:rPr lang="en-US" sz="1200" dirty="0">
                <a:solidFill>
                  <a:schemeClr val="tx1"/>
                </a:solidFill>
              </a:rPr>
              <a:t>Stepper motor + Arduino (stirrer)</a:t>
            </a:r>
            <a:endParaRPr lang="en-US" sz="1200" dirty="0"/>
          </a:p>
        </p:txBody>
      </p:sp>
      <p:sp>
        <p:nvSpPr>
          <p:cNvPr id="21" name="Setup marker 5"/>
          <p:cNvSpPr/>
          <p:nvPr/>
        </p:nvSpPr>
        <p:spPr>
          <a:xfrm>
            <a:off x="5440680" y="5047488"/>
            <a:ext cx="274320" cy="274320"/>
          </a:xfrm>
          <a:prstGeom prst="ellipse">
            <a:avLst/>
          </a:prstGeom>
          <a:solidFill>
            <a:schemeClr val="tx2"/>
          </a:solidFill>
          <a:ln/>
        </p:spPr>
      </p:sp>
      <p:sp>
        <p:nvSpPr>
          <p:cNvPr id="22" name="Setup marker 5 number"/>
          <p:cNvSpPr txBox="1"/>
          <p:nvPr/>
        </p:nvSpPr>
        <p:spPr>
          <a:xfrm>
            <a:off x="5440680" y="5047488"/>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3" name="Setup item 5"/>
          <p:cNvSpPr txBox="1"/>
          <p:nvPr/>
        </p:nvSpPr>
        <p:spPr>
          <a:xfrm>
            <a:off x="5824728" y="5047488"/>
            <a:ext cx="2651760" cy="274320"/>
          </a:xfrm>
          <a:prstGeom prst="rect">
            <a:avLst/>
          </a:prstGeom>
          <a:noFill/>
          <a:ln/>
        </p:spPr>
        <p:txBody>
          <a:bodyPr wrap="square" lIns="0" tIns="0" rIns="0" bIns="0" rtlCol="0" anchor="ctr"/>
          <a:lstStyle/>
          <a:p>
            <a:pPr indent="0" marL="0">
              <a:buNone/>
            </a:pPr>
            <a:r>
              <a:rPr lang="en-US" sz="1200" dirty="0">
                <a:solidFill>
                  <a:schemeClr val="tx1"/>
                </a:solidFill>
              </a:rPr>
              <a:t>DUT: inductor, fully submerged</a:t>
            </a:r>
            <a:endParaRPr lang="en-US" sz="1200" dirty="0"/>
          </a:p>
        </p:txBody>
      </p:sp>
      <p:sp>
        <p:nvSpPr>
          <p:cNvPr id="24" name="Setup marker 6"/>
          <p:cNvSpPr/>
          <p:nvPr/>
        </p:nvSpPr>
        <p:spPr>
          <a:xfrm>
            <a:off x="5440680" y="5440680"/>
            <a:ext cx="274320" cy="274320"/>
          </a:xfrm>
          <a:prstGeom prst="ellipse">
            <a:avLst/>
          </a:prstGeom>
          <a:solidFill>
            <a:schemeClr val="tx2"/>
          </a:solidFill>
          <a:ln/>
        </p:spPr>
      </p:sp>
      <p:sp>
        <p:nvSpPr>
          <p:cNvPr id="25" name="Setup marker 6 number"/>
          <p:cNvSpPr txBox="1"/>
          <p:nvPr/>
        </p:nvSpPr>
        <p:spPr>
          <a:xfrm>
            <a:off x="5440680" y="5440680"/>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6" name="Setup item 6"/>
          <p:cNvSpPr txBox="1"/>
          <p:nvPr/>
        </p:nvSpPr>
        <p:spPr>
          <a:xfrm>
            <a:off x="5824728" y="5440680"/>
            <a:ext cx="2651760" cy="274320"/>
          </a:xfrm>
          <a:prstGeom prst="rect">
            <a:avLst/>
          </a:prstGeom>
          <a:noFill/>
          <a:ln/>
        </p:spPr>
        <p:txBody>
          <a:bodyPr wrap="square" lIns="0" tIns="0" rIns="0" bIns="0" rtlCol="0" anchor="ctr"/>
          <a:lstStyle/>
          <a:p>
            <a:pPr indent="0" marL="0">
              <a:buNone/>
            </a:pPr>
            <a:r>
              <a:rPr lang="en-US" sz="1200" dirty="0">
                <a:solidFill>
                  <a:schemeClr val="tx1"/>
                </a:solidFill>
              </a:rPr>
              <a:t>LV supply + wire-wound resistor</a:t>
            </a:r>
            <a:endParaRPr lang="en-US" sz="1200" dirty="0"/>
          </a:p>
        </p:txBody>
      </p:sp>
      <p:sp>
        <p:nvSpPr>
          <p:cNvPr id="27" name="Setup marker 7"/>
          <p:cNvSpPr/>
          <p:nvPr/>
        </p:nvSpPr>
        <p:spPr>
          <a:xfrm>
            <a:off x="5440680" y="5833872"/>
            <a:ext cx="274320" cy="274320"/>
          </a:xfrm>
          <a:prstGeom prst="ellipse">
            <a:avLst/>
          </a:prstGeom>
          <a:solidFill>
            <a:schemeClr val="tx2"/>
          </a:solidFill>
          <a:ln/>
        </p:spPr>
      </p:sp>
      <p:sp>
        <p:nvSpPr>
          <p:cNvPr id="28" name="Setup marker 7 number"/>
          <p:cNvSpPr txBox="1"/>
          <p:nvPr/>
        </p:nvSpPr>
        <p:spPr>
          <a:xfrm>
            <a:off x="5440680" y="5833872"/>
            <a:ext cx="274320" cy="274320"/>
          </a:xfrm>
          <a:prstGeom prst="rect">
            <a:avLst/>
          </a:prstGeom>
          <a:noFill/>
          <a:ln/>
        </p:spPr>
        <p:txBody>
          <a:bodyPr wrap="square" lIns="0" tIns="0" rIns="0" bIns="0" rtlCol="0" anchor="ctr"/>
          <a:lstStyle/>
          <a:p>
            <a:pPr algn="ctr" indent="0" marL="0">
              <a:buNone/>
            </a:pPr>
            <a:r>
              <a:rPr lang="en-US" sz="1100" b="1" dirty="0">
                <a:solidFill>
                  <a:schemeClr val="bg1"/>
                </a:solidFill>
              </a:rPr>
              <a:t>7</a:t>
            </a:r>
            <a:endParaRPr lang="en-US" sz="1100" dirty="0"/>
          </a:p>
        </p:txBody>
      </p:sp>
      <p:sp>
        <p:nvSpPr>
          <p:cNvPr id="29" name="Setup item 7"/>
          <p:cNvSpPr txBox="1"/>
          <p:nvPr/>
        </p:nvSpPr>
        <p:spPr>
          <a:xfrm>
            <a:off x="5824728" y="5833872"/>
            <a:ext cx="2651760" cy="274320"/>
          </a:xfrm>
          <a:prstGeom prst="rect">
            <a:avLst/>
          </a:prstGeom>
          <a:noFill/>
          <a:ln/>
        </p:spPr>
        <p:txBody>
          <a:bodyPr wrap="square" lIns="0" tIns="0" rIns="0" bIns="0" rtlCol="0" anchor="ctr"/>
          <a:lstStyle/>
          <a:p>
            <a:pPr indent="0" marL="0">
              <a:buNone/>
            </a:pPr>
            <a:r>
              <a:rPr lang="en-US" sz="1200" dirty="0">
                <a:solidFill>
                  <a:schemeClr val="tx1"/>
                </a:solidFill>
              </a:rPr>
              <a:t>PT100 (fluid, ambient) → DAQ970A</a:t>
            </a:r>
            <a:endParaRPr lang="en-US" sz="1200" dirty="0"/>
          </a:p>
        </p:txBody>
      </p:sp>
      <p:sp>
        <p:nvSpPr>
          <p:cNvPr id="30" name="Why heading"/>
          <p:cNvSpPr txBox="1"/>
          <p:nvPr/>
        </p:nvSpPr>
        <p:spPr>
          <a:xfrm>
            <a:off x="8641080" y="3044952"/>
            <a:ext cx="2999232" cy="320040"/>
          </a:xfrm>
          <a:prstGeom prst="rect">
            <a:avLst/>
          </a:prstGeom>
          <a:noFill/>
          <a:ln/>
        </p:spPr>
        <p:txBody>
          <a:bodyPr wrap="square" lIns="0" tIns="0" rIns="0" bIns="0" rtlCol="0" anchor="ctr"/>
          <a:lstStyle/>
          <a:p>
            <a:pPr indent="0" marL="0">
              <a:buNone/>
            </a:pPr>
            <a:r>
              <a:rPr lang="en-US" sz="1400" b="1" dirty="0">
                <a:solidFill>
                  <a:schemeClr val="tx2"/>
                </a:solidFill>
              </a:rPr>
              <a:t>Why this design?</a:t>
            </a:r>
            <a:endParaRPr lang="en-US" sz="1400" dirty="0"/>
          </a:p>
        </p:txBody>
      </p:sp>
      <p:sp>
        <p:nvSpPr>
          <p:cNvPr id="31" name="Why icon 1"/>
          <p:cNvSpPr/>
          <p:nvPr/>
        </p:nvSpPr>
        <p:spPr>
          <a:xfrm>
            <a:off x="8641080" y="3474720"/>
            <a:ext cx="384048" cy="384048"/>
          </a:xfrm>
          <a:prstGeom prst="ellipse">
            <a:avLst/>
          </a:prstGeom>
          <a:solidFill>
            <a:schemeClr val="accent2"/>
          </a:solidFill>
          <a:ln/>
        </p:spPr>
      </p:sp>
      <p:pic>
        <p:nvPicPr>
          <p:cNvPr id="32" name="Why icon 1 icon" descr="Why icon 1">    </p:cNvPr>
          <p:cNvPicPr>
            <a:picLocks noChangeAspect="1"/>
          </p:cNvPicPr>
          <p:nvPr/>
        </p:nvPicPr>
        <p:blipFill>
          <a:blip r:embed="rId2"/>
          <a:stretch>
            <a:fillRect/>
          </a:stretch>
        </p:blipFill>
        <p:spPr>
          <a:xfrm>
            <a:off x="8721730" y="3555370"/>
            <a:ext cx="222748" cy="222748"/>
          </a:xfrm>
          <a:prstGeom prst="rect">
            <a:avLst/>
          </a:prstGeom>
        </p:spPr>
      </p:pic>
      <p:sp>
        <p:nvSpPr>
          <p:cNvPr id="33" name="Why title 1"/>
          <p:cNvSpPr txBox="1"/>
          <p:nvPr/>
        </p:nvSpPr>
        <p:spPr>
          <a:xfrm>
            <a:off x="9144000" y="34564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Losses become heat</a:t>
            </a:r>
            <a:endParaRPr lang="en-US" sz="1250" dirty="0"/>
          </a:p>
        </p:txBody>
      </p:sp>
      <p:sp>
        <p:nvSpPr>
          <p:cNvPr id="34" name="Why text 1"/>
          <p:cNvSpPr txBox="1"/>
          <p:nvPr/>
        </p:nvSpPr>
        <p:spPr>
          <a:xfrm>
            <a:off x="9144000" y="3730752"/>
            <a:ext cx="2496312" cy="621792"/>
          </a:xfrm>
          <a:prstGeom prst="rect">
            <a:avLst/>
          </a:prstGeom>
          <a:noFill/>
          <a:ln/>
        </p:spPr>
        <p:txBody>
          <a:bodyPr wrap="square" lIns="0" tIns="0" rIns="0" bIns="0" rtlCol="0" anchor="t"/>
          <a:lstStyle/>
          <a:p>
            <a:pPr indent="0" marL="0">
              <a:buNone/>
            </a:pPr>
            <a:r>
              <a:rPr lang="en-US" sz="1050" dirty="0">
                <a:solidFill>
                  <a:schemeClr val="tx1"/>
                </a:solidFill>
              </a:rPr>
              <a:t>Core and winding losses are captured together, independent of waveform and frequency [3, 6].</a:t>
            </a:r>
            <a:endParaRPr lang="en-US" sz="1050" dirty="0"/>
          </a:p>
        </p:txBody>
      </p:sp>
      <p:sp>
        <p:nvSpPr>
          <p:cNvPr id="35" name="Why icon 2"/>
          <p:cNvSpPr/>
          <p:nvPr/>
        </p:nvSpPr>
        <p:spPr>
          <a:xfrm>
            <a:off x="8641080" y="4389120"/>
            <a:ext cx="384048" cy="384048"/>
          </a:xfrm>
          <a:prstGeom prst="ellipse">
            <a:avLst/>
          </a:prstGeom>
          <a:solidFill>
            <a:schemeClr val="accent2"/>
          </a:solidFill>
          <a:ln/>
        </p:spPr>
      </p:sp>
      <p:pic>
        <p:nvPicPr>
          <p:cNvPr id="36" name="Why icon 2 icon" descr="Why icon 2">    </p:cNvPr>
          <p:cNvPicPr>
            <a:picLocks noChangeAspect="1"/>
          </p:cNvPicPr>
          <p:nvPr/>
        </p:nvPicPr>
        <p:blipFill>
          <a:blip r:embed="rId3"/>
          <a:stretch>
            <a:fillRect/>
          </a:stretch>
        </p:blipFill>
        <p:spPr>
          <a:xfrm>
            <a:off x="8721730" y="4469770"/>
            <a:ext cx="222748" cy="222748"/>
          </a:xfrm>
          <a:prstGeom prst="rect">
            <a:avLst/>
          </a:prstGeom>
        </p:spPr>
      </p:pic>
      <p:sp>
        <p:nvSpPr>
          <p:cNvPr id="37" name="Why title 2"/>
          <p:cNvSpPr txBox="1"/>
          <p:nvPr/>
        </p:nvSpPr>
        <p:spPr>
          <a:xfrm>
            <a:off x="9144000" y="43708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Near-adiabatic</a:t>
            </a:r>
            <a:endParaRPr lang="en-US" sz="1250" dirty="0"/>
          </a:p>
        </p:txBody>
      </p:sp>
      <p:sp>
        <p:nvSpPr>
          <p:cNvPr id="38" name="Why text 2"/>
          <p:cNvSpPr txBox="1"/>
          <p:nvPr/>
        </p:nvSpPr>
        <p:spPr>
          <a:xfrm>
            <a:off x="9144000" y="4645152"/>
            <a:ext cx="2496312" cy="621792"/>
          </a:xfrm>
          <a:prstGeom prst="rect">
            <a:avLst/>
          </a:prstGeom>
          <a:noFill/>
          <a:ln/>
        </p:spPr>
        <p:txBody>
          <a:bodyPr wrap="square" lIns="0" tIns="0" rIns="0" bIns="0" rtlCol="0" anchor="t"/>
          <a:lstStyle/>
          <a:p>
            <a:pPr indent="0" marL="0">
              <a:buNone/>
            </a:pPr>
            <a:r>
              <a:rPr lang="en-US" sz="1050" dirty="0">
                <a:solidFill>
                  <a:schemeClr val="tx1"/>
                </a:solidFill>
              </a:rPr>
              <a:t>Unlike other calorimetric methods, no mass-flow measurement is necessary [4, 5].</a:t>
            </a:r>
            <a:endParaRPr lang="en-US" sz="1050" dirty="0"/>
          </a:p>
        </p:txBody>
      </p:sp>
      <p:sp>
        <p:nvSpPr>
          <p:cNvPr id="39" name="Why icon 3"/>
          <p:cNvSpPr/>
          <p:nvPr/>
        </p:nvSpPr>
        <p:spPr>
          <a:xfrm>
            <a:off x="8641080" y="5303520"/>
            <a:ext cx="384048" cy="384048"/>
          </a:xfrm>
          <a:prstGeom prst="ellipse">
            <a:avLst/>
          </a:prstGeom>
          <a:solidFill>
            <a:schemeClr val="accent2"/>
          </a:solidFill>
          <a:ln/>
        </p:spPr>
      </p:sp>
      <p:pic>
        <p:nvPicPr>
          <p:cNvPr id="40" name="Why icon 3 icon" descr="Why icon 3">    </p:cNvPr>
          <p:cNvPicPr>
            <a:picLocks noChangeAspect="1"/>
          </p:cNvPicPr>
          <p:nvPr/>
        </p:nvPicPr>
        <p:blipFill>
          <a:blip r:embed="rId4"/>
          <a:stretch>
            <a:fillRect/>
          </a:stretch>
        </p:blipFill>
        <p:spPr>
          <a:xfrm>
            <a:off x="8721730" y="5384170"/>
            <a:ext cx="222748" cy="222748"/>
          </a:xfrm>
          <a:prstGeom prst="rect">
            <a:avLst/>
          </a:prstGeom>
        </p:spPr>
      </p:pic>
      <p:sp>
        <p:nvSpPr>
          <p:cNvPr id="41" name="Why title 3"/>
          <p:cNvSpPr txBox="1"/>
          <p:nvPr/>
        </p:nvSpPr>
        <p:spPr>
          <a:xfrm>
            <a:off x="9144000" y="5285232"/>
            <a:ext cx="2496312" cy="274320"/>
          </a:xfrm>
          <a:prstGeom prst="rect">
            <a:avLst/>
          </a:prstGeom>
          <a:noFill/>
          <a:ln/>
        </p:spPr>
        <p:txBody>
          <a:bodyPr wrap="square" lIns="0" tIns="0" rIns="0" bIns="0" rtlCol="0" anchor="ctr"/>
          <a:lstStyle/>
          <a:p>
            <a:pPr indent="0" marL="0">
              <a:buNone/>
            </a:pPr>
            <a:r>
              <a:rPr lang="en-US" sz="1250" b="1" dirty="0">
                <a:solidFill>
                  <a:schemeClr val="tx2"/>
                </a:solidFill>
              </a:rPr>
              <a:t>Stirred liquid</a:t>
            </a:r>
            <a:endParaRPr lang="en-US" sz="1250" dirty="0"/>
          </a:p>
        </p:txBody>
      </p:sp>
      <p:sp>
        <p:nvSpPr>
          <p:cNvPr id="42" name="Why text 3"/>
          <p:cNvSpPr txBox="1"/>
          <p:nvPr/>
        </p:nvSpPr>
        <p:spPr>
          <a:xfrm>
            <a:off x="9144000" y="5559552"/>
            <a:ext cx="2496312" cy="621792"/>
          </a:xfrm>
          <a:prstGeom prst="rect">
            <a:avLst/>
          </a:prstGeom>
          <a:noFill/>
          <a:ln/>
        </p:spPr>
        <p:txBody>
          <a:bodyPr wrap="square" lIns="0" tIns="0" rIns="0" bIns="0" rtlCol="0" anchor="t"/>
          <a:lstStyle/>
          <a:p>
            <a:pPr indent="0" marL="0">
              <a:buNone/>
            </a:pPr>
            <a:r>
              <a:rPr lang="en-US" sz="1050" dirty="0">
                <a:solidFill>
                  <a:schemeClr val="tx1"/>
                </a:solidFill>
              </a:rPr>
              <a:t>Good electrical insulation and high heat capacity at reasonable cost; stirring heats it uniformly.</a:t>
            </a:r>
            <a:endParaRPr lang="en-US" sz="10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Thermal model and calibration</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Known heater powers turn the temperature slope into watts — under the same thermal conditions as the DUT</a:t>
            </a:r>
            <a:endParaRPr lang="en-US" sz="1500" dirty="0"/>
          </a:p>
        </p:txBody>
      </p:sp>
      <p:sp>
        <p:nvSpPr>
          <p:cNvPr id="4" name="Thermal model card"/>
          <p:cNvSpPr/>
          <p:nvPr/>
        </p:nvSpPr>
        <p:spPr>
          <a:xfrm>
            <a:off x="548640" y="1463040"/>
            <a:ext cx="5623560" cy="4800600"/>
          </a:xfrm>
          <a:prstGeom prst="roundRect">
            <a:avLst>
              <a:gd name="adj" fmla="val 1905"/>
            </a:avLst>
          </a:prstGeom>
          <a:solidFill>
            <a:schemeClr val="bg2"/>
          </a:solidFill>
          <a:ln/>
        </p:spPr>
      </p:sp>
      <p:sp>
        <p:nvSpPr>
          <p:cNvPr id="5" name="Thermal model title"/>
          <p:cNvSpPr txBox="1"/>
          <p:nvPr/>
        </p:nvSpPr>
        <p:spPr>
          <a:xfrm>
            <a:off x="777240" y="1536192"/>
            <a:ext cx="5166360" cy="292608"/>
          </a:xfrm>
          <a:prstGeom prst="rect">
            <a:avLst/>
          </a:prstGeom>
          <a:noFill/>
          <a:ln/>
        </p:spPr>
        <p:txBody>
          <a:bodyPr wrap="square" lIns="0" tIns="0" rIns="0" bIns="0" rtlCol="0" anchor="ctr"/>
          <a:lstStyle/>
          <a:p>
            <a:pPr indent="0" marL="0">
              <a:buNone/>
            </a:pPr>
            <a:r>
              <a:rPr lang="en-US" sz="1300" b="1" dirty="0">
                <a:solidFill>
                  <a:schemeClr val="tx2"/>
                </a:solidFill>
              </a:rPr>
              <a:t>Lumped thermal model of the calorimeter</a:t>
            </a:r>
            <a:endParaRPr lang="en-US" sz="1300" dirty="0"/>
          </a:p>
        </p:txBody>
      </p:sp>
      <p:pic>
        <p:nvPicPr>
          <p:cNvPr id="6" name="Thermal network" descr="Thermal network: the DUT loss is a heat source feeding the DUT heat capacity, a thermal resistance to the liquid, the liquid and enclosure heat capacity, and a very large leakage resistance to ambient.">    </p:cNvPr>
          <p:cNvPicPr>
            <a:picLocks noChangeAspect="1"/>
          </p:cNvPicPr>
          <p:nvPr/>
        </p:nvPicPr>
        <p:blipFill>
          <a:blip r:embed="rId1"/>
          <a:stretch>
            <a:fillRect/>
          </a:stretch>
        </p:blipFill>
        <p:spPr>
          <a:xfrm>
            <a:off x="868680" y="1874520"/>
            <a:ext cx="4983480" cy="2419064"/>
          </a:xfrm>
          <a:prstGeom prst="rect">
            <a:avLst/>
          </a:prstGeom>
        </p:spPr>
      </p:pic>
      <p:sp>
        <p:nvSpPr>
          <p:cNvPr id="7" name="Thermal balance"/>
          <p:cNvSpPr txBox="1"/>
          <p:nvPr/>
        </p:nvSpPr>
        <p:spPr>
          <a:xfrm>
            <a:off x="777240" y="4339304"/>
            <a:ext cx="5166360" cy="365760"/>
          </a:xfrm>
          <a:prstGeom prst="rect">
            <a:avLst/>
          </a:prstGeom>
          <a:noFill/>
          <a:ln/>
        </p:spPr>
        <p:txBody>
          <a:bodyPr wrap="square" lIns="0" tIns="0" rIns="0" bIns="0" rtlCol="0" anchor="ctr"/>
          <a:lstStyle/>
          <a:p>
            <a:pPr indent="0" marL="0">
              <a:buNone/>
            </a:pPr>
            <a:r>
              <a:rPr lang="en-US" sz="1350" dirty="0">
                <a:solidFill>
                  <a:schemeClr val="tx2"/>
                </a:solidFill>
              </a:rPr>
              <a:t>C</a:t>
            </a:r>
            <a:pPr indent="0" marL="0">
              <a:buNone/>
            </a:pPr>
            <a:r>
              <a:rPr lang="en-US" sz="1350" baseline="-40000" dirty="0">
                <a:solidFill>
                  <a:schemeClr val="tx2"/>
                </a:solidFill>
              </a:rPr>
              <a:t>Th</a:t>
            </a:r>
            <a:pPr indent="0" marL="0">
              <a:buNone/>
            </a:pPr>
            <a:r>
              <a:rPr lang="en-US" sz="1350" dirty="0">
                <a:solidFill>
                  <a:schemeClr val="tx2"/>
                </a:solidFill>
              </a:rPr>
              <a:t>·dT/dt = P</a:t>
            </a:r>
            <a:pPr indent="0" marL="0">
              <a:buNone/>
            </a:pPr>
            <a:r>
              <a:rPr lang="en-US" sz="1350" baseline="-40000" dirty="0">
                <a:solidFill>
                  <a:schemeClr val="tx2"/>
                </a:solidFill>
              </a:rPr>
              <a:t>loss</a:t>
            </a:r>
            <a:pPr indent="0" marL="0">
              <a:buNone/>
            </a:pPr>
            <a:r>
              <a:rPr lang="en-US" sz="1350" dirty="0">
                <a:solidFill>
                  <a:schemeClr val="tx2"/>
                </a:solidFill>
              </a:rPr>
              <a:t> − (T − T</a:t>
            </a:r>
            <a:pPr indent="0" marL="0">
              <a:buNone/>
            </a:pPr>
            <a:r>
              <a:rPr lang="en-US" sz="1350" baseline="-40000" dirty="0">
                <a:solidFill>
                  <a:schemeClr val="tx2"/>
                </a:solidFill>
              </a:rPr>
              <a:t>amb</a:t>
            </a:r>
            <a:pPr indent="0" marL="0">
              <a:buNone/>
            </a:pPr>
            <a:r>
              <a:rPr lang="en-US" sz="1350" dirty="0">
                <a:solidFill>
                  <a:schemeClr val="tx2"/>
                </a:solidFill>
              </a:rPr>
              <a:t>)/R</a:t>
            </a:r>
            <a:pPr indent="0" marL="0">
              <a:buNone/>
            </a:pPr>
            <a:r>
              <a:rPr lang="en-US" sz="1350" baseline="-40000" dirty="0">
                <a:solidFill>
                  <a:schemeClr val="tx2"/>
                </a:solidFill>
              </a:rPr>
              <a:t>leak</a:t>
            </a:r>
            <a:pPr indent="0" marL="0">
              <a:buNone/>
            </a:pPr>
            <a:r>
              <a:rPr lang="en-US" sz="1350" dirty="0">
                <a:solidFill>
                  <a:schemeClr val="tx2"/>
                </a:solidFill>
              </a:rPr>
              <a:t>   →   P</a:t>
            </a:r>
            <a:pPr indent="0" marL="0">
              <a:buNone/>
            </a:pPr>
            <a:r>
              <a:rPr lang="en-US" sz="1350" baseline="-40000" dirty="0">
                <a:solidFill>
                  <a:schemeClr val="tx2"/>
                </a:solidFill>
              </a:rPr>
              <a:t>loss</a:t>
            </a:r>
            <a:pPr indent="0" marL="0">
              <a:buNone/>
            </a:pPr>
            <a:r>
              <a:rPr lang="en-US" sz="1350" dirty="0">
                <a:solidFill>
                  <a:schemeClr val="tx2"/>
                </a:solidFill>
              </a:rPr>
              <a:t> ≈ C</a:t>
            </a:r>
            <a:pPr indent="0" marL="0">
              <a:buNone/>
            </a:pPr>
            <a:r>
              <a:rPr lang="en-US" sz="1350" baseline="-40000" dirty="0">
                <a:solidFill>
                  <a:schemeClr val="tx2"/>
                </a:solidFill>
              </a:rPr>
              <a:t>Th</a:t>
            </a:r>
            <a:pPr indent="0" marL="0">
              <a:buNone/>
            </a:pPr>
            <a:r>
              <a:rPr lang="en-US" sz="1350" dirty="0">
                <a:solidFill>
                  <a:schemeClr val="tx2"/>
                </a:solidFill>
              </a:rPr>
              <a:t>·ΔT/Δt  for large R</a:t>
            </a:r>
            <a:pPr indent="0" marL="0">
              <a:buNone/>
            </a:pPr>
            <a:r>
              <a:rPr lang="en-US" sz="1350" baseline="-40000" dirty="0">
                <a:solidFill>
                  <a:schemeClr val="tx2"/>
                </a:solidFill>
              </a:rPr>
              <a:t>leak</a:t>
            </a:r>
            <a:endParaRPr lang="en-US" sz="1350" dirty="0"/>
          </a:p>
        </p:txBody>
      </p:sp>
      <p:sp>
        <p:nvSpPr>
          <p:cNvPr id="8" name="Rule dot 1"/>
          <p:cNvSpPr/>
          <p:nvPr/>
        </p:nvSpPr>
        <p:spPr>
          <a:xfrm>
            <a:off x="804672" y="4869656"/>
            <a:ext cx="109728" cy="109728"/>
          </a:xfrm>
          <a:prstGeom prst="ellipse">
            <a:avLst/>
          </a:prstGeom>
          <a:solidFill>
            <a:schemeClr val="accent1"/>
          </a:solidFill>
          <a:ln/>
        </p:spPr>
      </p:sp>
      <p:sp>
        <p:nvSpPr>
          <p:cNvPr id="9" name="Rule 1"/>
          <p:cNvSpPr txBox="1"/>
          <p:nvPr/>
        </p:nvSpPr>
        <p:spPr>
          <a:xfrm>
            <a:off x="1005840" y="4778216"/>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C</a:t>
            </a:r>
            <a:pPr indent="0" marL="0">
              <a:buNone/>
            </a:pPr>
            <a:r>
              <a:rPr lang="en-US" sz="1200" b="1" baseline="-40000" dirty="0">
                <a:solidFill>
                  <a:schemeClr val="tx2"/>
                </a:solidFill>
              </a:rPr>
              <a:t>Th</a:t>
            </a:r>
            <a:pPr indent="0" marL="0">
              <a:buNone/>
            </a:pPr>
            <a:r>
              <a:rPr lang="en-US" sz="1200" b="1" dirty="0">
                <a:solidFill>
                  <a:schemeClr val="tx2"/>
                </a:solidFill>
              </a:rPr>
              <a:t> includes the DUT</a:t>
            </a:r>
            <a:pPr indent="0" marL="0">
              <a:buNone/>
            </a:pPr>
            <a:r>
              <a:rPr lang="en-US" sz="1200" dirty="0">
                <a:solidFill>
                  <a:schemeClr val="tx1"/>
                </a:solidFill>
              </a:rPr>
              <a:t> → it is fully submerged also during calibration</a:t>
            </a:r>
            <a:endParaRPr lang="en-US" sz="1200" dirty="0"/>
          </a:p>
        </p:txBody>
      </p:sp>
      <p:sp>
        <p:nvSpPr>
          <p:cNvPr id="10" name="Rule dot 2"/>
          <p:cNvSpPr/>
          <p:nvPr/>
        </p:nvSpPr>
        <p:spPr>
          <a:xfrm>
            <a:off x="804672" y="5217128"/>
            <a:ext cx="109728" cy="109728"/>
          </a:xfrm>
          <a:prstGeom prst="ellipse">
            <a:avLst/>
          </a:prstGeom>
          <a:solidFill>
            <a:schemeClr val="accent1"/>
          </a:solidFill>
          <a:ln/>
        </p:spPr>
      </p:sp>
      <p:sp>
        <p:nvSpPr>
          <p:cNvPr id="11" name="Rule 2"/>
          <p:cNvSpPr txBox="1"/>
          <p:nvPr/>
        </p:nvSpPr>
        <p:spPr>
          <a:xfrm>
            <a:off x="1005840" y="5125688"/>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R</a:t>
            </a:r>
            <a:pPr indent="0" marL="0">
              <a:buNone/>
            </a:pPr>
            <a:r>
              <a:rPr lang="en-US" sz="1200" b="1" baseline="-40000" dirty="0">
                <a:solidFill>
                  <a:schemeClr val="tx2"/>
                </a:solidFill>
              </a:rPr>
              <a:t>th</a:t>
            </a:r>
            <a:pPr indent="0" marL="0">
              <a:buNone/>
            </a:pPr>
            <a:r>
              <a:rPr lang="en-US" sz="1200" b="1" dirty="0">
                <a:solidFill>
                  <a:schemeClr val="tx2"/>
                </a:solidFill>
              </a:rPr>
              <a:t> delays the response</a:t>
            </a:r>
            <a:pPr indent="0" marL="0">
              <a:buNone/>
            </a:pPr>
            <a:r>
              <a:rPr lang="en-US" sz="1200" dirty="0">
                <a:solidFill>
                  <a:schemeClr val="tx1"/>
                </a:solidFill>
              </a:rPr>
              <a:t> → only the most linear part of ΔT(t) is used</a:t>
            </a:r>
            <a:endParaRPr lang="en-US" sz="1200" dirty="0"/>
          </a:p>
        </p:txBody>
      </p:sp>
      <p:sp>
        <p:nvSpPr>
          <p:cNvPr id="12" name="Rule dot 3"/>
          <p:cNvSpPr/>
          <p:nvPr/>
        </p:nvSpPr>
        <p:spPr>
          <a:xfrm>
            <a:off x="804672" y="5564600"/>
            <a:ext cx="109728" cy="109728"/>
          </a:xfrm>
          <a:prstGeom prst="ellipse">
            <a:avLst/>
          </a:prstGeom>
          <a:solidFill>
            <a:schemeClr val="accent1"/>
          </a:solidFill>
          <a:ln/>
        </p:spPr>
      </p:sp>
      <p:sp>
        <p:nvSpPr>
          <p:cNvPr id="13" name="Rule 3"/>
          <p:cNvSpPr txBox="1"/>
          <p:nvPr/>
        </p:nvSpPr>
        <p:spPr>
          <a:xfrm>
            <a:off x="1005840" y="5473160"/>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Leakage is small, not zero</a:t>
            </a:r>
            <a:pPr indent="0" marL="0">
              <a:buNone/>
            </a:pPr>
            <a:r>
              <a:rPr lang="en-US" sz="1200" dirty="0">
                <a:solidFill>
                  <a:schemeClr val="tx1"/>
                </a:solidFill>
              </a:rPr>
              <a:t> → every run starts at 35 °C</a:t>
            </a:r>
            <a:endParaRPr lang="en-US" sz="1200" dirty="0"/>
          </a:p>
        </p:txBody>
      </p:sp>
      <p:sp>
        <p:nvSpPr>
          <p:cNvPr id="14" name="Rule dot 4"/>
          <p:cNvSpPr/>
          <p:nvPr/>
        </p:nvSpPr>
        <p:spPr>
          <a:xfrm>
            <a:off x="804672" y="5912072"/>
            <a:ext cx="109728" cy="109728"/>
          </a:xfrm>
          <a:prstGeom prst="ellipse">
            <a:avLst/>
          </a:prstGeom>
          <a:solidFill>
            <a:schemeClr val="accent1"/>
          </a:solidFill>
          <a:ln/>
        </p:spPr>
      </p:sp>
      <p:sp>
        <p:nvSpPr>
          <p:cNvPr id="15" name="Rule 4"/>
          <p:cNvSpPr txBox="1"/>
          <p:nvPr/>
        </p:nvSpPr>
        <p:spPr>
          <a:xfrm>
            <a:off x="1005840" y="5820632"/>
            <a:ext cx="4937760" cy="292608"/>
          </a:xfrm>
          <a:prstGeom prst="rect">
            <a:avLst/>
          </a:prstGeom>
          <a:noFill/>
          <a:ln/>
        </p:spPr>
        <p:txBody>
          <a:bodyPr wrap="square" lIns="0" tIns="0" rIns="0" bIns="0" rtlCol="0" anchor="ctr"/>
          <a:lstStyle/>
          <a:p>
            <a:pPr indent="0" marL="0">
              <a:buNone/>
            </a:pPr>
            <a:r>
              <a:rPr lang="en-US" sz="1200" b="1" dirty="0">
                <a:solidFill>
                  <a:schemeClr val="tx2"/>
                </a:solidFill>
              </a:rPr>
              <a:t>One liquid temperature</a:t>
            </a:r>
            <a:pPr indent="0" marL="0">
              <a:buNone/>
            </a:pPr>
            <a:r>
              <a:rPr lang="en-US" sz="1200" dirty="0">
                <a:solidFill>
                  <a:schemeClr val="tx1"/>
                </a:solidFill>
              </a:rPr>
              <a:t> → continuous stirring keeps the liquid uniform</a:t>
            </a:r>
            <a:endParaRPr lang="en-US" sz="1200" dirty="0"/>
          </a:p>
        </p:txBody>
      </p:sp>
      <p:sp>
        <p:nvSpPr>
          <p:cNvPr id="16" name="Calibration card"/>
          <p:cNvSpPr/>
          <p:nvPr/>
        </p:nvSpPr>
        <p:spPr>
          <a:xfrm>
            <a:off x="6400800" y="1463040"/>
            <a:ext cx="5239512" cy="2788920"/>
          </a:xfrm>
          <a:prstGeom prst="roundRect">
            <a:avLst>
              <a:gd name="adj" fmla="val 3279"/>
            </a:avLst>
          </a:prstGeom>
          <a:solidFill>
            <a:schemeClr val="bg2"/>
          </a:solidFill>
          <a:ln/>
        </p:spPr>
      </p:sp>
      <p:sp>
        <p:nvSpPr>
          <p:cNvPr id="17" name="Calibration title"/>
          <p:cNvSpPr txBox="1"/>
          <p:nvPr/>
        </p:nvSpPr>
        <p:spPr>
          <a:xfrm>
            <a:off x="6629400" y="1536192"/>
            <a:ext cx="4782312" cy="292608"/>
          </a:xfrm>
          <a:prstGeom prst="rect">
            <a:avLst/>
          </a:prstGeom>
          <a:noFill/>
          <a:ln/>
        </p:spPr>
        <p:txBody>
          <a:bodyPr wrap="square" lIns="0" tIns="0" rIns="0" bIns="0" rtlCol="0" anchor="ctr"/>
          <a:lstStyle/>
          <a:p>
            <a:pPr indent="0" marL="0">
              <a:buNone/>
            </a:pPr>
            <a:r>
              <a:rPr lang="en-US" sz="1300" b="1" dirty="0">
                <a:solidFill>
                  <a:schemeClr val="tx2"/>
                </a:solidFill>
              </a:rPr>
              <a:t>Calibration: slope ∝ power</a:t>
            </a:r>
            <a:endParaRPr lang="en-US" sz="1300" dirty="0"/>
          </a:p>
        </p:txBody>
      </p:sp>
      <p:graphicFrame>
        <p:nvGraphicFramePr>
          <p:cNvPr id="18" name="Calibration chart" descr="Idealised calibration line: temperature slope proportional to heater power at 2, 3, 5, 8, 10 and 13 W; the DUT slopes read as 6.7 W (litz) and 7.4 W (solid)."/>
          <p:cNvGraphicFramePr/>
          <p:nvPr/>
        </p:nvGraphicFramePr>
        <p:xfrm>
          <a:off x="6492240" y="1828800"/>
          <a:ext cx="5056632" cy="2331720"/>
        </p:xfrm>
        <a:graphic xmlns:a="http://schemas.openxmlformats.org/drawingml/2006/main">
          <a:graphicData uri="http://schemas.openxmlformats.org/drawingml/2006/chart">
            <c:chart xmlns:c="http://schemas.openxmlformats.org/drawingml/2006/chart" r:id="rId2"/>
          </a:graphicData>
        </a:graphic>
      </p:graphicFrame>
      <p:sp>
        <p:nvSpPr>
          <p:cNvPr id="19" name="Calibration key"/>
          <p:cNvSpPr txBox="1"/>
          <p:nvPr/>
        </p:nvSpPr>
        <p:spPr>
          <a:xfrm>
            <a:off x="7241042" y="1991106"/>
            <a:ext cx="2103120" cy="566928"/>
          </a:xfrm>
          <a:prstGeom prst="rect">
            <a:avLst/>
          </a:prstGeom>
          <a:noFill/>
          <a:ln/>
        </p:spPr>
        <p:txBody>
          <a:bodyPr wrap="square" lIns="0" tIns="0" rIns="0" bIns="0" rtlCol="0" anchor="t"/>
          <a:lstStyle/>
          <a:p>
            <a:pPr indent="0" marL="0">
              <a:buNone/>
            </a:pPr>
            <a:r>
              <a:rPr lang="en-US" sz="950" dirty="0">
                <a:solidFill>
                  <a:srgbClr val="C46A2B"/>
                </a:solidFill>
              </a:rPr>
              <a:t>● </a:t>
            </a:r>
            <a:pPr indent="0" marL="0">
              <a:buNone/>
            </a:pPr>
            <a:r>
              <a:rPr lang="en-US" sz="950" dirty="0">
                <a:solidFill>
                  <a:schemeClr val="tx1"/>
                </a:solidFill>
              </a:rPr>
              <a:t>heater: 2, 3, 5, 8, 10, 13 W</a:t>
            </a:r>
            <a:endParaRPr lang="en-US" sz="950" dirty="0"/>
          </a:p>
          <a:p>
            <a:pPr indent="0" marL="0">
              <a:buNone/>
            </a:pPr>
            <a:r>
              <a:rPr lang="en-US" sz="950" b="1" dirty="0">
                <a:solidFill>
                  <a:srgbClr val="5B6B77"/>
                </a:solidFill>
              </a:rPr>
              <a:t>‒ ‒ </a:t>
            </a:r>
            <a:pPr indent="0" marL="0">
              <a:buNone/>
            </a:pPr>
            <a:r>
              <a:rPr lang="en-US" sz="950" dirty="0">
                <a:solidFill>
                  <a:schemeClr val="tx1"/>
                </a:solidFill>
              </a:rPr>
              <a:t>slope ∝ power</a:t>
            </a:r>
            <a:endParaRPr lang="en-US" sz="950" dirty="0"/>
          </a:p>
          <a:p>
            <a:pPr indent="0" marL="0">
              <a:buNone/>
            </a:pPr>
            <a:r>
              <a:rPr lang="en-US" sz="950" dirty="0">
                <a:solidFill>
                  <a:srgbClr val="0F7C86"/>
                </a:solidFill>
              </a:rPr>
              <a:t>◆ </a:t>
            </a:r>
            <a:pPr indent="0" marL="0">
              <a:buNone/>
            </a:pPr>
            <a:r>
              <a:rPr lang="en-US" sz="950" dirty="0">
                <a:solidFill>
                  <a:schemeClr val="tx1"/>
                </a:solidFill>
              </a:rPr>
              <a:t>DUT slopes read off</a:t>
            </a:r>
            <a:endParaRPr lang="en-US" sz="950" dirty="0"/>
          </a:p>
        </p:txBody>
      </p:sp>
      <p:sp>
        <p:nvSpPr>
          <p:cNvPr id="20" name="Solid reading"/>
          <p:cNvSpPr txBox="1"/>
          <p:nvPr/>
        </p:nvSpPr>
        <p:spPr>
          <a:xfrm>
            <a:off x="7767819" y="2419333"/>
            <a:ext cx="1463040" cy="219456"/>
          </a:xfrm>
          <a:prstGeom prst="rect">
            <a:avLst/>
          </a:prstGeom>
          <a:noFill/>
          <a:ln/>
        </p:spPr>
        <p:txBody>
          <a:bodyPr wrap="square" lIns="0" tIns="0" rIns="0" bIns="0" rtlCol="0" anchor="ctr"/>
          <a:lstStyle/>
          <a:p>
            <a:pPr algn="r" indent="0" marL="0">
              <a:buNone/>
            </a:pPr>
            <a:r>
              <a:rPr lang="en-US" sz="1000" b="1" dirty="0">
                <a:solidFill>
                  <a:schemeClr val="accent1"/>
                </a:solidFill>
              </a:rPr>
              <a:t>solid ≈ 7.4 W</a:t>
            </a:r>
            <a:endParaRPr lang="en-US" sz="1000" dirty="0"/>
          </a:p>
        </p:txBody>
      </p:sp>
      <p:sp>
        <p:nvSpPr>
          <p:cNvPr id="21" name="Litz reading"/>
          <p:cNvSpPr txBox="1"/>
          <p:nvPr/>
        </p:nvSpPr>
        <p:spPr>
          <a:xfrm>
            <a:off x="9257904" y="3026399"/>
            <a:ext cx="1463040" cy="219456"/>
          </a:xfrm>
          <a:prstGeom prst="rect">
            <a:avLst/>
          </a:prstGeom>
          <a:noFill/>
          <a:ln/>
        </p:spPr>
        <p:txBody>
          <a:bodyPr wrap="square" lIns="0" tIns="0" rIns="0" bIns="0" rtlCol="0" anchor="ctr"/>
          <a:lstStyle/>
          <a:p>
            <a:pPr indent="0" marL="0">
              <a:buNone/>
            </a:pPr>
            <a:r>
              <a:rPr lang="en-US" sz="1000" b="1" dirty="0">
                <a:solidFill>
                  <a:schemeClr val="accent1"/>
                </a:solidFill>
              </a:rPr>
              <a:t>litz ≈ 6.7 W</a:t>
            </a:r>
            <a:endParaRPr lang="en-US" sz="1000" dirty="0"/>
          </a:p>
        </p:txBody>
      </p:sp>
      <p:sp>
        <p:nvSpPr>
          <p:cNvPr id="22" name="Procedure card"/>
          <p:cNvSpPr/>
          <p:nvPr/>
        </p:nvSpPr>
        <p:spPr>
          <a:xfrm>
            <a:off x="6400800" y="4434840"/>
            <a:ext cx="5239512" cy="1828800"/>
          </a:xfrm>
          <a:prstGeom prst="roundRect">
            <a:avLst>
              <a:gd name="adj" fmla="val 5000"/>
            </a:avLst>
          </a:prstGeom>
          <a:solidFill>
            <a:schemeClr val="bg2"/>
          </a:solidFill>
          <a:ln/>
        </p:spPr>
      </p:sp>
      <p:sp>
        <p:nvSpPr>
          <p:cNvPr id="23" name="Procedure step 1"/>
          <p:cNvSpPr/>
          <p:nvPr/>
        </p:nvSpPr>
        <p:spPr>
          <a:xfrm>
            <a:off x="6601968" y="4562856"/>
            <a:ext cx="310896" cy="310896"/>
          </a:xfrm>
          <a:prstGeom prst="ellipse">
            <a:avLst/>
          </a:prstGeom>
          <a:solidFill>
            <a:schemeClr val="accent2"/>
          </a:solidFill>
          <a:ln/>
        </p:spPr>
      </p:sp>
      <p:sp>
        <p:nvSpPr>
          <p:cNvPr id="24" name="Procedure step 1 number"/>
          <p:cNvSpPr txBox="1"/>
          <p:nvPr/>
        </p:nvSpPr>
        <p:spPr>
          <a:xfrm>
            <a:off x="6601968" y="456285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25" name="Procedure 1"/>
          <p:cNvSpPr txBox="1"/>
          <p:nvPr/>
        </p:nvSpPr>
        <p:spPr>
          <a:xfrm>
            <a:off x="7040880" y="4544568"/>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Calibrate: </a:t>
            </a:r>
            <a:pPr indent="0" marL="0">
              <a:buNone/>
            </a:pPr>
            <a:r>
              <a:rPr lang="en-US" sz="1100" dirty="0">
                <a:solidFill>
                  <a:schemeClr val="tx1"/>
                </a:solidFill>
              </a:rPr>
              <a:t>LV supply + wire-wound resistor at known power (4-wire measurement)</a:t>
            </a:r>
            <a:endParaRPr lang="en-US" sz="1100" dirty="0"/>
          </a:p>
        </p:txBody>
      </p:sp>
      <p:sp>
        <p:nvSpPr>
          <p:cNvPr id="26" name="Procedure step 2"/>
          <p:cNvSpPr/>
          <p:nvPr/>
        </p:nvSpPr>
        <p:spPr>
          <a:xfrm>
            <a:off x="6601968" y="4983480"/>
            <a:ext cx="310896" cy="310896"/>
          </a:xfrm>
          <a:prstGeom prst="ellipse">
            <a:avLst/>
          </a:prstGeom>
          <a:solidFill>
            <a:schemeClr val="accent2"/>
          </a:solidFill>
          <a:ln/>
        </p:spPr>
      </p:sp>
      <p:sp>
        <p:nvSpPr>
          <p:cNvPr id="27" name="Procedure step 2 number"/>
          <p:cNvSpPr txBox="1"/>
          <p:nvPr/>
        </p:nvSpPr>
        <p:spPr>
          <a:xfrm>
            <a:off x="6601968" y="49834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8" name="Procedure 2"/>
          <p:cNvSpPr txBox="1"/>
          <p:nvPr/>
        </p:nvSpPr>
        <p:spPr>
          <a:xfrm>
            <a:off x="7040880" y="4965192"/>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Fit: </a:t>
            </a:r>
            <a:pPr indent="0" marL="0">
              <a:buNone/>
            </a:pPr>
            <a:r>
              <a:rPr lang="en-US" sz="1100" dirty="0">
                <a:solidFill>
                  <a:schemeClr val="tx1"/>
                </a:solidFill>
              </a:rPr>
              <a:t>most linear region of each ΔT(t) record → one ΔT/Δt slope per power</a:t>
            </a:r>
            <a:endParaRPr lang="en-US" sz="1100" dirty="0"/>
          </a:p>
        </p:txBody>
      </p:sp>
      <p:sp>
        <p:nvSpPr>
          <p:cNvPr id="29" name="Procedure step 3"/>
          <p:cNvSpPr/>
          <p:nvPr/>
        </p:nvSpPr>
        <p:spPr>
          <a:xfrm>
            <a:off x="6601968" y="5404104"/>
            <a:ext cx="310896" cy="310896"/>
          </a:xfrm>
          <a:prstGeom prst="ellipse">
            <a:avLst/>
          </a:prstGeom>
          <a:solidFill>
            <a:schemeClr val="accent2"/>
          </a:solidFill>
          <a:ln/>
        </p:spPr>
      </p:sp>
      <p:sp>
        <p:nvSpPr>
          <p:cNvPr id="30" name="Procedure step 3 number"/>
          <p:cNvSpPr txBox="1"/>
          <p:nvPr/>
        </p:nvSpPr>
        <p:spPr>
          <a:xfrm>
            <a:off x="6601968" y="540410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31" name="Procedure 3"/>
          <p:cNvSpPr txBox="1"/>
          <p:nvPr/>
        </p:nvSpPr>
        <p:spPr>
          <a:xfrm>
            <a:off x="7040880" y="5385816"/>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Measure: </a:t>
            </a:r>
            <a:pPr indent="0" marL="0">
              <a:buNone/>
            </a:pPr>
            <a:r>
              <a:rPr lang="en-US" sz="1100" dirty="0">
                <a:solidFill>
                  <a:schemeClr val="tx1"/>
                </a:solidFill>
              </a:rPr>
              <a:t>DUT operated as in normal operation → its ΔT/Δt slope</a:t>
            </a:r>
            <a:endParaRPr lang="en-US" sz="1100" dirty="0"/>
          </a:p>
        </p:txBody>
      </p:sp>
      <p:sp>
        <p:nvSpPr>
          <p:cNvPr id="32" name="Procedure step 4"/>
          <p:cNvSpPr/>
          <p:nvPr/>
        </p:nvSpPr>
        <p:spPr>
          <a:xfrm>
            <a:off x="6601968" y="5824728"/>
            <a:ext cx="310896" cy="310896"/>
          </a:xfrm>
          <a:prstGeom prst="ellipse">
            <a:avLst/>
          </a:prstGeom>
          <a:solidFill>
            <a:schemeClr val="accent2"/>
          </a:solidFill>
          <a:ln/>
        </p:spPr>
      </p:sp>
      <p:sp>
        <p:nvSpPr>
          <p:cNvPr id="33" name="Procedure step 4 number"/>
          <p:cNvSpPr txBox="1"/>
          <p:nvPr/>
        </p:nvSpPr>
        <p:spPr>
          <a:xfrm>
            <a:off x="6601968" y="58247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34" name="Procedure 4"/>
          <p:cNvSpPr txBox="1"/>
          <p:nvPr/>
        </p:nvSpPr>
        <p:spPr>
          <a:xfrm>
            <a:off x="7040880" y="5806440"/>
            <a:ext cx="4416552" cy="347472"/>
          </a:xfrm>
          <a:prstGeom prst="rect">
            <a:avLst/>
          </a:prstGeom>
          <a:noFill/>
          <a:ln/>
        </p:spPr>
        <p:txBody>
          <a:bodyPr wrap="square" lIns="0" tIns="0" rIns="0" bIns="0" rtlCol="0" anchor="ctr"/>
          <a:lstStyle/>
          <a:p>
            <a:pPr indent="0" marL="0">
              <a:buNone/>
            </a:pPr>
            <a:r>
              <a:rPr lang="en-US" sz="1100" b="1" dirty="0">
                <a:solidFill>
                  <a:schemeClr val="tx2"/>
                </a:solidFill>
              </a:rPr>
              <a:t>Interpolate: </a:t>
            </a:r>
            <a:pPr indent="0" marL="0">
              <a:buNone/>
            </a:pPr>
            <a:r>
              <a:rPr lang="en-US" sz="1100" dirty="0">
                <a:solidFill>
                  <a:schemeClr val="tx1"/>
                </a:solidFill>
              </a:rPr>
              <a:t>loss read between the calibrated slopes</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Results: simulated vs. thermally measured losses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Litz-wire inductor agrees within 1.5 %; the solid-wire inductor is measured 8–11 % above simulation</a:t>
            </a:r>
            <a:endParaRPr lang="en-US" sz="1500" dirty="0"/>
          </a:p>
        </p:txBody>
      </p:sp>
      <p:sp>
        <p:nvSpPr>
          <p:cNvPr id="4" name="Results chart card"/>
          <p:cNvSpPr/>
          <p:nvPr/>
        </p:nvSpPr>
        <p:spPr>
          <a:xfrm>
            <a:off x="548640" y="1463040"/>
            <a:ext cx="5577840" cy="4800600"/>
          </a:xfrm>
          <a:prstGeom prst="roundRect">
            <a:avLst>
              <a:gd name="adj" fmla="val 1905"/>
            </a:avLst>
          </a:prstGeom>
          <a:solidFill>
            <a:schemeClr val="bg2"/>
          </a:solidFill>
          <a:ln/>
        </p:spPr>
      </p:sp>
      <p:sp>
        <p:nvSpPr>
          <p:cNvPr id="5" name="Results chart title"/>
          <p:cNvSpPr txBox="1"/>
          <p:nvPr/>
        </p:nvSpPr>
        <p:spPr>
          <a:xfrm>
            <a:off x="777240" y="1536192"/>
            <a:ext cx="5120640" cy="292608"/>
          </a:xfrm>
          <a:prstGeom prst="rect">
            <a:avLst/>
          </a:prstGeom>
          <a:noFill/>
          <a:ln/>
        </p:spPr>
        <p:txBody>
          <a:bodyPr wrap="square" lIns="0" tIns="0" rIns="0" bIns="0" rtlCol="0" anchor="ctr"/>
          <a:lstStyle/>
          <a:p>
            <a:pPr indent="0" marL="0">
              <a:buNone/>
            </a:pPr>
            <a:r>
              <a:rPr lang="en-US" sz="1300" b="1" dirty="0">
                <a:solidFill>
                  <a:schemeClr val="tx2"/>
                </a:solidFill>
              </a:rPr>
              <a:t>Inductor loss — RM14LP, 400 kHz, ≈ 880 W</a:t>
            </a:r>
            <a:endParaRPr lang="en-US" sz="1300" dirty="0"/>
          </a:p>
        </p:txBody>
      </p:sp>
      <p:graphicFrame>
        <p:nvGraphicFramePr>
          <p:cNvPr id="6" name="Results bar chart" descr="Clustered columns: solid wire simulated 6.75 W vs measured 7.40 W; litz wire simulated 6.70 W vs measured 6.67 W."/>
          <p:cNvGraphicFramePr/>
          <p:nvPr/>
        </p:nvGraphicFramePr>
        <p:xfrm>
          <a:off x="640080" y="1847088"/>
          <a:ext cx="5394960" cy="2788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Measurement table"/>
          <p:cNvGraphicFramePr>
            <a:graphicFrameLocks noGrp="1"/>
          </p:cNvGraphicFramePr>
          <p:nvPr>
            <p:extLst>
              <p:ext uri="{D42A27DB-BD31-4B8C-83A1-F6EECF244321}">
                <p14:modId xmlns:p14="http://schemas.microsoft.com/office/powerpoint/2010/main" val="1579011935"/>
              </p:ext>
            </p:extLst>
          </p:nvPr>
        </p:nvGraphicFramePr>
        <p:xfrm>
          <a:off x="777240" y="4818888"/>
          <a:ext cx="5120640" cy="914400"/>
        </p:xfrm>
        <a:graphic>
          <a:graphicData uri="http://schemas.openxmlformats.org/drawingml/2006/table">
            <a:tbl>
              <a:tblPr/>
              <a:tblGrid>
                <a:gridCol w="777240"/>
                <a:gridCol w="594360"/>
                <a:gridCol w="594360"/>
                <a:gridCol w="594360"/>
                <a:gridCol w="685800"/>
                <a:gridCol w="822960"/>
                <a:gridCol w="1051560"/>
              </a:tblGrid>
              <a:tr h="283464">
                <a:tc>
                  <a:txBody>
                    <a:bodyPr/>
                    <a:lstStyle/>
                    <a:p>
                      <a:pPr algn="ctr" indent="0" marL="0">
                        <a:buNone/>
                      </a:pPr>
                      <a:r>
                        <a:rPr lang="en-US" sz="1050" b="1" dirty="0">
                          <a:solidFill>
                            <a:schemeClr val="bg1"/>
                          </a:solidFill>
                        </a:rPr>
                        <a:t>Wire</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1</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2</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Run 3</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Mean</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Simulated</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c>
                  <a:txBody>
                    <a:bodyPr/>
                    <a:lstStyle/>
                    <a:p>
                      <a:pPr algn="ctr" indent="0" marL="0">
                        <a:buNone/>
                      </a:pPr>
                      <a:r>
                        <a:rPr lang="en-US" sz="1050" b="1" dirty="0">
                          <a:solidFill>
                            <a:schemeClr val="bg1"/>
                          </a:solidFill>
                        </a:rPr>
                        <a:t>Meas. vs. sim.</a:t>
                      </a:r>
                      <a:endParaRPr lang="en-US" sz="105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tx2"/>
                    </a:solidFill>
                  </a:tcPr>
                </a:tc>
              </a:tr>
              <a:tr h="283464">
                <a:tc>
                  <a:txBody>
                    <a:bodyPr/>
                    <a:lstStyle/>
                    <a:p>
                      <a:pPr algn="l" indent="0" marL="0">
                        <a:buNone/>
                      </a:pPr>
                      <a:r>
                        <a:rPr lang="en-US" sz="1100" b="1" dirty="0">
                          <a:solidFill>
                            <a:schemeClr val="tx1"/>
                          </a:solidFill>
                        </a:rPr>
                        <a:t>Solid</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7.3</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7.40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6.75</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6"/>
                          </a:solidFill>
                        </a:rPr>
                        <a:t>+9.6 %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r h="283464">
                <a:tc>
                  <a:txBody>
                    <a:bodyPr/>
                    <a:lstStyle/>
                    <a:p>
                      <a:pPr algn="l" indent="0" marL="0">
                        <a:buNone/>
                      </a:pPr>
                      <a:r>
                        <a:rPr lang="en-US" sz="1100" b="1" dirty="0">
                          <a:solidFill>
                            <a:schemeClr val="tx1"/>
                          </a:solidFill>
                        </a:rPr>
                        <a:t>Litz</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6.67</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rPr>
                        <a:t>6.70</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accent5"/>
                          </a:solidFill>
                        </a:rPr>
                        <a:t>−0.5 %</a:t>
                      </a:r>
                      <a:endParaRPr lang="en-US" sz="1100" dirty="0"/>
                    </a:p>
                  </a:txBody>
                  <a:tcPr marL="73152" marR="73152" marT="27432" marB="27432" anchor="ctr">
                    <a:lnL w="9525" cap="flat" cmpd="sng" algn="ctr">
                      <a:solidFill>
                        <a:srgbClr val="D5DCE1"/>
                      </a:solidFill>
                      <a:prstDash val="solid"/>
                      <a:round/>
                      <a:headEnd type="none" w="med" len="med"/>
                      <a:tailEnd type="none" w="med" len="med"/>
                    </a:lnL>
                    <a:lnR w="9525" cap="flat" cmpd="sng" algn="ctr">
                      <a:solidFill>
                        <a:srgbClr val="D5DCE1"/>
                      </a:solidFill>
                      <a:prstDash val="solid"/>
                      <a:round/>
                      <a:headEnd type="none" w="med" len="med"/>
                      <a:tailEnd type="none" w="med" len="med"/>
                    </a:lnR>
                    <a:lnT w="9525" cap="flat" cmpd="sng" algn="ctr">
                      <a:solidFill>
                        <a:srgbClr val="D5DCE1"/>
                      </a:solidFill>
                      <a:prstDash val="solid"/>
                      <a:round/>
                      <a:headEnd type="none" w="med" len="med"/>
                      <a:tailEnd type="none" w="med" len="med"/>
                    </a:lnT>
                    <a:lnB w="9525" cap="flat" cmpd="sng" algn="ctr">
                      <a:solidFill>
                        <a:srgbClr val="D5DCE1"/>
                      </a:solidFill>
                      <a:prstDash val="solid"/>
                      <a:round/>
                      <a:headEnd type="none" w="med" len="med"/>
                      <a:tailEnd type="none" w="med" len="med"/>
                    </a:lnB>
                    <a:solidFill>
                      <a:schemeClr val="bg1"/>
                    </a:solidFill>
                  </a:tcPr>
                </a:tc>
              </a:tr>
            </a:tbl>
          </a:graphicData>
        </a:graphic>
      </p:graphicFrame>
      <p:sp>
        <p:nvSpPr>
          <p:cNvPr id="8" name="Table note"/>
          <p:cNvSpPr txBox="1"/>
          <p:nvPr/>
        </p:nvSpPr>
        <p:spPr>
          <a:xfrm>
            <a:off x="777240" y="5760720"/>
            <a:ext cx="5120640" cy="384048"/>
          </a:xfrm>
          <a:prstGeom prst="rect">
            <a:avLst/>
          </a:prstGeom>
          <a:noFill/>
          <a:ln/>
        </p:spPr>
        <p:txBody>
          <a:bodyPr wrap="square" lIns="0" tIns="0" rIns="0" bIns="0" rtlCol="0" anchor="t"/>
          <a:lstStyle/>
          <a:p>
            <a:pPr indent="0" marL="0">
              <a:buNone/>
            </a:pPr>
            <a:r>
              <a:rPr lang="en-US" sz="900" dirty="0">
                <a:solidFill>
                  <a:schemeClr val="accent3"/>
                </a:solidFill>
              </a:rPr>
              <a:t>Six calorimetric runs from the poster, values in W. Deviation = (measured mean − simulated) / simulated.</a:t>
            </a:r>
            <a:endParaRPr lang="en-US" sz="900" dirty="0"/>
          </a:p>
        </p:txBody>
      </p:sp>
      <p:sp>
        <p:nvSpPr>
          <p:cNvPr id="9" name="Deviation card 1"/>
          <p:cNvSpPr/>
          <p:nvPr/>
        </p:nvSpPr>
        <p:spPr>
          <a:xfrm>
            <a:off x="6355080" y="1463040"/>
            <a:ext cx="2505456" cy="1325880"/>
          </a:xfrm>
          <a:prstGeom prst="roundRect">
            <a:avLst>
              <a:gd name="adj" fmla="val 6897"/>
            </a:avLst>
          </a:prstGeom>
          <a:solidFill>
            <a:schemeClr val="bg2"/>
          </a:solidFill>
          <a:ln/>
        </p:spPr>
      </p:sp>
      <p:sp>
        <p:nvSpPr>
          <p:cNvPr id="10" name="Deviation wire 1"/>
          <p:cNvSpPr txBox="1"/>
          <p:nvPr/>
        </p:nvSpPr>
        <p:spPr>
          <a:xfrm>
            <a:off x="6537960"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LITZ WIRE</a:t>
            </a:r>
            <a:endParaRPr lang="en-US" sz="1000" dirty="0"/>
          </a:p>
        </p:txBody>
      </p:sp>
      <p:sp>
        <p:nvSpPr>
          <p:cNvPr id="11" name="Deviation value 1"/>
          <p:cNvSpPr txBox="1"/>
          <p:nvPr/>
        </p:nvSpPr>
        <p:spPr>
          <a:xfrm>
            <a:off x="6537960" y="1755648"/>
            <a:ext cx="2139696" cy="530352"/>
          </a:xfrm>
          <a:prstGeom prst="rect">
            <a:avLst/>
          </a:prstGeom>
          <a:noFill/>
          <a:ln/>
        </p:spPr>
        <p:txBody>
          <a:bodyPr wrap="square" lIns="0" tIns="0" rIns="0" bIns="0" rtlCol="0" anchor="ctr"/>
          <a:lstStyle/>
          <a:p>
            <a:pPr indent="0" marL="0">
              <a:buNone/>
            </a:pPr>
            <a:r>
              <a:rPr lang="en-US" sz="3200" b="1" dirty="0">
                <a:solidFill>
                  <a:schemeClr val="accent5"/>
                </a:solidFill>
                <a:latin typeface="+mj-lt" pitchFamily="34" charset="0"/>
                <a:ea typeface="+mj-lt" pitchFamily="34" charset="-122"/>
                <a:cs typeface="+mj-lt" pitchFamily="34" charset="-120"/>
              </a:rPr>
              <a:t>−0.5 %</a:t>
            </a:r>
            <a:endParaRPr lang="en-US" sz="3200" dirty="0"/>
          </a:p>
        </p:txBody>
      </p:sp>
      <p:sp>
        <p:nvSpPr>
          <p:cNvPr id="12" name="Deviation label 1"/>
          <p:cNvSpPr txBox="1"/>
          <p:nvPr/>
        </p:nvSpPr>
        <p:spPr>
          <a:xfrm>
            <a:off x="6537960"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−1.5 % … 0.0 %</a:t>
            </a:r>
            <a:endParaRPr lang="en-US" sz="1050" dirty="0"/>
          </a:p>
        </p:txBody>
      </p:sp>
      <p:sp>
        <p:nvSpPr>
          <p:cNvPr id="13" name="Deviation card 2"/>
          <p:cNvSpPr/>
          <p:nvPr/>
        </p:nvSpPr>
        <p:spPr>
          <a:xfrm>
            <a:off x="9134856" y="1463040"/>
            <a:ext cx="2505456" cy="1325880"/>
          </a:xfrm>
          <a:prstGeom prst="roundRect">
            <a:avLst>
              <a:gd name="adj" fmla="val 6897"/>
            </a:avLst>
          </a:prstGeom>
          <a:solidFill>
            <a:schemeClr val="bg2"/>
          </a:solidFill>
          <a:ln/>
        </p:spPr>
      </p:sp>
      <p:sp>
        <p:nvSpPr>
          <p:cNvPr id="14" name="Deviation wire 2"/>
          <p:cNvSpPr txBox="1"/>
          <p:nvPr/>
        </p:nvSpPr>
        <p:spPr>
          <a:xfrm>
            <a:off x="9317736" y="1554480"/>
            <a:ext cx="2139696" cy="201168"/>
          </a:xfrm>
          <a:prstGeom prst="rect">
            <a:avLst/>
          </a:prstGeom>
          <a:noFill/>
          <a:ln/>
        </p:spPr>
        <p:txBody>
          <a:bodyPr wrap="square" lIns="0" tIns="0" rIns="0" bIns="0" rtlCol="0" anchor="ctr"/>
          <a:lstStyle/>
          <a:p>
            <a:pPr indent="0" marL="0">
              <a:buNone/>
            </a:pPr>
            <a:r>
              <a:rPr lang="en-US" sz="1000" b="1" spc="200" kern="0" dirty="0">
                <a:solidFill>
                  <a:schemeClr val="tx2"/>
                </a:solidFill>
              </a:rPr>
              <a:t>SOLID WIRE</a:t>
            </a:r>
            <a:endParaRPr lang="en-US" sz="1000" dirty="0"/>
          </a:p>
        </p:txBody>
      </p:sp>
      <p:sp>
        <p:nvSpPr>
          <p:cNvPr id="15" name="Deviation value 2"/>
          <p:cNvSpPr txBox="1"/>
          <p:nvPr/>
        </p:nvSpPr>
        <p:spPr>
          <a:xfrm>
            <a:off x="9317736" y="1755648"/>
            <a:ext cx="2139696" cy="530352"/>
          </a:xfrm>
          <a:prstGeom prst="rect">
            <a:avLst/>
          </a:prstGeom>
          <a:noFill/>
          <a:ln/>
        </p:spPr>
        <p:txBody>
          <a:bodyPr wrap="square" lIns="0" tIns="0" rIns="0" bIns="0" rtlCol="0" anchor="ctr"/>
          <a:lstStyle/>
          <a:p>
            <a:pPr indent="0" marL="0">
              <a:buNone/>
            </a:pPr>
            <a:r>
              <a:rPr lang="en-US" sz="3200" b="1" dirty="0">
                <a:solidFill>
                  <a:schemeClr val="accent6"/>
                </a:solidFill>
                <a:latin typeface="+mj-lt" pitchFamily="34" charset="0"/>
                <a:ea typeface="+mj-lt" pitchFamily="34" charset="-122"/>
                <a:cs typeface="+mj-lt" pitchFamily="34" charset="-120"/>
              </a:rPr>
              <a:t>+9.6 %</a:t>
            </a:r>
            <a:endParaRPr lang="en-US" sz="3200" dirty="0"/>
          </a:p>
        </p:txBody>
      </p:sp>
      <p:sp>
        <p:nvSpPr>
          <p:cNvPr id="16" name="Deviation label 2"/>
          <p:cNvSpPr txBox="1"/>
          <p:nvPr/>
        </p:nvSpPr>
        <p:spPr>
          <a:xfrm>
            <a:off x="9317736" y="2313432"/>
            <a:ext cx="2139696" cy="411480"/>
          </a:xfrm>
          <a:prstGeom prst="rect">
            <a:avLst/>
          </a:prstGeom>
          <a:noFill/>
          <a:ln/>
        </p:spPr>
        <p:txBody>
          <a:bodyPr wrap="square" lIns="0" tIns="0" rIns="0" bIns="0" rtlCol="0" anchor="t"/>
          <a:lstStyle/>
          <a:p>
            <a:pPr indent="0" marL="0">
              <a:buNone/>
            </a:pPr>
            <a:r>
              <a:rPr lang="en-US" sz="1050" dirty="0">
                <a:solidFill>
                  <a:schemeClr val="tx1"/>
                </a:solidFill>
              </a:rPr>
              <a:t>measured vs. simulated (mean)</a:t>
            </a:r>
            <a:endParaRPr lang="en-US" sz="1050" dirty="0"/>
          </a:p>
          <a:p>
            <a:pPr indent="0" marL="0">
              <a:buNone/>
            </a:pPr>
            <a:r>
              <a:rPr lang="en-US" sz="1050" dirty="0">
                <a:solidFill>
                  <a:schemeClr val="tx1"/>
                </a:solidFill>
              </a:rPr>
              <a:t>per run: +8.1 % … +11.1 %</a:t>
            </a:r>
            <a:endParaRPr lang="en-US" sz="1050" dirty="0"/>
          </a:p>
        </p:txBody>
      </p:sp>
      <p:sp>
        <p:nvSpPr>
          <p:cNvPr id="17" name="Conclusion icon 1"/>
          <p:cNvSpPr/>
          <p:nvPr/>
        </p:nvSpPr>
        <p:spPr>
          <a:xfrm>
            <a:off x="6355080" y="3017520"/>
            <a:ext cx="457200" cy="457200"/>
          </a:xfrm>
          <a:prstGeom prst="ellipse">
            <a:avLst/>
          </a:prstGeom>
          <a:solidFill>
            <a:schemeClr val="accent5"/>
          </a:solidFill>
          <a:ln/>
        </p:spPr>
      </p:sp>
      <p:pic>
        <p:nvPicPr>
          <p:cNvPr id="18" name="Conclusion icon 1 icon" descr="Conclusion icon 1">    </p:cNvPr>
          <p:cNvPicPr>
            <a:picLocks noChangeAspect="1"/>
          </p:cNvPicPr>
          <p:nvPr/>
        </p:nvPicPr>
        <p:blipFill>
          <a:blip r:embed="rId2"/>
          <a:stretch>
            <a:fillRect/>
          </a:stretch>
        </p:blipFill>
        <p:spPr>
          <a:xfrm>
            <a:off x="6451092" y="3113532"/>
            <a:ext cx="265176" cy="265176"/>
          </a:xfrm>
          <a:prstGeom prst="rect">
            <a:avLst/>
          </a:prstGeom>
        </p:spPr>
      </p:pic>
      <p:sp>
        <p:nvSpPr>
          <p:cNvPr id="19" name="Conclusion title 1"/>
          <p:cNvSpPr txBox="1"/>
          <p:nvPr/>
        </p:nvSpPr>
        <p:spPr>
          <a:xfrm>
            <a:off x="6976872" y="2999232"/>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Accurate loss prediction</a:t>
            </a:r>
            <a:endParaRPr lang="en-US" sz="1350" dirty="0"/>
          </a:p>
        </p:txBody>
      </p:sp>
      <p:sp>
        <p:nvSpPr>
          <p:cNvPr id="20" name="Conclusion text 1"/>
          <p:cNvSpPr txBox="1"/>
          <p:nvPr/>
        </p:nvSpPr>
        <p:spPr>
          <a:xfrm>
            <a:off x="6976872" y="3310128"/>
            <a:ext cx="4663440" cy="713232"/>
          </a:xfrm>
          <a:prstGeom prst="rect">
            <a:avLst/>
          </a:prstGeom>
          <a:noFill/>
          <a:ln/>
        </p:spPr>
        <p:txBody>
          <a:bodyPr wrap="square" lIns="0" tIns="0" rIns="0" bIns="0" rtlCol="0" anchor="t"/>
          <a:lstStyle/>
          <a:p>
            <a:pPr indent="0" marL="0">
              <a:buNone/>
            </a:pPr>
            <a:r>
              <a:rPr lang="en-US" sz="1150" dirty="0">
                <a:solidFill>
                  <a:schemeClr val="tx1"/>
                </a:solidFill>
              </a:rPr>
              <a:t>The workflow predicts the losses of the litz-wound inductor very close to the thermally measured values.</a:t>
            </a:r>
            <a:endParaRPr lang="en-US" sz="1150" dirty="0"/>
          </a:p>
        </p:txBody>
      </p:sp>
      <p:sp>
        <p:nvSpPr>
          <p:cNvPr id="21" name="Conclusion icon 2"/>
          <p:cNvSpPr/>
          <p:nvPr/>
        </p:nvSpPr>
        <p:spPr>
          <a:xfrm>
            <a:off x="6355080" y="4096512"/>
            <a:ext cx="457200" cy="457200"/>
          </a:xfrm>
          <a:prstGeom prst="ellipse">
            <a:avLst/>
          </a:prstGeom>
          <a:solidFill>
            <a:schemeClr val="accent4"/>
          </a:solidFill>
          <a:ln/>
        </p:spPr>
      </p:sp>
      <p:pic>
        <p:nvPicPr>
          <p:cNvPr id="22" name="Conclusion icon 2 icon" descr="Conclusion icon 2">    </p:cNvPr>
          <p:cNvPicPr>
            <a:picLocks noChangeAspect="1"/>
          </p:cNvPicPr>
          <p:nvPr/>
        </p:nvPicPr>
        <p:blipFill>
          <a:blip r:embed="rId3"/>
          <a:stretch>
            <a:fillRect/>
          </a:stretch>
        </p:blipFill>
        <p:spPr>
          <a:xfrm>
            <a:off x="6451092" y="4192524"/>
            <a:ext cx="265176" cy="265176"/>
          </a:xfrm>
          <a:prstGeom prst="rect">
            <a:avLst/>
          </a:prstGeom>
        </p:spPr>
      </p:pic>
      <p:sp>
        <p:nvSpPr>
          <p:cNvPr id="23" name="Conclusion title 2"/>
          <p:cNvSpPr txBox="1"/>
          <p:nvPr/>
        </p:nvSpPr>
        <p:spPr>
          <a:xfrm>
            <a:off x="6976872" y="4078224"/>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Solid-wire effect under-represented</a:t>
            </a:r>
            <a:endParaRPr lang="en-US" sz="1350" dirty="0"/>
          </a:p>
        </p:txBody>
      </p:sp>
      <p:sp>
        <p:nvSpPr>
          <p:cNvPr id="24" name="Conclusion text 2"/>
          <p:cNvSpPr txBox="1"/>
          <p:nvPr/>
        </p:nvSpPr>
        <p:spPr>
          <a:xfrm>
            <a:off x="6976872" y="4389120"/>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solid is 0.73 W above litz; simulated: only 0.05 W. Why this occurs is left for future analysis [10].</a:t>
            </a:r>
            <a:endParaRPr lang="en-US" sz="1150" dirty="0"/>
          </a:p>
        </p:txBody>
      </p:sp>
      <p:sp>
        <p:nvSpPr>
          <p:cNvPr id="25" name="Conclusion icon 3"/>
          <p:cNvSpPr/>
          <p:nvPr/>
        </p:nvSpPr>
        <p:spPr>
          <a:xfrm>
            <a:off x="6355080" y="5175504"/>
            <a:ext cx="457200" cy="457200"/>
          </a:xfrm>
          <a:prstGeom prst="ellipse">
            <a:avLst/>
          </a:prstGeom>
          <a:solidFill>
            <a:schemeClr val="accent1"/>
          </a:solidFill>
          <a:ln/>
        </p:spPr>
      </p:sp>
      <p:pic>
        <p:nvPicPr>
          <p:cNvPr id="26" name="Conclusion icon 3 icon" descr="Conclusion icon 3">    </p:cNvPr>
          <p:cNvPicPr>
            <a:picLocks noChangeAspect="1"/>
          </p:cNvPicPr>
          <p:nvPr/>
        </p:nvPicPr>
        <p:blipFill>
          <a:blip r:embed="rId4"/>
          <a:stretch>
            <a:fillRect/>
          </a:stretch>
        </p:blipFill>
        <p:spPr>
          <a:xfrm>
            <a:off x="6451092" y="5271516"/>
            <a:ext cx="265176" cy="265176"/>
          </a:xfrm>
          <a:prstGeom prst="rect">
            <a:avLst/>
          </a:prstGeom>
        </p:spPr>
      </p:pic>
      <p:sp>
        <p:nvSpPr>
          <p:cNvPr id="27" name="Conclusion title 3"/>
          <p:cNvSpPr txBox="1"/>
          <p:nvPr/>
        </p:nvSpPr>
        <p:spPr>
          <a:xfrm>
            <a:off x="6976872" y="5157216"/>
            <a:ext cx="4663440" cy="292608"/>
          </a:xfrm>
          <a:prstGeom prst="rect">
            <a:avLst/>
          </a:prstGeom>
          <a:noFill/>
          <a:ln/>
        </p:spPr>
        <p:txBody>
          <a:bodyPr wrap="square" lIns="0" tIns="0" rIns="0" bIns="0" rtlCol="0" anchor="ctr"/>
          <a:lstStyle/>
          <a:p>
            <a:pPr indent="0" marL="0">
              <a:buNone/>
            </a:pPr>
            <a:r>
              <a:rPr lang="en-US" sz="1350" b="1" dirty="0">
                <a:solidFill>
                  <a:schemeClr val="tx2"/>
                </a:solidFill>
              </a:rPr>
              <a:t>Good approximation for inductor design</a:t>
            </a:r>
            <a:endParaRPr lang="en-US" sz="1350" dirty="0"/>
          </a:p>
        </p:txBody>
      </p:sp>
      <p:sp>
        <p:nvSpPr>
          <p:cNvPr id="28" name="Conclusion text 3"/>
          <p:cNvSpPr txBox="1"/>
          <p:nvPr/>
        </p:nvSpPr>
        <p:spPr>
          <a:xfrm>
            <a:off x="6976872" y="5468112"/>
            <a:ext cx="4663440" cy="713232"/>
          </a:xfrm>
          <a:prstGeom prst="rect">
            <a:avLst/>
          </a:prstGeom>
          <a:noFill/>
          <a:ln/>
        </p:spPr>
        <p:txBody>
          <a:bodyPr wrap="square" lIns="0" tIns="0" rIns="0" bIns="0" rtlCol="0" anchor="t"/>
          <a:lstStyle/>
          <a:p>
            <a:pPr indent="0" marL="0">
              <a:buNone/>
            </a:pPr>
            <a:r>
              <a:rPr lang="en-US" sz="1150" dirty="0">
                <a:solidFill>
                  <a:schemeClr val="tx1"/>
                </a:solidFill>
              </a:rPr>
              <a:t>Measured losses are within ~11 % of the simulated losses; the calorimeter resolves 0.1 W differences between runs.</a:t>
            </a:r>
            <a:endParaRPr lang="en-US" sz="115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640080"/>
          </a:xfrm>
          <a:prstGeom prst="rect">
            <a:avLst/>
          </a:prstGeom>
          <a:noFill/>
          <a:ln/>
        </p:spPr>
        <p:txBody>
          <a:bodyPr wrap="square" lIns="0" tIns="0" rIns="0" bIns="0" rtlCol="0" anchor="ctr"/>
          <a:lstStyle/>
          <a:p>
            <a:pPr algn="l" indent="0" marL="0">
              <a:buNone/>
            </a:pPr>
            <a:r>
              <a:rPr lang="en-US" sz="3000" b="1" dirty="0">
                <a:solidFill>
                  <a:schemeClr val="tx2"/>
                </a:solidFill>
              </a:rPr>
              <a:t>References</a:t>
            </a:r>
            <a:endParaRPr lang="en-US" sz="3000" dirty="0"/>
          </a:p>
        </p:txBody>
      </p:sp>
      <p:sp>
        <p:nvSpPr>
          <p:cNvPr id="3" name="Text 0"/>
          <p:cNvSpPr/>
          <p:nvPr>
            <p:ph idx="101" type="body" hasCustomPrompt="1"/>
          </p:nvPr>
        </p:nvSpPr>
        <p:spPr>
          <a:xfrm>
            <a:off x="548640" y="914400"/>
            <a:ext cx="11091672" cy="384048"/>
          </a:xfrm>
          <a:prstGeom prst="rect">
            <a:avLst/>
          </a:prstGeom>
          <a:noFill/>
          <a:ln/>
        </p:spPr>
        <p:txBody>
          <a:bodyPr wrap="square" lIns="0" tIns="0" rIns="0" bIns="0" rtlCol="0" anchor="t"/>
          <a:lstStyle/>
          <a:p>
            <a:pPr indent="0" marL="0">
              <a:buNone/>
            </a:pPr>
            <a:r>
              <a:rPr lang="en-US" sz="1500" dirty="0">
                <a:solidFill>
                  <a:schemeClr val="accent1"/>
                </a:solidFill>
              </a:rPr>
              <a:t>The poster, the reference it cites, and related work on thermal loss measurement and magnetic loss modelling</a:t>
            </a:r>
            <a:endParaRPr lang="en-US" sz="1500" dirty="0"/>
          </a:p>
        </p:txBody>
      </p:sp>
      <p:sp>
        <p:nvSpPr>
          <p:cNvPr id="4" name="References left"/>
          <p:cNvSpPr txBox="1"/>
          <p:nvPr/>
        </p:nvSpPr>
        <p:spPr>
          <a:xfrm>
            <a:off x="548640"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The poster and the reference it cites</a:t>
            </a:r>
            <a:endParaRPr lang="en-US" sz="1000" dirty="0"/>
          </a:p>
          <a:p>
            <a:pPr indent="0" marL="0">
              <a:buNone/>
            </a:pPr>
            <a:r>
              <a:rPr lang="en-US" sz="1000" b="1" dirty="0">
                <a:solidFill>
                  <a:schemeClr val="tx2"/>
                </a:solidFill>
              </a:rPr>
              <a:t>[1] </a:t>
            </a:r>
            <a:pPr indent="0" marL="0">
              <a:buNone/>
            </a:pPr>
            <a:r>
              <a:rPr lang="en-US" sz="1000" dirty="0">
                <a:solidFill>
                  <a:schemeClr val="tx1"/>
                </a:solidFill>
              </a:rPr>
              <a:t>P. Skoff, M. Stoiber, J. Reynvaan, and W. Konrad, “Experimental verification of automated loss-simulation of magnetic components,” poster, </a:t>
            </a:r>
            <a:pPr indent="0" marL="0">
              <a:buNone/>
            </a:pPr>
            <a:r>
              <a:rPr lang="en-US" sz="1000" i="1" dirty="0">
                <a:solidFill>
                  <a:schemeClr val="tx1"/>
                </a:solidFill>
              </a:rPr>
              <a:t>Power Electronics for Energy Transition Symposium</a:t>
            </a:r>
            <a:pPr indent="0" marL="0">
              <a:spcAft>
                <a:spcPts val="400"/>
              </a:spcAft>
              <a:buNone/>
            </a:pPr>
            <a:r>
              <a:rPr lang="en-US" sz="1000" dirty="0">
                <a:solidFill>
                  <a:schemeClr val="tx1"/>
                </a:solidFill>
              </a:rPr>
              <a:t>, Vienna, Austria, Sep. 29–30, 2026.</a:t>
            </a:r>
            <a:endParaRPr lang="en-US" sz="1000" dirty="0"/>
          </a:p>
          <a:p>
            <a:pPr indent="0" marL="0">
              <a:buNone/>
            </a:pPr>
            <a:r>
              <a:rPr lang="en-US" sz="1000" b="1" dirty="0">
                <a:solidFill>
                  <a:schemeClr val="tx2"/>
                </a:solidFill>
              </a:rPr>
              <a:t>[2] </a:t>
            </a:r>
            <a:pPr indent="0" marL="0">
              <a:buNone/>
            </a:pPr>
            <a:r>
              <a:rPr lang="en-US" sz="1000" dirty="0">
                <a:solidFill>
                  <a:schemeClr val="tx1"/>
                </a:solidFill>
              </a:rPr>
              <a:t>J. Reynvaan, M. Pajnić, and J. Krenn, “Evaluating fluid based transient calorimetric method for measurement of the ferrite core losses,” in </a:t>
            </a:r>
            <a:pPr indent="0" marL="0">
              <a:buNone/>
            </a:pPr>
            <a:r>
              <a:rPr lang="en-US" sz="1000" i="1" dirty="0">
                <a:solidFill>
                  <a:schemeClr val="tx1"/>
                </a:solidFill>
              </a:rPr>
              <a:t>Proc. ICPE 2023-ECCE Asia</a:t>
            </a:r>
            <a:pPr indent="0" marL="0">
              <a:spcAft>
                <a:spcPts val="400"/>
              </a:spcAft>
              <a:buNone/>
            </a:pPr>
            <a:r>
              <a:rPr lang="en-US" sz="1000" dirty="0">
                <a:solidFill>
                  <a:schemeClr val="tx1"/>
                </a:solidFill>
              </a:rPr>
              <a:t>, Jeju, Korea, 2023, pp. 3308–3313, doi: 10.23919/ICPE2023-ECCEAsia54778.2023.10213808.</a:t>
            </a:r>
            <a:endParaRPr lang="en-US" sz="1000" dirty="0"/>
          </a:p>
          <a:p>
            <a:pPr indent="0" marL="0">
              <a:spcBef>
                <a:spcPts val="800"/>
              </a:spcBef>
              <a:spcAft>
                <a:spcPts val="300"/>
              </a:spcAft>
              <a:buNone/>
            </a:pPr>
            <a:r>
              <a:rPr lang="en-US" sz="1100" b="1" dirty="0">
                <a:solidFill>
                  <a:schemeClr val="accent2"/>
                </a:solidFill>
              </a:rPr>
              <a:t>Thermal (calorimetric) loss measurement – similar concept</a:t>
            </a:r>
            <a:endParaRPr lang="en-US" sz="1000" dirty="0"/>
          </a:p>
          <a:p>
            <a:pPr indent="0" marL="0">
              <a:buNone/>
            </a:pPr>
            <a:r>
              <a:rPr lang="en-US" sz="1000" b="1" dirty="0">
                <a:solidFill>
                  <a:schemeClr val="tx2"/>
                </a:solidFill>
              </a:rPr>
              <a:t>[3] </a:t>
            </a:r>
            <a:pPr indent="0" marL="0">
              <a:buNone/>
            </a:pPr>
            <a:r>
              <a:rPr lang="en-US" sz="1000" dirty="0">
                <a:solidFill>
                  <a:schemeClr val="tx1"/>
                </a:solidFill>
              </a:rPr>
              <a:t>P. Papamanolis, T. Guillod, F. Krismer, and J. W. Kolar, “Transient calorimetric measurement of ferrite core losses up to 50 MHz,”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36, no. 3, pp. 2548–2563, 2021.</a:t>
            </a:r>
            <a:endParaRPr lang="en-US" sz="1000" dirty="0"/>
          </a:p>
          <a:p>
            <a:pPr indent="0" marL="0">
              <a:buNone/>
            </a:pPr>
            <a:r>
              <a:rPr lang="en-US" sz="1000" b="1" dirty="0">
                <a:solidFill>
                  <a:schemeClr val="tx2"/>
                </a:solidFill>
              </a:rPr>
              <a:t>[4] </a:t>
            </a:r>
            <a:pPr indent="0" marL="0">
              <a:buNone/>
            </a:pPr>
            <a:r>
              <a:rPr lang="en-US" sz="1000" dirty="0">
                <a:solidFill>
                  <a:schemeClr val="tx1"/>
                </a:solidFill>
              </a:rPr>
              <a:t>D. Christen, U. Badstuebner, J. Biela, and J. W. Kolar, “Calorimetric power loss measurement for highly efficient converters,” in </a:t>
            </a:r>
            <a:pPr indent="0" marL="0">
              <a:buNone/>
            </a:pPr>
            <a:r>
              <a:rPr lang="en-US" sz="1000" i="1" dirty="0">
                <a:solidFill>
                  <a:schemeClr val="tx1"/>
                </a:solidFill>
              </a:rPr>
              <a:t>Proc. IPEC 2010 (ECCE Asia)</a:t>
            </a:r>
            <a:pPr indent="0" marL="0">
              <a:spcAft>
                <a:spcPts val="400"/>
              </a:spcAft>
              <a:buNone/>
            </a:pPr>
            <a:r>
              <a:rPr lang="en-US" sz="1000" dirty="0">
                <a:solidFill>
                  <a:schemeClr val="tx1"/>
                </a:solidFill>
              </a:rPr>
              <a:t>, Sapporo, Japan, 2010, pp. 1438–1445.</a:t>
            </a:r>
            <a:endParaRPr lang="en-US" sz="1000" dirty="0"/>
          </a:p>
          <a:p>
            <a:pPr indent="0" marL="0">
              <a:buNone/>
            </a:pPr>
            <a:r>
              <a:rPr lang="en-US" sz="1000" b="1" dirty="0">
                <a:solidFill>
                  <a:schemeClr val="tx2"/>
                </a:solidFill>
              </a:rPr>
              <a:t>[5] </a:t>
            </a:r>
            <a:pPr indent="0" marL="0">
              <a:buNone/>
            </a:pPr>
            <a:r>
              <a:rPr lang="en-US" sz="1000" dirty="0">
                <a:solidFill>
                  <a:schemeClr val="tx1"/>
                </a:solidFill>
              </a:rPr>
              <a:t>S. Weier, M. A. Shafi, and R. McMahon, “Precision calorimetry for the accurate measurement of losses in power electronic devices,”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46, no. 1, pp. 278–284, 2010.</a:t>
            </a:r>
            <a:endParaRPr lang="en-US" sz="1000" dirty="0"/>
          </a:p>
          <a:p>
            <a:pPr indent="0" marL="0">
              <a:buNone/>
            </a:pPr>
            <a:r>
              <a:rPr lang="en-US" sz="1000" b="1" dirty="0">
                <a:solidFill>
                  <a:schemeClr val="tx2"/>
                </a:solidFill>
              </a:rPr>
              <a:t>[6] </a:t>
            </a:r>
            <a:pPr indent="0" marL="0">
              <a:buNone/>
            </a:pPr>
            <a:r>
              <a:rPr lang="en-US" sz="1000" dirty="0">
                <a:solidFill>
                  <a:schemeClr val="tx1"/>
                </a:solidFill>
              </a:rPr>
              <a:t>C. Xiao, G. Chen, and W. G. H. Odendaal, “Overview of power loss measurement techniques in power electronics systems,”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43, no. 3, pp. 657–664, 2007.</a:t>
            </a:r>
            <a:endParaRPr lang="en-US" sz="1000" dirty="0"/>
          </a:p>
          <a:p>
            <a:pPr indent="0" marL="0">
              <a:buNone/>
            </a:pPr>
            <a:r>
              <a:rPr lang="en-US" sz="1000" b="1" dirty="0">
                <a:solidFill>
                  <a:schemeClr val="tx2"/>
                </a:solidFill>
              </a:rPr>
              <a:t>[7] </a:t>
            </a:r>
            <a:pPr indent="0" marL="0">
              <a:buNone/>
            </a:pPr>
            <a:r>
              <a:rPr lang="en-US" sz="1000" dirty="0">
                <a:solidFill>
                  <a:schemeClr val="tx1"/>
                </a:solidFill>
              </a:rPr>
              <a:t>Z. Yi, Z. Liu, K. Sun, and B. Su, “A simple power loss evaluation method for high-frequency transformers based on surface temperature measurement within wide operation range,” </a:t>
            </a:r>
            <a:pPr indent="0" marL="0">
              <a:buNone/>
            </a:pPr>
            <a:r>
              <a:rPr lang="en-US" sz="1000" i="1" dirty="0">
                <a:solidFill>
                  <a:schemeClr val="tx1"/>
                </a:solidFill>
              </a:rPr>
              <a:t>IEEE J. Emerg. Sel. Topics Power Electron.</a:t>
            </a:r>
            <a:pPr indent="0" marL="0">
              <a:spcAft>
                <a:spcPts val="400"/>
              </a:spcAft>
              <a:buNone/>
            </a:pPr>
            <a:r>
              <a:rPr lang="en-US" sz="1000" dirty="0">
                <a:solidFill>
                  <a:schemeClr val="tx1"/>
                </a:solidFill>
              </a:rPr>
              <a:t>, vol. 12, no. 6, pp. 5437–5451, 2024.</a:t>
            </a:r>
            <a:endParaRPr lang="en-US" sz="1000" dirty="0"/>
          </a:p>
          <a:p>
            <a:pPr indent="0" marL="0">
              <a:buNone/>
            </a:pPr>
            <a:r>
              <a:rPr lang="en-US" sz="1000" b="1" dirty="0">
                <a:solidFill>
                  <a:schemeClr val="tx2"/>
                </a:solidFill>
              </a:rPr>
              <a:t>[8] </a:t>
            </a:r>
            <a:pPr indent="0" marL="0">
              <a:buNone/>
            </a:pPr>
            <a:r>
              <a:rPr lang="en-US" sz="1000" dirty="0">
                <a:solidFill>
                  <a:schemeClr val="tx1"/>
                </a:solidFill>
              </a:rPr>
              <a:t>L. Zhu, Z. Liu, Y. Dang, S. Zhang, G. Zhang, and S. Ji, “A review of power loss measurement method for high-frequency transformer,” </a:t>
            </a:r>
            <a:pPr indent="0" marL="0">
              <a:buNone/>
            </a:pPr>
            <a:r>
              <a:rPr lang="en-US" sz="1000" i="1" dirty="0">
                <a:solidFill>
                  <a:schemeClr val="tx1"/>
                </a:solidFill>
              </a:rPr>
              <a:t>Renewable Energy System and Equipment</a:t>
            </a:r>
            <a:pPr indent="0" marL="0">
              <a:spcAft>
                <a:spcPts val="400"/>
              </a:spcAft>
              <a:buNone/>
            </a:pPr>
            <a:r>
              <a:rPr lang="en-US" sz="1000" dirty="0">
                <a:solidFill>
                  <a:schemeClr val="tx1"/>
                </a:solidFill>
              </a:rPr>
              <a:t>, 2026, doi: 10.1016/j.rese.2026.05.002.</a:t>
            </a:r>
            <a:endParaRPr lang="en-US" sz="1000" dirty="0"/>
          </a:p>
        </p:txBody>
      </p:sp>
      <p:sp>
        <p:nvSpPr>
          <p:cNvPr id="5" name="References right"/>
          <p:cNvSpPr txBox="1"/>
          <p:nvPr/>
        </p:nvSpPr>
        <p:spPr>
          <a:xfrm>
            <a:off x="6199632" y="1463040"/>
            <a:ext cx="5440680" cy="4800600"/>
          </a:xfrm>
          <a:prstGeom prst="rect">
            <a:avLst/>
          </a:prstGeom>
          <a:noFill/>
          <a:ln/>
        </p:spPr>
        <p:txBody>
          <a:bodyPr wrap="square" lIns="0" tIns="0" rIns="0" bIns="0" rtlCol="0" anchor="t"/>
          <a:lstStyle/>
          <a:p>
            <a:pPr indent="0" marL="0">
              <a:spcAft>
                <a:spcPts val="300"/>
              </a:spcAft>
              <a:buNone/>
            </a:pPr>
            <a:r>
              <a:rPr lang="en-US" sz="1100" b="1" dirty="0">
                <a:solidFill>
                  <a:schemeClr val="accent2"/>
                </a:solidFill>
              </a:rPr>
              <a:t>Magnetic loss and thermal modelling / simulation – similar concept</a:t>
            </a:r>
            <a:endParaRPr lang="en-US" sz="1000" dirty="0"/>
          </a:p>
          <a:p>
            <a:pPr indent="0" marL="0">
              <a:buNone/>
            </a:pPr>
            <a:r>
              <a:rPr lang="en-US" sz="1000" b="1" dirty="0">
                <a:solidFill>
                  <a:schemeClr val="tx2"/>
                </a:solidFill>
              </a:rPr>
              <a:t>[9] </a:t>
            </a:r>
            <a:pPr indent="0" marL="0">
              <a:buNone/>
            </a:pPr>
            <a:r>
              <a:rPr lang="en-US" sz="1000" dirty="0">
                <a:solidFill>
                  <a:schemeClr val="tx1"/>
                </a:solidFill>
              </a:rPr>
              <a:t>P. L. Dowell, “Effects of eddy currents in transformer windings,” </a:t>
            </a:r>
            <a:pPr indent="0" marL="0">
              <a:buNone/>
            </a:pPr>
            <a:r>
              <a:rPr lang="en-US" sz="1000" i="1" dirty="0">
                <a:solidFill>
                  <a:schemeClr val="tx1"/>
                </a:solidFill>
              </a:rPr>
              <a:t>Proc. IEE</a:t>
            </a:r>
            <a:pPr indent="0" marL="0">
              <a:spcAft>
                <a:spcPts val="400"/>
              </a:spcAft>
              <a:buNone/>
            </a:pPr>
            <a:r>
              <a:rPr lang="en-US" sz="1000" dirty="0">
                <a:solidFill>
                  <a:schemeClr val="tx1"/>
                </a:solidFill>
              </a:rPr>
              <a:t>, vol. 113, no. 8, pp. 1387–1394, 1966.</a:t>
            </a:r>
            <a:endParaRPr lang="en-US" sz="1000" dirty="0"/>
          </a:p>
          <a:p>
            <a:pPr indent="0" marL="0">
              <a:buNone/>
            </a:pPr>
            <a:r>
              <a:rPr lang="en-US" sz="1000" b="1" dirty="0">
                <a:solidFill>
                  <a:schemeClr val="tx2"/>
                </a:solidFill>
              </a:rPr>
              <a:t>[10] </a:t>
            </a:r>
            <a:pPr indent="0" marL="0">
              <a:buNone/>
            </a:pPr>
            <a:r>
              <a:rPr lang="en-US" sz="1000" dirty="0">
                <a:solidFill>
                  <a:schemeClr val="tx1"/>
                </a:solidFill>
              </a:rPr>
              <a:t>R. P. Wojda and M. K. Kazimierczuk, “Winding resistance and power loss of inductors with litz and solid-round wires,” </a:t>
            </a:r>
            <a:pPr indent="0" marL="0">
              <a:buNone/>
            </a:pPr>
            <a:r>
              <a:rPr lang="en-US" sz="1000" i="1" dirty="0">
                <a:solidFill>
                  <a:schemeClr val="tx1"/>
                </a:solidFill>
              </a:rPr>
              <a:t>IEEE Trans. Ind. Appl.</a:t>
            </a:r>
            <a:pPr indent="0" marL="0">
              <a:spcAft>
                <a:spcPts val="400"/>
              </a:spcAft>
              <a:buNone/>
            </a:pPr>
            <a:r>
              <a:rPr lang="en-US" sz="1000" dirty="0">
                <a:solidFill>
                  <a:schemeClr val="tx1"/>
                </a:solidFill>
              </a:rPr>
              <a:t>, vol. 54, no. 4, pp. 3548–3557, 2018.</a:t>
            </a:r>
            <a:endParaRPr lang="en-US" sz="1000" dirty="0"/>
          </a:p>
          <a:p>
            <a:pPr indent="0" marL="0">
              <a:buNone/>
            </a:pPr>
            <a:r>
              <a:rPr lang="en-US" sz="1000" b="1" dirty="0">
                <a:solidFill>
                  <a:schemeClr val="tx2"/>
                </a:solidFill>
              </a:rPr>
              <a:t>[11] </a:t>
            </a:r>
            <a:pPr indent="0" marL="0">
              <a:buNone/>
            </a:pPr>
            <a:r>
              <a:rPr lang="en-US" sz="1000" dirty="0">
                <a:solidFill>
                  <a:schemeClr val="tx1"/>
                </a:solidFill>
              </a:rPr>
              <a:t>J. Mühlethäler, J. Biela, J. W. Kolar, and A. Ecklebe, “Improved core-loss calculation for magnetic components employed in power electronic systems,”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27, no. 2, pp. 964–973, 2012.</a:t>
            </a:r>
            <a:endParaRPr lang="en-US" sz="1000" dirty="0"/>
          </a:p>
          <a:p>
            <a:pPr indent="0" marL="0">
              <a:buNone/>
            </a:pPr>
            <a:r>
              <a:rPr lang="en-US" sz="1000" b="1" dirty="0">
                <a:solidFill>
                  <a:schemeClr val="tx2"/>
                </a:solidFill>
              </a:rPr>
              <a:t>[12] </a:t>
            </a:r>
            <a:pPr indent="0" marL="0">
              <a:buNone/>
            </a:pPr>
            <a:r>
              <a:rPr lang="en-US" sz="1000" dirty="0">
                <a:solidFill>
                  <a:schemeClr val="tx1"/>
                </a:solidFill>
              </a:rPr>
              <a:t>P. A. Kyaw, M. Delhommais, J. Qiu, C. R. Sullivan, J.-L. Schanen, and C. Rigaud, “Thermal modeling of inductor and transformer windings including litz wire,” </a:t>
            </a:r>
            <a:pPr indent="0" marL="0">
              <a:buNone/>
            </a:pPr>
            <a:r>
              <a:rPr lang="en-US" sz="1000" i="1" dirty="0">
                <a:solidFill>
                  <a:schemeClr val="tx1"/>
                </a:solidFill>
              </a:rPr>
              <a:t>IEEE Trans. Power Electron.</a:t>
            </a:r>
            <a:pPr indent="0" marL="0">
              <a:spcAft>
                <a:spcPts val="400"/>
              </a:spcAft>
              <a:buNone/>
            </a:pPr>
            <a:r>
              <a:rPr lang="en-US" sz="1000" dirty="0">
                <a:solidFill>
                  <a:schemeClr val="tx1"/>
                </a:solidFill>
              </a:rPr>
              <a:t>, vol. 35, no. 1, pp. 867–881, 2020.</a:t>
            </a:r>
            <a:endParaRPr lang="en-US" sz="1000" dirty="0"/>
          </a:p>
          <a:p>
            <a:pPr indent="0" marL="0">
              <a:buNone/>
            </a:pPr>
            <a:r>
              <a:rPr lang="en-US" sz="1000" b="1" dirty="0">
                <a:solidFill>
                  <a:schemeClr val="tx2"/>
                </a:solidFill>
              </a:rPr>
              <a:t>[13] </a:t>
            </a:r>
            <a:pPr indent="0" marL="0">
              <a:buNone/>
            </a:pPr>
            <a:r>
              <a:rPr lang="en-US" sz="1000" dirty="0">
                <a:solidFill>
                  <a:schemeClr val="tx1"/>
                </a:solidFill>
              </a:rPr>
              <a:t>N. Förster et al., “An open-source FEM magnetic toolbox for calculating electric and thermal behavior of power electronic magnetic components,” in </a:t>
            </a:r>
            <a:pPr indent="0" marL="0">
              <a:buNone/>
            </a:pPr>
            <a:r>
              <a:rPr lang="en-US" sz="1000" i="1" dirty="0">
                <a:solidFill>
                  <a:schemeClr val="tx1"/>
                </a:solidFill>
              </a:rPr>
              <a:t>Proc. EPE'22 ECCE Europe</a:t>
            </a:r>
            <a:pPr indent="0" marL="0">
              <a:spcAft>
                <a:spcPts val="400"/>
              </a:spcAft>
              <a:buNone/>
            </a:pPr>
            <a:r>
              <a:rPr lang="en-US" sz="1000" dirty="0">
                <a:solidFill>
                  <a:schemeClr val="tx1"/>
                </a:solidFill>
              </a:rPr>
              <a:t>, Hanover, Germany, 2022.</a:t>
            </a:r>
            <a:endParaRPr lang="en-US" sz="1000" dirty="0"/>
          </a:p>
          <a:p>
            <a:pPr indent="0" marL="0">
              <a:buNone/>
            </a:pPr>
            <a:r>
              <a:rPr lang="en-US" sz="1000" b="1" dirty="0">
                <a:solidFill>
                  <a:schemeClr val="tx2"/>
                </a:solidFill>
              </a:rPr>
              <a:t>[14] </a:t>
            </a:r>
            <a:pPr indent="0" marL="0">
              <a:buNone/>
            </a:pPr>
            <a:r>
              <a:rPr lang="en-US" sz="1000" dirty="0">
                <a:solidFill>
                  <a:schemeClr val="tx1"/>
                </a:solidFill>
              </a:rPr>
              <a:t>N. Djekanovic, M. Luo, and D. Dujic, “Integrated simulation approach to loss calculations of power converter systems,” in </a:t>
            </a:r>
            <a:pPr indent="0" marL="0">
              <a:buNone/>
            </a:pPr>
            <a:r>
              <a:rPr lang="en-US" sz="1000" i="1" dirty="0">
                <a:solidFill>
                  <a:schemeClr val="tx1"/>
                </a:solidFill>
              </a:rPr>
              <a:t>Proc. PCIM Europe digital days</a:t>
            </a:r>
            <a:pPr indent="0" marL="0">
              <a:spcAft>
                <a:spcPts val="400"/>
              </a:spcAft>
              <a:buNone/>
            </a:pPr>
            <a:r>
              <a:rPr lang="en-US" sz="1000" dirty="0">
                <a:solidFill>
                  <a:schemeClr val="tx1"/>
                </a:solidFill>
              </a:rPr>
              <a:t>, 2020, pp. 418–425.</a:t>
            </a:r>
            <a:endParaRPr lang="en-US" sz="1000" dirty="0"/>
          </a:p>
          <a:p>
            <a:pPr indent="0" marL="0">
              <a:buNone/>
            </a:pPr>
            <a:r>
              <a:rPr lang="en-US" sz="1000" b="1" dirty="0">
                <a:solidFill>
                  <a:schemeClr val="tx2"/>
                </a:solidFill>
              </a:rPr>
              <a:t>[15] </a:t>
            </a:r>
            <a:pPr indent="0" marL="0">
              <a:buNone/>
            </a:pPr>
            <a:r>
              <a:rPr lang="en-US" sz="1000" dirty="0">
                <a:solidFill>
                  <a:schemeClr val="tx1"/>
                </a:solidFill>
              </a:rPr>
              <a:t>T. Guillod, P. Papamanolis, and J. W. Kolar, “Artificial neural network (ANN) based fast and accurate inductor modeling and design,” </a:t>
            </a:r>
            <a:pPr indent="0" marL="0">
              <a:buNone/>
            </a:pPr>
            <a:r>
              <a:rPr lang="en-US" sz="1000" i="1" dirty="0">
                <a:solidFill>
                  <a:schemeClr val="tx1"/>
                </a:solidFill>
              </a:rPr>
              <a:t>IEEE Open J. Power Electron.</a:t>
            </a:r>
            <a:pPr indent="0" marL="0">
              <a:spcAft>
                <a:spcPts val="400"/>
              </a:spcAft>
              <a:buNone/>
            </a:pPr>
            <a:r>
              <a:rPr lang="en-US" sz="1000" dirty="0">
                <a:solidFill>
                  <a:schemeClr val="tx1"/>
                </a:solidFill>
              </a:rPr>
              <a:t>, vol. 1, pp. 284–299, 2020.</a:t>
            </a:r>
            <a:endParaRPr lang="en-US" sz="1000" dirty="0"/>
          </a:p>
        </p:txBody>
      </p:sp>
      <p:sp>
        <p:nvSpPr>
          <p:cNvPr id="6" name="Reference map card"/>
          <p:cNvSpPr/>
          <p:nvPr/>
        </p:nvSpPr>
        <p:spPr>
          <a:xfrm>
            <a:off x="6199632" y="4709160"/>
            <a:ext cx="5440680" cy="1554480"/>
          </a:xfrm>
          <a:prstGeom prst="roundRect">
            <a:avLst>
              <a:gd name="adj" fmla="val 5882"/>
            </a:avLst>
          </a:prstGeom>
          <a:solidFill>
            <a:schemeClr val="bg2"/>
          </a:solidFill>
          <a:ln/>
        </p:spPr>
      </p:sp>
      <p:sp>
        <p:nvSpPr>
          <p:cNvPr id="7" name="Reference map title"/>
          <p:cNvSpPr txBox="1"/>
          <p:nvPr/>
        </p:nvSpPr>
        <p:spPr>
          <a:xfrm>
            <a:off x="6400800" y="4800600"/>
            <a:ext cx="5029200" cy="228600"/>
          </a:xfrm>
          <a:prstGeom prst="rect">
            <a:avLst/>
          </a:prstGeom>
          <a:noFill/>
          <a:ln/>
        </p:spPr>
        <p:txBody>
          <a:bodyPr wrap="square" lIns="0" tIns="0" rIns="0" bIns="0" rtlCol="0" anchor="ctr"/>
          <a:lstStyle/>
          <a:p>
            <a:pPr indent="0" marL="0">
              <a:buNone/>
            </a:pPr>
            <a:r>
              <a:rPr lang="en-US" sz="1000" b="1" spc="100" kern="0" dirty="0">
                <a:solidFill>
                  <a:schemeClr val="accent2"/>
                </a:solidFill>
              </a:rPr>
              <a:t>HOW THE REFERENCES CONNECT TO THE SLIDES</a:t>
            </a:r>
            <a:endParaRPr lang="en-US" sz="1000" dirty="0"/>
          </a:p>
        </p:txBody>
      </p:sp>
      <p:sp>
        <p:nvSpPr>
          <p:cNvPr id="8" name="Reference map"/>
          <p:cNvSpPr txBox="1"/>
          <p:nvPr/>
        </p:nvSpPr>
        <p:spPr>
          <a:xfrm>
            <a:off x="6400800" y="5074920"/>
            <a:ext cx="5074920" cy="1097280"/>
          </a:xfrm>
          <a:prstGeom prst="rect">
            <a:avLst/>
          </a:prstGeom>
          <a:noFill/>
          <a:ln/>
        </p:spPr>
        <p:txBody>
          <a:bodyPr wrap="square" lIns="0" tIns="0" rIns="0" bIns="0" rtlCol="0" anchor="t"/>
          <a:lstStyle/>
          <a:p>
            <a:pPr indent="0" marL="0">
              <a:spcAft>
                <a:spcPts val="400"/>
              </a:spcAft>
              <a:buNone/>
            </a:pPr>
            <a:r>
              <a:rPr lang="en-US" sz="1000" b="1" dirty="0">
                <a:solidFill>
                  <a:schemeClr val="tx2"/>
                </a:solidFill>
              </a:rPr>
              <a:t>Thermal measurement (slides 3–4): </a:t>
            </a:r>
            <a:pPr indent="0" marL="0">
              <a:spcAft>
                <a:spcPts val="400"/>
              </a:spcAft>
              <a:buNone/>
            </a:pPr>
            <a:r>
              <a:rPr lang="en-US" sz="1000" dirty="0">
                <a:solidFill>
                  <a:schemeClr val="tx1"/>
                </a:solidFill>
              </a:rPr>
              <a:t>[2] same group’s fluid calorimeter, [3] transient calorimetry, [4]–[8] other loss-measurement methods</a:t>
            </a:r>
            <a:endParaRPr lang="en-US" sz="1000" dirty="0"/>
          </a:p>
          <a:p>
            <a:pPr indent="0" marL="0">
              <a:spcAft>
                <a:spcPts val="400"/>
              </a:spcAft>
              <a:buNone/>
            </a:pPr>
            <a:r>
              <a:rPr lang="en-US" sz="1000" b="1" dirty="0">
                <a:solidFill>
                  <a:schemeClr val="tx2"/>
                </a:solidFill>
              </a:rPr>
              <a:t>Magnetic simulation (slide 2): </a:t>
            </a:r>
            <a:pPr indent="0" marL="0">
              <a:spcAft>
                <a:spcPts val="400"/>
              </a:spcAft>
              <a:buNone/>
            </a:pPr>
            <a:r>
              <a:rPr lang="en-US" sz="1000" dirty="0">
                <a:solidFill>
                  <a:schemeClr val="tx1"/>
                </a:solidFill>
              </a:rPr>
              <a:t>[9]–[11] winding and core loss models, [13]–[15] automated FEM workflows</a:t>
            </a:r>
            <a:endParaRPr lang="en-US" sz="1000" dirty="0"/>
          </a:p>
          <a:p>
            <a:pPr indent="0" marL="0">
              <a:spcAft>
                <a:spcPts val="400"/>
              </a:spcAft>
              <a:buNone/>
            </a:pPr>
            <a:r>
              <a:rPr lang="en-US" sz="1000" b="1" dirty="0">
                <a:solidFill>
                  <a:schemeClr val="tx2"/>
                </a:solidFill>
              </a:rPr>
              <a:t>Litz vs. solid wire (slide 5): </a:t>
            </a:r>
            <a:pPr indent="0" marL="0">
              <a:spcAft>
                <a:spcPts val="400"/>
              </a:spcAft>
              <a:buNone/>
            </a:pPr>
            <a:r>
              <a:rPr lang="en-US" sz="1000" dirty="0">
                <a:solidFill>
                  <a:schemeClr val="tx1"/>
                </a:solidFill>
              </a:rPr>
              <a:t>[10] winding loss, [12] winding thermal model</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Copper and Ferrite">
  <a:themeElements>
    <a:clrScheme name="Copper and Ferrite">
      <a:dk1>
        <a:srgbClr val="1E252B"/>
      </a:dk1>
      <a:lt1>
        <a:srgbClr val="FFFFFF"/>
      </a:lt1>
      <a:dk2>
        <a:srgbClr val="1F2D36"/>
      </a:dk2>
      <a:lt2>
        <a:srgbClr val="EEF2F4"/>
      </a:lt2>
      <a:accent1>
        <a:srgbClr val="0F7C86"/>
      </a:accent1>
      <a:accent2>
        <a:srgbClr val="C46A2B"/>
      </a:accent2>
      <a:accent3>
        <a:srgbClr val="5B6B77"/>
      </a:accent3>
      <a:accent4>
        <a:srgbClr val="E3A33B"/>
      </a:accent4>
      <a:accent5>
        <a:srgbClr val="2E8B57"/>
      </a:accent5>
      <a:accent6>
        <a:srgbClr val="B23A3A"/>
      </a:accent6>
      <a:hlink>
        <a:srgbClr val="0F7C86"/>
      </a:hlink>
      <a:folHlink>
        <a:srgbClr val="5B6B77"/>
      </a:folHlink>
    </a:clrScheme>
    <a:fontScheme name="Copper and Ferri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Experimental Verification of Automated Loss Simulation of Magnetic Components – Poster Digest</dc:title>
  <dc:subject>Thermal (calorimetric) verification of simulated losses in magnetic components</dc:subject>
  <dc:creator>PptxGenJS</dc:creator>
  <cp:lastModifiedBy>PptxGenJS</cp:lastModifiedBy>
  <cp:revision>1</cp:revision>
  <dcterms:created xsi:type="dcterms:W3CDTF">2026-10-02T17:56:57Z</dcterms:created>
  <dcterms:modified xsi:type="dcterms:W3CDTF">2026-10-02T17:56:57Z</dcterms:modified>
</cp:coreProperties>
</file>